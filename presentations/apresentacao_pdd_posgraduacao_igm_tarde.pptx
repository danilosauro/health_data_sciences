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3"/>
    <p:sldId id="259" r:id="rId4"/>
    <p:sldId id="268" r:id="rId5"/>
    <p:sldId id="269" r:id="rId6"/>
    <p:sldId id="258" r:id="rId7"/>
    <p:sldId id="260" r:id="rId8"/>
    <p:sldId id="261" r:id="rId9"/>
    <p:sldId id="262" r:id="rId10"/>
    <p:sldId id="283" r:id="rId11"/>
    <p:sldId id="284" r:id="rId12"/>
    <p:sldId id="291" r:id="rId13"/>
    <p:sldId id="270" r:id="rId15"/>
    <p:sldId id="288" r:id="rId16"/>
    <p:sldId id="289" r:id="rId17"/>
    <p:sldId id="290" r:id="rId18"/>
    <p:sldId id="263" r:id="rId19"/>
    <p:sldId id="264" r:id="rId20"/>
    <p:sldId id="265" r:id="rId21"/>
    <p:sldId id="266" r:id="rId22"/>
    <p:sldId id="295" r:id="rId23"/>
    <p:sldId id="294" r:id="rId24"/>
    <p:sldId id="286" r:id="rId25"/>
    <p:sldId id="287" r:id="rId26"/>
    <p:sldId id="293" r:id="rId27"/>
    <p:sldId id="306" r:id="rId28"/>
    <p:sldId id="305" r:id="rId29"/>
    <p:sldId id="327" r:id="rId30"/>
    <p:sldId id="309" r:id="rId31"/>
    <p:sldId id="310" r:id="rId32"/>
    <p:sldId id="344" r:id="rId33"/>
    <p:sldId id="317" r:id="rId34"/>
    <p:sldId id="359" r:id="rId35"/>
    <p:sldId id="360" r:id="rId36"/>
    <p:sldId id="362" r:id="rId37"/>
    <p:sldId id="363" r:id="rId38"/>
    <p:sldId id="364" r:id="rId39"/>
    <p:sldId id="324" r:id="rId40"/>
    <p:sldId id="325" r:id="rId41"/>
    <p:sldId id="326" r:id="rId42"/>
    <p:sldId id="316" r:id="rId43"/>
    <p:sldId id="331" r:id="rId44"/>
    <p:sldId id="329" r:id="rId45"/>
    <p:sldId id="330" r:id="rId46"/>
    <p:sldId id="388" r:id="rId47"/>
    <p:sldId id="328" r:id="rId48"/>
    <p:sldId id="365" r:id="rId49"/>
    <p:sldId id="366" r:id="rId50"/>
    <p:sldId id="367" r:id="rId51"/>
    <p:sldId id="368" r:id="rId52"/>
    <p:sldId id="369" r:id="rId53"/>
    <p:sldId id="370" r:id="rId54"/>
    <p:sldId id="371" r:id="rId55"/>
    <p:sldId id="372" r:id="rId56"/>
    <p:sldId id="373" r:id="rId57"/>
    <p:sldId id="374" r:id="rId58"/>
    <p:sldId id="375" r:id="rId59"/>
    <p:sldId id="376" r:id="rId60"/>
    <p:sldId id="377" r:id="rId61"/>
    <p:sldId id="378" r:id="rId62"/>
    <p:sldId id="379" r:id="rId6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4410"/>
    <a:srgbClr val="167800"/>
    <a:srgbClr val="8C2416"/>
    <a:srgbClr val="FFCE8C"/>
    <a:srgbClr val="ED307F"/>
    <a:srgbClr val="F7A521"/>
    <a:srgbClr val="DC8060"/>
    <a:srgbClr val="60AADC"/>
    <a:srgbClr val="DC607B"/>
    <a:srgbClr val="946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ä¸­åº¦æ ·å¼ 2 - å¼ºè°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28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0B395-2DD1-4E0C-AD7F-C33E717CE14B}" type="datetimeFigureOut">
              <a:rPr lang="pt-BR" smtClean="0"/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66332-D461-43D9-A1C1-8FF0295CCEC5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/>
          <p:nvPr>
            <p:ph type="sldImg" idx="2"/>
          </p:nvPr>
        </p:nvSpPr>
        <p:spPr/>
      </p:sp>
      <p:sp>
        <p:nvSpPr>
          <p:cNvPr id="3" name="Espaço Reservado para Texto 2"/>
          <p:cNvSpPr/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t-BR" altLang="en-US"/>
              <a:t>Teste</a:t>
            </a:r>
            <a:endParaRPr lang="pt-B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/>
          <p:nvPr>
            <p:ph type="sldImg" idx="2"/>
          </p:nvPr>
        </p:nvSpPr>
        <p:spPr/>
      </p:sp>
      <p:sp>
        <p:nvSpPr>
          <p:cNvPr id="3" name="Espaço Reservado para Texto 2"/>
          <p:cNvSpPr/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/>
          <p:nvPr>
            <p:ph type="sldImg" idx="2"/>
          </p:nvPr>
        </p:nvSpPr>
        <p:spPr/>
      </p:sp>
      <p:sp>
        <p:nvSpPr>
          <p:cNvPr id="3" name="Espaço Reservado para Texto 2"/>
          <p:cNvSpPr/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/>
          <p:nvPr>
            <p:ph type="sldImg" idx="2"/>
          </p:nvPr>
        </p:nvSpPr>
        <p:spPr/>
      </p:sp>
      <p:sp>
        <p:nvSpPr>
          <p:cNvPr id="3" name="Espaço Reservado para Texto 2"/>
          <p:cNvSpPr/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/>
          <p:nvPr>
            <p:ph type="sldImg" idx="2"/>
          </p:nvPr>
        </p:nvSpPr>
        <p:spPr/>
      </p:sp>
      <p:sp>
        <p:nvSpPr>
          <p:cNvPr id="3" name="Espaço Reservado para Texto 2"/>
          <p:cNvSpPr/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38793-096B-4E7F-98F2-9965309A95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anja - 02 - Título e um texto">
  <p:cSld name="Laranja - 02 - Título e um texto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FF9600"/>
          </a:solidFill>
        </p:spPr>
        <p:txBody>
          <a:bodyPr spcFirstLastPara="1" wrap="square" lIns="36000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480000" y="1200000"/>
            <a:ext cx="11232000" cy="5179200"/>
          </a:xfrm>
          <a:prstGeom prst="rect">
            <a:avLst/>
          </a:prstGeom>
        </p:spPr>
        <p:txBody>
          <a:bodyPr spcFirstLastPara="1" wrap="square" lIns="90000" tIns="90000" rIns="90000" bIns="90000" anchor="t" anchorCtr="0">
            <a:noAutofit/>
          </a:bodyPr>
          <a:lstStyle>
            <a:lvl1pPr marL="609600" lvl="0" indent="-431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  <a:def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200" lvl="1" indent="-41465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○"/>
              <a:defRPr sz="173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800" lvl="2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400" lvl="3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8000" lvl="4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600" lvl="5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200" lvl="6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800" lvl="7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400" lvl="8" indent="-3981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  <a:defRPr sz="146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93" name="Google Shape;93;p16" descr="Logotipo da WikiCon Brasil 2025 em cor preta" title="Logo da WikiCon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046401" y="6139200"/>
            <a:ext cx="1904999" cy="4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GIF"/><Relationship Id="rId3" Type="http://schemas.openxmlformats.org/officeDocument/2006/relationships/image" Target="../media/image21.png"/><Relationship Id="rId26" Type="http://schemas.openxmlformats.org/officeDocument/2006/relationships/slideLayout" Target="../slideLayouts/slideLayout2.xml"/><Relationship Id="rId25" Type="http://schemas.openxmlformats.org/officeDocument/2006/relationships/hyperlink" Target="https://doi.org/10.57833/cidacs/I5S5E1" TargetMode="External"/><Relationship Id="rId24" Type="http://schemas.openxmlformats.org/officeDocument/2006/relationships/hyperlink" Target="https://doi.org/10.57833/cidacs/YYOVDR" TargetMode="External"/><Relationship Id="rId23" Type="http://schemas.openxmlformats.org/officeDocument/2006/relationships/hyperlink" Target="https://doi.org/10.57833/cidacs/SJT1ZI" TargetMode="External"/><Relationship Id="rId22" Type="http://schemas.openxmlformats.org/officeDocument/2006/relationships/hyperlink" Target="https://doi.org/10.57833/cidacs/X3R5TV" TargetMode="External"/><Relationship Id="rId21" Type="http://schemas.openxmlformats.org/officeDocument/2006/relationships/hyperlink" Target="https://doi.org/10.57833/cidacs/YW7LHB" TargetMode="External"/><Relationship Id="rId20" Type="http://schemas.openxmlformats.org/officeDocument/2006/relationships/hyperlink" Target="https://doi.org/10.57833/cidacs/7W9THG" TargetMode="External"/><Relationship Id="rId2" Type="http://schemas.openxmlformats.org/officeDocument/2006/relationships/image" Target="../media/image3.png"/><Relationship Id="rId19" Type="http://schemas.openxmlformats.org/officeDocument/2006/relationships/image" Target="../media/image37.png"/><Relationship Id="rId18" Type="http://schemas.openxmlformats.org/officeDocument/2006/relationships/image" Target="../media/image36.jpe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3.png"/><Relationship Id="rId17" Type="http://schemas.openxmlformats.org/officeDocument/2006/relationships/image" Target="../media/image53.png"/><Relationship Id="rId16" Type="http://schemas.openxmlformats.org/officeDocument/2006/relationships/image" Target="../media/image52.png"/><Relationship Id="rId15" Type="http://schemas.openxmlformats.org/officeDocument/2006/relationships/image" Target="../media/image51.png"/><Relationship Id="rId14" Type="http://schemas.openxmlformats.org/officeDocument/2006/relationships/image" Target="../media/image50.png"/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6.jpeg"/><Relationship Id="rId4" Type="http://schemas.openxmlformats.org/officeDocument/2006/relationships/image" Target="../media/image17.png"/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2.png"/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17.png"/><Relationship Id="rId3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2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17.png"/><Relationship Id="rId3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2.png"/><Relationship Id="rId3" Type="http://schemas.openxmlformats.org/officeDocument/2006/relationships/image" Target="../media/image17.png"/><Relationship Id="rId2" Type="http://schemas.openxmlformats.org/officeDocument/2006/relationships/image" Target="../media/image71.pn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71.png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04" y="1029831"/>
            <a:ext cx="7387619" cy="1619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5615" y="5680075"/>
            <a:ext cx="46926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1200" dirty="0">
                <a:latin typeface="Calibri" charset="0"/>
                <a:ea typeface="Calibri" charset="0"/>
                <a:cs typeface="Calibri" charset="0"/>
              </a:rPr>
              <a:t>Equipe da plataforma: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Maria Yury Ichihara, </a:t>
            </a:r>
            <a:r>
              <a:rPr lang="en-US" altLang="en-US" sz="1200" dirty="0">
                <a:latin typeface="Calibri" charset="0"/>
                <a:ea typeface="Calibri" charset="0"/>
                <a:cs typeface="Calibri" charset="0"/>
                <a:sym typeface="+mn-ea"/>
              </a:rPr>
              <a:t>Mikael Coletto,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Fábio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Marconso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  <a:sym typeface="+mn-ea"/>
              </a:rPr>
              <a:t>Rafael Felipe Souza </a:t>
            </a:r>
            <a:r>
              <a:rPr lang="en-US" altLang="en-US" sz="1200" dirty="0">
                <a:latin typeface="Calibri" charset="0"/>
                <a:ea typeface="Calibri" charset="0"/>
                <a:cs typeface="Calibri" charset="0"/>
                <a:sym typeface="+mn-ea"/>
              </a:rPr>
              <a:t>e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Robson Cunha</a:t>
            </a:r>
            <a:r>
              <a:rPr lang="en-US" altLang="en-US" sz="1200" dirty="0">
                <a:latin typeface="Calibri" charset="0"/>
                <a:ea typeface="Calibri" charset="0"/>
                <a:cs typeface="Calibri" charset="0"/>
              </a:rPr>
              <a:t>.</a:t>
            </a:r>
            <a:endParaRPr lang="en-US" altLang="en-US" sz="1200" dirty="0">
              <a:latin typeface="Calibri" charset="0"/>
              <a:ea typeface="Calibri" charset="0"/>
              <a:cs typeface="Calibri" charset="0"/>
            </a:endParaRPr>
          </a:p>
          <a:p>
            <a:pPr algn="just"/>
            <a:endParaRPr lang="en-US" sz="1200" dirty="0">
              <a:latin typeface="Calibri" charset="0"/>
              <a:ea typeface="Calibri" charset="0"/>
              <a:cs typeface="Calibri" charset="0"/>
            </a:endParaRPr>
          </a:p>
          <a:p>
            <a:pPr algn="just"/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Colaboração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da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Curadoria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, NPD, NTI e NCD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Cidac</a:t>
            </a:r>
            <a:r>
              <a:rPr lang="en-US" sz="900" dirty="0" err="1">
                <a:latin typeface="Calibri" charset="0"/>
                <a:ea typeface="Calibri" charset="0"/>
                <a:cs typeface="Calibri" charset="0"/>
              </a:rPr>
              <a:t>s</a:t>
            </a:r>
            <a:r>
              <a:rPr lang="en-US" sz="9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e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diversos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profissionais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pesquisadores</a:t>
            </a:r>
            <a:endParaRPr lang="en-US" altLang="en-US" sz="1200" dirty="0" err="1"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15656" y="3191957"/>
            <a:ext cx="469981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375"/>
              </a:spcBef>
            </a:pPr>
            <a:r>
              <a:rPr lang="en-US" altLang="pt-BR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Conhecendo uma solução que facilita o acesso aos </a:t>
            </a:r>
            <a:r>
              <a:rPr lang="pt-BR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dados administrativos abertos</a:t>
            </a:r>
            <a:endParaRPr lang="pt-BR" altLang="pt-BR" sz="2400" b="1" dirty="0">
              <a:solidFill>
                <a:srgbClr val="8C2416"/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4305935" y="4851400"/>
            <a:ext cx="2481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pt-BR"/>
              <a:t>10 de outubro de 2025</a:t>
            </a:r>
            <a:endParaRPr lang="en-US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254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7433" y="324664"/>
            <a:ext cx="6223318" cy="664888"/>
          </a:xfrm>
        </p:spPr>
        <p:txBody>
          <a:bodyPr>
            <a:noAutofit/>
          </a:bodyPr>
          <a:lstStyle/>
          <a:p>
            <a:r>
              <a:rPr lang="en-US" sz="2400" b="1" dirty="0" err="1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Características</a:t>
            </a:r>
            <a:r>
              <a:rPr lang="en-US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 dos dados </a:t>
            </a:r>
            <a:r>
              <a:rPr lang="en-US" sz="2400" b="1" dirty="0" err="1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administrativos</a:t>
            </a:r>
            <a:r>
              <a:rPr lang="en-US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endParaRPr lang="en-US" sz="2400" b="1" dirty="0">
              <a:solidFill>
                <a:srgbClr val="8C2416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AutoShape 2" descr="Resultado de imagem para SUS"/>
          <p:cNvSpPr>
            <a:spLocks noChangeAspect="1" noChangeArrowheads="1"/>
          </p:cNvSpPr>
          <p:nvPr/>
        </p:nvSpPr>
        <p:spPr bwMode="auto">
          <a:xfrm>
            <a:off x="207433" y="-452892"/>
            <a:ext cx="406400" cy="40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en-GB" sz="2400"/>
          </a:p>
        </p:txBody>
      </p:sp>
      <p:sp>
        <p:nvSpPr>
          <p:cNvPr id="8" name="TextBox 7"/>
          <p:cNvSpPr txBox="1"/>
          <p:nvPr/>
        </p:nvSpPr>
        <p:spPr>
          <a:xfrm>
            <a:off x="1678015" y="2015783"/>
            <a:ext cx="4149539" cy="445359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285115" indent="-285115">
              <a:buFont typeface="Arial" panose="020B0604020202020204" pitchFamily="34" charset="0"/>
              <a:buChar char="•"/>
            </a:pPr>
            <a:r>
              <a:rPr lang="pt-BR" altLang="en-US" sz="1465" b="1">
                <a:latin typeface="Trebuchet MS" panose="020B0603020202020204" pitchFamily="34" charset="0"/>
                <a:ea typeface="Calibri" charset="0"/>
                <a:cs typeface="Calibri"/>
              </a:rPr>
              <a:t>Coletados por operação rotineira </a:t>
            </a:r>
            <a:r>
              <a:rPr lang="pt-BR" altLang="en-US" sz="1465">
                <a:latin typeface="Trebuchet MS" panose="020B0603020202020204" pitchFamily="34" charset="0"/>
                <a:ea typeface="Calibri" charset="0"/>
                <a:cs typeface="Calibri"/>
              </a:rPr>
              <a:t>de sistemas administrativos, por órgãos do setor público, para registros e transações, frequentemente associados à prestação de um serviço;</a:t>
            </a:r>
            <a:endParaRPr lang="pt-BR" sz="1465">
              <a:latin typeface="Trebuchet MS" panose="020B0603020202020204" pitchFamily="34" charset="0"/>
              <a:cs typeface="Calibri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endParaRPr lang="pt-BR" altLang="en-US" sz="800">
              <a:latin typeface="Trebuchet MS" panose="020B0603020202020204" pitchFamily="34" charset="0"/>
              <a:ea typeface="Calibri" charset="0"/>
              <a:cs typeface="Calibri" charset="0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pt-BR" sz="1465" b="1">
                <a:latin typeface="Trebuchet MS" panose="020B0603020202020204" pitchFamily="34" charset="0"/>
                <a:ea typeface="Calibri" charset="0"/>
                <a:cs typeface="Calibri"/>
              </a:rPr>
              <a:t>Dados de saúde </a:t>
            </a:r>
            <a:r>
              <a:rPr lang="pt-BR" sz="1465">
                <a:latin typeface="Trebuchet MS" panose="020B0603020202020204" pitchFamily="34" charset="0"/>
                <a:ea typeface="Calibri" charset="0"/>
                <a:cs typeface="Calibri"/>
              </a:rPr>
              <a:t>são coletados para políticas, monitoramento programas, vigilância, registros oficiais como óbitos e nascimentos e auditoria (hospitalizações);</a:t>
            </a:r>
            <a:endParaRPr lang="pt-BR" sz="1465">
              <a:latin typeface="Trebuchet MS" panose="020B0603020202020204" pitchFamily="34" charset="0"/>
              <a:ea typeface="Calibri" charset="0"/>
              <a:cs typeface="Calibri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endParaRPr lang="pt-BR" sz="800">
              <a:latin typeface="Trebuchet MS" panose="020B0603020202020204" pitchFamily="34" charset="0"/>
              <a:ea typeface="Calibri" charset="0"/>
              <a:cs typeface="Calibri" charset="0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pt-BR" sz="1465">
                <a:latin typeface="Trebuchet MS" panose="020B0603020202020204" pitchFamily="34" charset="0"/>
                <a:ea typeface="Calibri" charset="0"/>
                <a:cs typeface="Calibri"/>
              </a:rPr>
              <a:t>Informações </a:t>
            </a:r>
            <a:r>
              <a:rPr lang="pt-BR" sz="1465" b="1">
                <a:latin typeface="Trebuchet MS" panose="020B0603020202020204" pitchFamily="34" charset="0"/>
                <a:ea typeface="Calibri" charset="0"/>
                <a:cs typeface="Calibri"/>
              </a:rPr>
              <a:t>disponíveis para toda </a:t>
            </a:r>
            <a:r>
              <a:rPr lang="pt-BR" sz="1465">
                <a:latin typeface="Trebuchet MS" panose="020B0603020202020204" pitchFamily="34" charset="0"/>
                <a:ea typeface="Calibri" charset="0"/>
                <a:cs typeface="Calibri"/>
              </a:rPr>
              <a:t>a população e em períodos contínuos;</a:t>
            </a:r>
            <a:endParaRPr lang="pt-BR" sz="1465">
              <a:latin typeface="Trebuchet MS" panose="020B0603020202020204" pitchFamily="34" charset="0"/>
              <a:ea typeface="Calibri" charset="0"/>
              <a:cs typeface="Calibri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endParaRPr lang="pt-BR" sz="800" b="1">
              <a:latin typeface="Trebuchet MS" panose="020B0603020202020204" pitchFamily="34" charset="0"/>
              <a:ea typeface="Calibri" charset="0"/>
              <a:cs typeface="Calibri" charset="0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pt-BR" sz="1465">
                <a:latin typeface="Trebuchet MS" panose="020B0603020202020204" pitchFamily="34" charset="0"/>
                <a:cs typeface="Calibri"/>
              </a:rPr>
              <a:t>Tempo</a:t>
            </a:r>
            <a:r>
              <a:rPr lang="pt-BR" sz="1465" b="1">
                <a:latin typeface="Trebuchet MS" panose="020B0603020202020204" pitchFamily="34" charset="0"/>
                <a:ea typeface="Calibri" charset="0"/>
                <a:cs typeface="Calibri"/>
              </a:rPr>
              <a:t> de coleta mais rápido e menos custoso</a:t>
            </a:r>
            <a:endParaRPr lang="pt-BR" sz="1465" b="1">
              <a:latin typeface="Trebuchet MS" panose="020B0603020202020204" pitchFamily="34" charset="0"/>
              <a:ea typeface="Calibri" charset="0"/>
              <a:cs typeface="Calibri"/>
            </a:endParaRPr>
          </a:p>
          <a:p>
            <a:endParaRPr lang="pt-BR" sz="800" b="1">
              <a:latin typeface="Trebuchet MS" panose="020B0603020202020204" pitchFamily="34" charset="0"/>
              <a:ea typeface="Calibri" charset="0"/>
              <a:cs typeface="Calibri" charset="0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pt-BR" sz="1465" b="1">
                <a:latin typeface="Trebuchet MS" panose="020B0603020202020204" pitchFamily="34" charset="0"/>
                <a:cs typeface="Calibri" charset="0"/>
              </a:rPr>
              <a:t>Confiabilidade mais variável</a:t>
            </a:r>
            <a:endParaRPr lang="pt-BR" sz="1465" b="1">
              <a:latin typeface="Trebuchet MS" panose="020B0603020202020204" pitchFamily="34" charset="0"/>
              <a:cs typeface="Calibri" charset="0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endParaRPr lang="pt-BR" sz="1465" b="1">
              <a:latin typeface="Trebuchet MS" panose="020B0603020202020204" pitchFamily="34" charset="0"/>
              <a:cs typeface="Calibri" charset="0"/>
            </a:endParaRPr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pt-BR" sz="1465" b="1">
                <a:latin typeface="Trebuchet MS" panose="020B0603020202020204" pitchFamily="34" charset="0"/>
                <a:ea typeface="Calibri" charset="0"/>
                <a:cs typeface="Calibri"/>
              </a:rPr>
              <a:t>Desafios para obter dados identificados e o tratamento pode levar mais tempo</a:t>
            </a:r>
            <a:endParaRPr lang="en-US" sz="1200">
              <a:latin typeface="Trebuchet MS" panose="020B0603020202020204" pitchFamily="34" charset="0"/>
              <a:ea typeface="Calibri" charset="0"/>
              <a:cs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7065" y="3112398"/>
            <a:ext cx="3667435" cy="465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655" algn="just"/>
            <a:endParaRPr lang="pt-BR" altLang="en-US" sz="24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Retângulo arredondado 4"/>
          <p:cNvSpPr/>
          <p:nvPr/>
        </p:nvSpPr>
        <p:spPr>
          <a:xfrm>
            <a:off x="613834" y="1308684"/>
            <a:ext cx="5040665" cy="626377"/>
          </a:xfrm>
          <a:prstGeom prst="roundRect">
            <a:avLst/>
          </a:prstGeom>
          <a:solidFill>
            <a:srgbClr val="61929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3655"/>
            <a:r>
              <a:rPr lang="pt-BR" altLang="en-US" sz="2400" b="1">
                <a:solidFill>
                  <a:schemeClr val="bg1"/>
                </a:solidFill>
                <a:latin typeface="Trebuchet MS" panose="020B0603020202020204" pitchFamily="34" charset="0"/>
              </a:rPr>
              <a:t>            Dados administrativos</a:t>
            </a:r>
            <a:endParaRPr lang="pt-BR" altLang="en-US" sz="2400" b="1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310114"/>
            <a:ext cx="1481368" cy="20321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b="38417"/>
          <a:stretch>
            <a:fillRect/>
          </a:stretch>
        </p:blipFill>
        <p:spPr>
          <a:xfrm>
            <a:off x="6702092" y="1469543"/>
            <a:ext cx="4998294" cy="29927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02093" y="324291"/>
            <a:ext cx="4998294" cy="758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Ecossistema de dados administrativos no Brasil</a:t>
            </a:r>
            <a:endParaRPr lang="pt-BR" sz="2400" b="1" dirty="0">
              <a:solidFill>
                <a:srgbClr val="8C2416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0" y="1469542"/>
            <a:ext cx="0" cy="4380652"/>
          </a:xfrm>
          <a:prstGeom prst="line">
            <a:avLst/>
          </a:prstGeom>
          <a:ln w="38100">
            <a:solidFill>
              <a:srgbClr val="FFCD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426" y="4521892"/>
            <a:ext cx="3462524" cy="2418748"/>
          </a:xfrm>
          <a:prstGeom prst="rect">
            <a:avLst/>
          </a:prstGeom>
        </p:spPr>
      </p:pic>
      <p:sp>
        <p:nvSpPr>
          <p:cNvPr id="13" name="Pentágono 12"/>
          <p:cNvSpPr/>
          <p:nvPr/>
        </p:nvSpPr>
        <p:spPr>
          <a:xfrm>
            <a:off x="-1905" y="33020"/>
            <a:ext cx="2284730" cy="212090"/>
          </a:xfrm>
          <a:prstGeom prst="homePlate">
            <a:avLst/>
          </a:prstGeom>
          <a:solidFill>
            <a:srgbClr val="E74410"/>
          </a:solidFill>
          <a:ln>
            <a:solidFill>
              <a:srgbClr val="8C24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pt-BR" sz="1500">
                <a:latin typeface="Times New Roman" panose="02020603050405020304" charset="0"/>
                <a:cs typeface="Times New Roman" panose="02020603050405020304" charset="0"/>
              </a:rPr>
              <a:t>Recapitulando...</a:t>
            </a:r>
            <a:endParaRPr lang="en-US" altLang="pt-BR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4" name="AutoShape 2" descr="Resultado de imagem para SUS"/>
          <p:cNvSpPr>
            <a:spLocks noChangeAspect="1" noChangeArrowheads="1"/>
          </p:cNvSpPr>
          <p:nvPr/>
        </p:nvSpPr>
        <p:spPr bwMode="auto">
          <a:xfrm>
            <a:off x="207433" y="-452892"/>
            <a:ext cx="406400" cy="40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endParaRPr lang="en-GB" sz="2400"/>
          </a:p>
        </p:txBody>
      </p:sp>
      <p:sp>
        <p:nvSpPr>
          <p:cNvPr id="8" name="TextBox 7"/>
          <p:cNvSpPr txBox="1"/>
          <p:nvPr/>
        </p:nvSpPr>
        <p:spPr>
          <a:xfrm>
            <a:off x="1678015" y="2015783"/>
            <a:ext cx="4149539" cy="464629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285115" indent="-285115" algn="just">
              <a:buFont typeface="Arial" panose="020B0604020202020204" pitchFamily="34" charset="0"/>
              <a:buChar char="•"/>
            </a:pPr>
            <a:r>
              <a:rPr lang="pt-BR" altLang="en-US" sz="1400" b="1">
                <a:latin typeface="Calibri" charset="0"/>
                <a:ea typeface="Calibri" charset="0"/>
                <a:cs typeface="Calibri" charset="0"/>
              </a:rPr>
              <a:t>Coletados por operação rotineira </a:t>
            </a:r>
            <a:r>
              <a:rPr lang="pt-BR" altLang="en-US" sz="1400">
                <a:latin typeface="Calibri" charset="0"/>
                <a:ea typeface="Calibri" charset="0"/>
                <a:cs typeface="Calibri" charset="0"/>
              </a:rPr>
              <a:t>de sistemas administrativos, por órgãos do setor público, para registros e transações, frequentemente associados à prestação de um serviço;</a:t>
            </a:r>
            <a:endParaRPr lang="pt-BR" sz="1400">
              <a:latin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endParaRPr lang="pt-BR" altLang="en-US" sz="1400">
              <a:latin typeface="Calibri" charset="0"/>
              <a:ea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r>
              <a:rPr lang="pt-BR" sz="1400" b="1">
                <a:latin typeface="Calibri" charset="0"/>
                <a:ea typeface="Calibri" charset="0"/>
                <a:cs typeface="Calibri" charset="0"/>
              </a:rPr>
              <a:t>Dados de saúde </a:t>
            </a:r>
            <a:r>
              <a:rPr lang="pt-BR" sz="1400">
                <a:latin typeface="Calibri" charset="0"/>
                <a:ea typeface="Calibri" charset="0"/>
                <a:cs typeface="Calibri" charset="0"/>
              </a:rPr>
              <a:t>são coletados para políticas, monitoramento programas, vigilância, registros oficiais como óbitos e nascimentos e auditoria (hospitalizações);</a:t>
            </a:r>
            <a:endParaRPr lang="pt-BR" sz="1400">
              <a:latin typeface="Calibri" charset="0"/>
              <a:ea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endParaRPr lang="pt-BR" sz="1400">
              <a:latin typeface="Calibri" charset="0"/>
              <a:ea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r>
              <a:rPr lang="pt-BR" sz="1400">
                <a:latin typeface="Calibri" charset="0"/>
                <a:ea typeface="Calibri" charset="0"/>
                <a:cs typeface="Calibri" charset="0"/>
              </a:rPr>
              <a:t>Informações </a:t>
            </a:r>
            <a:r>
              <a:rPr lang="pt-BR" sz="1400" b="1">
                <a:latin typeface="Calibri" charset="0"/>
                <a:ea typeface="Calibri" charset="0"/>
                <a:cs typeface="Calibri" charset="0"/>
              </a:rPr>
              <a:t>disponíveis para toda </a:t>
            </a:r>
            <a:r>
              <a:rPr lang="pt-BR" sz="1400">
                <a:latin typeface="Calibri" charset="0"/>
                <a:ea typeface="Calibri" charset="0"/>
                <a:cs typeface="Calibri" charset="0"/>
              </a:rPr>
              <a:t>a população e em períodos contínuos;</a:t>
            </a:r>
            <a:endParaRPr lang="pt-BR" sz="1400">
              <a:latin typeface="Calibri" charset="0"/>
              <a:ea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endParaRPr lang="pt-BR" sz="1400" b="1">
              <a:latin typeface="Calibri" charset="0"/>
              <a:ea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r>
              <a:rPr lang="pt-BR" sz="1400">
                <a:latin typeface="Calibri" charset="0"/>
                <a:cs typeface="Calibri" charset="0"/>
              </a:rPr>
              <a:t>Tempo</a:t>
            </a:r>
            <a:r>
              <a:rPr lang="pt-BR" sz="1400" b="1">
                <a:latin typeface="Calibri" charset="0"/>
                <a:ea typeface="Calibri" charset="0"/>
                <a:cs typeface="Calibri" charset="0"/>
              </a:rPr>
              <a:t> de coleta mais rápido e menos custoso</a:t>
            </a:r>
            <a:endParaRPr lang="pt-BR" sz="1400" b="1">
              <a:latin typeface="Calibri" charset="0"/>
              <a:ea typeface="Calibri" charset="0"/>
              <a:cs typeface="Calibri" charset="0"/>
            </a:endParaRPr>
          </a:p>
          <a:p>
            <a:pPr algn="just"/>
            <a:endParaRPr lang="pt-BR" sz="1400" b="1">
              <a:latin typeface="Calibri" charset="0"/>
              <a:ea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r>
              <a:rPr lang="pt-BR" sz="1400" b="1">
                <a:latin typeface="Calibri" charset="0"/>
                <a:cs typeface="Calibri" charset="0"/>
              </a:rPr>
              <a:t>Confiabilidade mais variável</a:t>
            </a:r>
            <a:endParaRPr lang="pt-BR" sz="1400" b="1">
              <a:latin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endParaRPr lang="pt-BR" sz="1400" b="1">
              <a:latin typeface="Calibri" charset="0"/>
              <a:cs typeface="Calibri" charset="0"/>
            </a:endParaRPr>
          </a:p>
          <a:p>
            <a:pPr marL="285115" indent="-285115" algn="just">
              <a:buFont typeface="Arial" panose="020B0604020202020204" pitchFamily="34" charset="0"/>
              <a:buChar char="•"/>
            </a:pPr>
            <a:r>
              <a:rPr lang="pt-BR" sz="1400" b="1">
                <a:latin typeface="Calibri" charset="0"/>
                <a:ea typeface="Calibri" charset="0"/>
                <a:cs typeface="Calibri" charset="0"/>
              </a:rPr>
              <a:t>Desafios para obter dados identificados e o tratamento pode levar mais tempo</a:t>
            </a:r>
            <a:endParaRPr lang="pt-BR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7065" y="3112398"/>
            <a:ext cx="3667435" cy="465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655" algn="just"/>
            <a:endParaRPr lang="pt-BR" altLang="en-US" sz="24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Retângulo arredondado 4"/>
          <p:cNvSpPr/>
          <p:nvPr/>
        </p:nvSpPr>
        <p:spPr>
          <a:xfrm>
            <a:off x="613834" y="1309954"/>
            <a:ext cx="5040665" cy="626377"/>
          </a:xfrm>
          <a:prstGeom prst="roundRect">
            <a:avLst/>
          </a:prstGeom>
          <a:solidFill>
            <a:srgbClr val="61929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3655"/>
            <a:r>
              <a:rPr lang="pt-BR" altLang="en-US" sz="2400" b="1">
                <a:solidFill>
                  <a:schemeClr val="bg1"/>
                </a:solidFill>
                <a:latin typeface="Trebuchet MS" panose="020B0603020202020204" pitchFamily="34" charset="0"/>
              </a:rPr>
              <a:t>            Dados administrativos</a:t>
            </a:r>
            <a:endParaRPr lang="pt-BR" altLang="en-US" sz="2400" b="1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310114"/>
            <a:ext cx="1481368" cy="203214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096000" y="1469542"/>
            <a:ext cx="0" cy="4380652"/>
          </a:xfrm>
          <a:prstGeom prst="line">
            <a:avLst/>
          </a:prstGeom>
          <a:ln w="38100">
            <a:solidFill>
              <a:srgbClr val="FFCD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015490"/>
            <a:ext cx="5253355" cy="34766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just"/>
            <a:r>
              <a:rPr lang="pt-BR" sz="2000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O uso de dados administrativos (demográficos, sociais e de saúde), individualizados desidentificados e agregados por município tem se mostrado um</a:t>
            </a:r>
            <a:r>
              <a:rPr lang="pt-BR" sz="2000" b="1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 recurso valioso para a pesquisa em saúde pública</a:t>
            </a:r>
            <a:r>
              <a:rPr lang="pt-BR" sz="2000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. </a:t>
            </a:r>
            <a:endParaRPr lang="pt-BR" sz="2000" dirty="0">
              <a:solidFill>
                <a:schemeClr val="tx1"/>
              </a:solidFill>
              <a:latin typeface="Trebuchet MS" panose="020B0603020202020204" pitchFamily="34" charset="0"/>
              <a:ea typeface="Calibri" charset="0"/>
              <a:cs typeface="Trebuchet MS" panose="020B0603020202020204" pitchFamily="34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rebuchet MS" panose="020B0603020202020204" pitchFamily="34" charset="0"/>
              <a:ea typeface="Calibri" charset="0"/>
              <a:cs typeface="Trebuchet MS" panose="020B0603020202020204" pitchFamily="34" charset="0"/>
            </a:endParaRPr>
          </a:p>
          <a:p>
            <a:pPr algn="just"/>
            <a:r>
              <a:rPr lang="en-US" altLang="pt-BR" sz="2000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Estes </a:t>
            </a:r>
            <a:r>
              <a:rPr lang="pt-BR" sz="2000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dados contribuem para a </a:t>
            </a:r>
            <a:r>
              <a:rPr lang="pt-BR" sz="2000" b="1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produção de conhecimento</a:t>
            </a:r>
            <a:r>
              <a:rPr lang="pt-BR" sz="2000" dirty="0">
                <a:solidFill>
                  <a:schemeClr val="tx1"/>
                </a:solidFill>
                <a:latin typeface="Trebuchet MS" panose="020B0603020202020204" pitchFamily="34" charset="0"/>
                <a:ea typeface="Calibri" charset="0"/>
                <a:cs typeface="Trebuchet MS" panose="020B0603020202020204" pitchFamily="34" charset="0"/>
              </a:rPr>
              <a:t>, melhorando a compreensão dos problemas de saúde da população brasileira.</a:t>
            </a:r>
            <a:endParaRPr lang="pt-BR" sz="2000" dirty="0">
              <a:solidFill>
                <a:schemeClr val="tx1"/>
              </a:solidFill>
              <a:latin typeface="Trebuchet MS" panose="020B0603020202020204" pitchFamily="34" charset="0"/>
              <a:ea typeface="Calibri" charset="0"/>
              <a:cs typeface="Trebuchet MS" panose="020B0603020202020204" pitchFamily="34" charset="0"/>
            </a:endParaRPr>
          </a:p>
        </p:txBody>
      </p:sp>
      <p:sp>
        <p:nvSpPr>
          <p:cNvPr id="14" name="Pentágono 13"/>
          <p:cNvSpPr/>
          <p:nvPr/>
        </p:nvSpPr>
        <p:spPr>
          <a:xfrm>
            <a:off x="-1905" y="33020"/>
            <a:ext cx="2284730" cy="212090"/>
          </a:xfrm>
          <a:prstGeom prst="homePlate">
            <a:avLst/>
          </a:prstGeom>
          <a:solidFill>
            <a:srgbClr val="E74410"/>
          </a:solidFill>
          <a:ln>
            <a:solidFill>
              <a:srgbClr val="8C24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pt-BR" sz="1500">
                <a:latin typeface="Times New Roman" panose="02020603050405020304" charset="0"/>
                <a:cs typeface="Times New Roman" panose="02020603050405020304" charset="0"/>
              </a:rPr>
              <a:t>Recapitulando...</a:t>
            </a:r>
            <a:endParaRPr lang="en-US" altLang="pt-BR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207433" y="324664"/>
            <a:ext cx="6223318" cy="664888"/>
          </a:xfrm>
        </p:spPr>
        <p:txBody>
          <a:bodyPr>
            <a:noAutofit/>
          </a:bodyPr>
          <a:p>
            <a:r>
              <a:rPr lang="en-US" sz="2400" b="1" dirty="0" err="1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Características</a:t>
            </a:r>
            <a:r>
              <a:rPr lang="en-US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 dos dados </a:t>
            </a:r>
            <a:r>
              <a:rPr lang="en-US" sz="2400" b="1" dirty="0" err="1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administrativos</a:t>
            </a:r>
            <a:r>
              <a:rPr lang="en-US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endParaRPr lang="en-US" sz="2400" b="1" dirty="0">
              <a:solidFill>
                <a:srgbClr val="8C2416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6702093" y="324291"/>
            <a:ext cx="4998294" cy="75834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Ecossistema de dados administrativos no Brasil</a:t>
            </a:r>
            <a:endParaRPr lang="pt-BR" sz="2400" b="1" dirty="0">
              <a:solidFill>
                <a:srgbClr val="8C2416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3" name="Caixa de Texto 2"/>
          <p:cNvSpPr txBox="1"/>
          <p:nvPr/>
        </p:nvSpPr>
        <p:spPr>
          <a:xfrm>
            <a:off x="3372485" y="2909570"/>
            <a:ext cx="5334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3200">
                <a:solidFill>
                  <a:schemeClr val="tx1"/>
                </a:solidFill>
              </a:rPr>
              <a:t>Mas quais são os </a:t>
            </a:r>
            <a:r>
              <a:rPr lang="en-US" altLang="en-US" sz="3200" b="1">
                <a:solidFill>
                  <a:srgbClr val="8C2416"/>
                </a:solidFill>
              </a:rPr>
              <a:t>desafios</a:t>
            </a:r>
            <a:r>
              <a:rPr lang="en-US" altLang="en-US" sz="3200">
                <a:solidFill>
                  <a:schemeClr val="tx1"/>
                </a:solidFill>
              </a:rPr>
              <a:t>?</a:t>
            </a:r>
            <a:endParaRPr lang="en-US" altLang="pt-BR" sz="3200">
              <a:solidFill>
                <a:schemeClr val="tx1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4493260" y="4495165"/>
            <a:ext cx="474345" cy="1987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altLang="en-US" sz="700">
                <a:solidFill>
                  <a:schemeClr val="bg1"/>
                </a:solidFill>
              </a:rPr>
              <a:t>Acesso</a:t>
            </a:r>
            <a:endParaRPr lang="en-US" altLang="en-US" sz="7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11" name="Imagem 10" descr="jornada_dados_v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" y="116205"/>
            <a:ext cx="12068810" cy="6624320"/>
          </a:xfrm>
          <a:prstGeom prst="rect">
            <a:avLst/>
          </a:prstGeom>
        </p:spPr>
      </p:pic>
      <p:grpSp>
        <p:nvGrpSpPr>
          <p:cNvPr id="14" name="Grupo 13"/>
          <p:cNvGrpSpPr/>
          <p:nvPr/>
        </p:nvGrpSpPr>
        <p:grpSpPr>
          <a:xfrm>
            <a:off x="5590540" y="1299210"/>
            <a:ext cx="3262064" cy="911225"/>
            <a:chOff x="8804" y="2046"/>
            <a:chExt cx="5446" cy="1435"/>
          </a:xfrm>
        </p:grpSpPr>
        <p:grpSp>
          <p:nvGrpSpPr>
            <p:cNvPr id="12" name="Grupo 11"/>
            <p:cNvGrpSpPr/>
            <p:nvPr/>
          </p:nvGrpSpPr>
          <p:grpSpPr>
            <a:xfrm>
              <a:off x="8804" y="2046"/>
              <a:ext cx="5446" cy="1435"/>
              <a:chOff x="8804" y="1751"/>
              <a:chExt cx="6235" cy="1730"/>
            </a:xfrm>
          </p:grpSpPr>
          <p:grpSp>
            <p:nvGrpSpPr>
              <p:cNvPr id="9" name="Grupo 8"/>
              <p:cNvGrpSpPr/>
              <p:nvPr/>
            </p:nvGrpSpPr>
            <p:grpSpPr>
              <a:xfrm>
                <a:off x="12588" y="2455"/>
                <a:ext cx="2451" cy="280"/>
                <a:chOff x="4751" y="3777"/>
                <a:chExt cx="2900" cy="360"/>
              </a:xfrm>
              <a:solidFill>
                <a:srgbClr val="58A6DA"/>
              </a:solidFill>
            </p:grpSpPr>
            <p:sp>
              <p:nvSpPr>
                <p:cNvPr id="7" name="Elipse 6"/>
                <p:cNvSpPr/>
                <p:nvPr/>
              </p:nvSpPr>
              <p:spPr>
                <a:xfrm>
                  <a:off x="7291" y="3777"/>
                  <a:ext cx="360" cy="360"/>
                </a:xfrm>
                <a:prstGeom prst="ellipse">
                  <a:avLst/>
                </a:prstGeom>
                <a:grpFill/>
                <a:ln>
                  <a:solidFill>
                    <a:srgbClr val="58A6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  <p:cxnSp>
              <p:nvCxnSpPr>
                <p:cNvPr id="8" name="Conector Reto 7"/>
                <p:cNvCxnSpPr>
                  <a:stCxn id="7" idx="2"/>
                </p:cNvCxnSpPr>
                <p:nvPr/>
              </p:nvCxnSpPr>
              <p:spPr>
                <a:xfrm flipH="1">
                  <a:off x="4751" y="3956"/>
                  <a:ext cx="2539" cy="0"/>
                </a:xfrm>
                <a:prstGeom prst="line">
                  <a:avLst/>
                </a:prstGeom>
                <a:grpFill/>
                <a:ln w="28575">
                  <a:solidFill>
                    <a:srgbClr val="58A6D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upo 5"/>
              <p:cNvGrpSpPr/>
              <p:nvPr/>
            </p:nvGrpSpPr>
            <p:grpSpPr>
              <a:xfrm>
                <a:off x="8804" y="1751"/>
                <a:ext cx="3870" cy="1730"/>
                <a:chOff x="6634" y="1998"/>
                <a:chExt cx="2265" cy="1698"/>
              </a:xfrm>
            </p:grpSpPr>
            <p:sp>
              <p:nvSpPr>
                <p:cNvPr id="5" name="Retângulo arredondado 4"/>
                <p:cNvSpPr/>
                <p:nvPr/>
              </p:nvSpPr>
              <p:spPr>
                <a:xfrm>
                  <a:off x="6634" y="1998"/>
                  <a:ext cx="2265" cy="169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  <p:sp>
              <p:nvSpPr>
                <p:cNvPr id="4" name="Retângulo arredondado 3"/>
                <p:cNvSpPr/>
                <p:nvPr/>
              </p:nvSpPr>
              <p:spPr>
                <a:xfrm>
                  <a:off x="6693" y="2079"/>
                  <a:ext cx="2155" cy="1521"/>
                </a:xfrm>
                <a:prstGeom prst="roundRect">
                  <a:avLst/>
                </a:prstGeom>
                <a:solidFill>
                  <a:srgbClr val="58A6D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</p:grpSp>
        </p:grpSp>
        <p:sp>
          <p:nvSpPr>
            <p:cNvPr id="13" name="Caixa de Texto 12"/>
            <p:cNvSpPr txBox="1"/>
            <p:nvPr/>
          </p:nvSpPr>
          <p:spPr>
            <a:xfrm>
              <a:off x="8989" y="2148"/>
              <a:ext cx="3119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pt-BR" sz="1200" b="1" i="1">
                  <a:solidFill>
                    <a:schemeClr val="bg1">
                      <a:lumMod val="95000"/>
                    </a:schemeClr>
                  </a:solidFill>
                </a:rPr>
                <a:t>Dificuldade</a:t>
              </a:r>
              <a:endParaRPr lang="en-US" altLang="pt-BR" sz="1200" i="1">
                <a:solidFill>
                  <a:schemeClr val="bg1">
                    <a:lumMod val="95000"/>
                  </a:schemeClr>
                </a:solidFill>
              </a:endParaRPr>
            </a:p>
            <a:p>
              <a:r>
                <a:rPr lang="en-US" altLang="pt-BR" sz="1000" i="1">
                  <a:solidFill>
                    <a:schemeClr val="bg1">
                      <a:lumMod val="95000"/>
                    </a:schemeClr>
                  </a:solidFill>
                </a:rPr>
                <a:t>Sistemas de informações administrativos desenvolvidos com foco operacional.</a:t>
              </a:r>
              <a:endParaRPr lang="en-US" altLang="pt-BR" sz="1000" i="1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9989185" y="3742055"/>
            <a:ext cx="1815465" cy="1961515"/>
            <a:chOff x="15370" y="5945"/>
            <a:chExt cx="3380" cy="3089"/>
          </a:xfrm>
        </p:grpSpPr>
        <p:grpSp>
          <p:nvGrpSpPr>
            <p:cNvPr id="37" name="Grupo 36"/>
            <p:cNvGrpSpPr/>
            <p:nvPr/>
          </p:nvGrpSpPr>
          <p:grpSpPr>
            <a:xfrm>
              <a:off x="15370" y="7492"/>
              <a:ext cx="3380" cy="1541"/>
              <a:chOff x="15370" y="7726"/>
              <a:chExt cx="3380" cy="1541"/>
            </a:xfrm>
          </p:grpSpPr>
          <p:grpSp>
            <p:nvGrpSpPr>
              <p:cNvPr id="30" name="Grupo 29"/>
              <p:cNvGrpSpPr/>
              <p:nvPr/>
            </p:nvGrpSpPr>
            <p:grpSpPr>
              <a:xfrm>
                <a:off x="15370" y="7726"/>
                <a:ext cx="3380" cy="1541"/>
                <a:chOff x="6634" y="1984"/>
                <a:chExt cx="2265" cy="1698"/>
              </a:xfrm>
            </p:grpSpPr>
            <p:sp>
              <p:nvSpPr>
                <p:cNvPr id="31" name="Retângulo arredondado 30"/>
                <p:cNvSpPr/>
                <p:nvPr/>
              </p:nvSpPr>
              <p:spPr>
                <a:xfrm>
                  <a:off x="6634" y="1984"/>
                  <a:ext cx="2265" cy="169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  <p:sp>
              <p:nvSpPr>
                <p:cNvPr id="32" name="Retângulo arredondado 31"/>
                <p:cNvSpPr/>
                <p:nvPr/>
              </p:nvSpPr>
              <p:spPr>
                <a:xfrm>
                  <a:off x="6689" y="2087"/>
                  <a:ext cx="2155" cy="1521"/>
                </a:xfrm>
                <a:prstGeom prst="roundRect">
                  <a:avLst/>
                </a:prstGeom>
                <a:solidFill>
                  <a:srgbClr val="7F41D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</p:grpSp>
          <p:sp>
            <p:nvSpPr>
              <p:cNvPr id="33" name="Caixa de Texto 32"/>
              <p:cNvSpPr txBox="1"/>
              <p:nvPr/>
            </p:nvSpPr>
            <p:spPr>
              <a:xfrm>
                <a:off x="15452" y="7854"/>
                <a:ext cx="3216" cy="1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200" b="1" i="1">
                    <a:solidFill>
                      <a:schemeClr val="bg1">
                        <a:lumMod val="95000"/>
                      </a:schemeClr>
                    </a:solidFill>
                  </a:rPr>
                  <a:t>Dificuldade</a:t>
                </a:r>
                <a:endParaRPr lang="en-US" altLang="en-US" sz="1200" i="1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US" altLang="en-US" sz="1000" i="1">
                    <a:solidFill>
                      <a:schemeClr val="bg1">
                        <a:lumMod val="95000"/>
                      </a:schemeClr>
                    </a:solidFill>
                  </a:rPr>
                  <a:t>Localizar, compreender a estrutura e obter os dados demanda um esforço técnico.</a:t>
                </a:r>
                <a:endParaRPr lang="en-US" altLang="en-US" sz="1000" i="1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36" name="Grupo 35"/>
            <p:cNvGrpSpPr/>
            <p:nvPr/>
          </p:nvGrpSpPr>
          <p:grpSpPr>
            <a:xfrm>
              <a:off x="16927" y="5945"/>
              <a:ext cx="266" cy="1547"/>
              <a:chOff x="16927" y="5945"/>
              <a:chExt cx="266" cy="1547"/>
            </a:xfrm>
          </p:grpSpPr>
          <p:sp>
            <p:nvSpPr>
              <p:cNvPr id="34" name="Elipse 33"/>
              <p:cNvSpPr/>
              <p:nvPr/>
            </p:nvSpPr>
            <p:spPr>
              <a:xfrm>
                <a:off x="16927" y="5945"/>
                <a:ext cx="266" cy="232"/>
              </a:xfrm>
              <a:prstGeom prst="ellipse">
                <a:avLst/>
              </a:prstGeom>
              <a:solidFill>
                <a:srgbClr val="7F42D5"/>
              </a:solidFill>
              <a:ln>
                <a:solidFill>
                  <a:srgbClr val="7D3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altLang="en-US"/>
              </a:p>
            </p:txBody>
          </p:sp>
          <p:cxnSp>
            <p:nvCxnSpPr>
              <p:cNvPr id="35" name="Conector Reto 34"/>
              <p:cNvCxnSpPr>
                <a:stCxn id="31" idx="0"/>
                <a:endCxn id="34" idx="4"/>
              </p:cNvCxnSpPr>
              <p:nvPr/>
            </p:nvCxnSpPr>
            <p:spPr>
              <a:xfrm flipV="1">
                <a:off x="17060" y="6177"/>
                <a:ext cx="0" cy="1315"/>
              </a:xfrm>
              <a:prstGeom prst="line">
                <a:avLst/>
              </a:prstGeom>
              <a:solidFill>
                <a:srgbClr val="58A6DA"/>
              </a:solidFill>
              <a:ln w="28575">
                <a:solidFill>
                  <a:srgbClr val="7D3FD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3" name="Grupo 52"/>
          <p:cNvGrpSpPr/>
          <p:nvPr/>
        </p:nvGrpSpPr>
        <p:grpSpPr>
          <a:xfrm>
            <a:off x="4156710" y="2353945"/>
            <a:ext cx="2146300" cy="2784475"/>
            <a:chOff x="6546" y="3707"/>
            <a:chExt cx="3380" cy="4385"/>
          </a:xfrm>
        </p:grpSpPr>
        <p:grpSp>
          <p:nvGrpSpPr>
            <p:cNvPr id="52" name="Grupo 51"/>
            <p:cNvGrpSpPr/>
            <p:nvPr/>
          </p:nvGrpSpPr>
          <p:grpSpPr>
            <a:xfrm>
              <a:off x="8103" y="5180"/>
              <a:ext cx="266" cy="2913"/>
              <a:chOff x="8103" y="5180"/>
              <a:chExt cx="266" cy="2913"/>
            </a:xfrm>
            <a:solidFill>
              <a:srgbClr val="D74A69"/>
            </a:solidFill>
          </p:grpSpPr>
          <p:cxnSp>
            <p:nvCxnSpPr>
              <p:cNvPr id="51" name="Conector Reto 50"/>
              <p:cNvCxnSpPr>
                <a:stCxn id="50" idx="0"/>
                <a:endCxn id="44" idx="2"/>
              </p:cNvCxnSpPr>
              <p:nvPr/>
            </p:nvCxnSpPr>
            <p:spPr>
              <a:xfrm flipV="1">
                <a:off x="8236" y="5180"/>
                <a:ext cx="0" cy="2681"/>
              </a:xfrm>
              <a:prstGeom prst="line">
                <a:avLst/>
              </a:prstGeom>
              <a:grpFill/>
              <a:ln w="28575">
                <a:solidFill>
                  <a:srgbClr val="D74A6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Elipse 49"/>
              <p:cNvSpPr/>
              <p:nvPr/>
            </p:nvSpPr>
            <p:spPr>
              <a:xfrm>
                <a:off x="8103" y="7861"/>
                <a:ext cx="266" cy="232"/>
              </a:xfrm>
              <a:prstGeom prst="ellipse">
                <a:avLst/>
              </a:prstGeom>
              <a:grpFill/>
              <a:ln>
                <a:solidFill>
                  <a:srgbClr val="D74A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altLang="en-US"/>
              </a:p>
            </p:txBody>
          </p:sp>
        </p:grpSp>
        <p:grpSp>
          <p:nvGrpSpPr>
            <p:cNvPr id="49" name="Grupo 48"/>
            <p:cNvGrpSpPr/>
            <p:nvPr/>
          </p:nvGrpSpPr>
          <p:grpSpPr>
            <a:xfrm>
              <a:off x="6546" y="3707"/>
              <a:ext cx="3380" cy="1540"/>
              <a:chOff x="6546" y="3707"/>
              <a:chExt cx="3380" cy="1540"/>
            </a:xfrm>
          </p:grpSpPr>
          <p:grpSp>
            <p:nvGrpSpPr>
              <p:cNvPr id="42" name="Grupo 41"/>
              <p:cNvGrpSpPr/>
              <p:nvPr/>
            </p:nvGrpSpPr>
            <p:grpSpPr>
              <a:xfrm>
                <a:off x="6546" y="3707"/>
                <a:ext cx="3380" cy="1541"/>
                <a:chOff x="6634" y="1984"/>
                <a:chExt cx="2265" cy="1698"/>
              </a:xfrm>
            </p:grpSpPr>
            <p:sp>
              <p:nvSpPr>
                <p:cNvPr id="43" name="Retângulo arredondado 42"/>
                <p:cNvSpPr/>
                <p:nvPr/>
              </p:nvSpPr>
              <p:spPr>
                <a:xfrm>
                  <a:off x="6634" y="1984"/>
                  <a:ext cx="2265" cy="169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  <p:sp>
              <p:nvSpPr>
                <p:cNvPr id="44" name="Retângulo arredondado 43"/>
                <p:cNvSpPr/>
                <p:nvPr/>
              </p:nvSpPr>
              <p:spPr>
                <a:xfrm>
                  <a:off x="6689" y="2087"/>
                  <a:ext cx="2155" cy="1521"/>
                </a:xfrm>
                <a:prstGeom prst="roundRect">
                  <a:avLst/>
                </a:prstGeom>
                <a:solidFill>
                  <a:srgbClr val="D74A6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</p:grpSp>
          <p:sp>
            <p:nvSpPr>
              <p:cNvPr id="45" name="Caixa de Texto 44"/>
              <p:cNvSpPr txBox="1"/>
              <p:nvPr/>
            </p:nvSpPr>
            <p:spPr>
              <a:xfrm>
                <a:off x="6710" y="3824"/>
                <a:ext cx="3216" cy="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200" b="1" i="1">
                    <a:solidFill>
                      <a:schemeClr val="bg1">
                        <a:lumMod val="95000"/>
                      </a:schemeClr>
                    </a:solidFill>
                  </a:rPr>
                  <a:t>Dificuldade</a:t>
                </a:r>
                <a:endParaRPr lang="en-US" altLang="en-US" sz="1200" i="1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US" altLang="en-US" sz="1000" i="1">
                    <a:solidFill>
                      <a:schemeClr val="bg1">
                        <a:lumMod val="95000"/>
                      </a:schemeClr>
                    </a:solidFill>
                  </a:rPr>
                  <a:t>Dados brutos, muitas vezes, chegam desestruturados exigindo limpeza e padronização.</a:t>
                </a:r>
                <a:endParaRPr lang="en-US" altLang="en-US" sz="1000" i="1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15558" y="0"/>
            <a:ext cx="12192000" cy="6858000"/>
          </a:xfrm>
          <a:prstGeom prst="rect">
            <a:avLst/>
          </a:prstGeom>
        </p:spPr>
      </p:pic>
      <p:grpSp>
        <p:nvGrpSpPr>
          <p:cNvPr id="53" name="Grupo 52"/>
          <p:cNvGrpSpPr/>
          <p:nvPr/>
        </p:nvGrpSpPr>
        <p:grpSpPr>
          <a:xfrm>
            <a:off x="2851785" y="3700780"/>
            <a:ext cx="2720340" cy="2962275"/>
            <a:chOff x="4470" y="5818"/>
            <a:chExt cx="4284" cy="4665"/>
          </a:xfrm>
        </p:grpSpPr>
        <p:sp>
          <p:nvSpPr>
            <p:cNvPr id="4" name="Fluxograma: Armazenamento interno 11"/>
            <p:cNvSpPr/>
            <p:nvPr/>
          </p:nvSpPr>
          <p:spPr>
            <a:xfrm>
              <a:off x="4470" y="5847"/>
              <a:ext cx="4284" cy="4636"/>
            </a:xfrm>
            <a:prstGeom prst="flowChartInternalStorage">
              <a:avLst/>
            </a:prstGeom>
            <a:solidFill>
              <a:srgbClr val="DC8060"/>
            </a:solidFill>
            <a:ln>
              <a:solidFill>
                <a:srgbClr val="CD6C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Google Shape;154;g102200d9917_0_14"/>
            <p:cNvSpPr txBox="1"/>
            <p:nvPr/>
          </p:nvSpPr>
          <p:spPr>
            <a:xfrm>
              <a:off x="5037" y="5818"/>
              <a:ext cx="2512" cy="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just" rtl="0">
                <a:spcBef>
                  <a:spcPts val="0"/>
                </a:spcBef>
                <a:spcAft>
                  <a:spcPts val="0"/>
                </a:spcAft>
              </a:pPr>
              <a:r>
                <a:rPr lang="pt-BR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Dificuldades</a:t>
              </a:r>
              <a:endParaRPr lang="pt-BR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9" name="Caixa de Texto 10"/>
            <p:cNvSpPr txBox="1"/>
            <p:nvPr/>
          </p:nvSpPr>
          <p:spPr>
            <a:xfrm>
              <a:off x="4545" y="6407"/>
              <a:ext cx="4174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D</a:t>
              </a:r>
              <a:r>
                <a:rPr lang="en-US" altLang="pt-BR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i</a:t>
              </a:r>
              <a:r>
                <a:rPr lang="pt-BR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ficuldade em acessar informações úteis e de qualidade</a:t>
              </a:r>
              <a:endParaRPr lang="pt-BR" altLang="en-US" sz="16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+mn-ea"/>
              </a:endParaRPr>
            </a:p>
          </p:txBody>
        </p:sp>
        <p:sp>
          <p:nvSpPr>
            <p:cNvPr id="50" name="Caixa de Texto 11"/>
            <p:cNvSpPr txBox="1"/>
            <p:nvPr/>
          </p:nvSpPr>
          <p:spPr>
            <a:xfrm>
              <a:off x="4579" y="7754"/>
              <a:ext cx="4067" cy="92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lvl="0" indent="-285750" algn="l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 err="1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Fontes</a:t>
              </a:r>
              <a:r>
                <a:rPr lang="en-US" altLang="en-US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 de dados </a:t>
              </a:r>
              <a:r>
                <a:rPr lang="en-US" altLang="en-US" sz="1600" dirty="0" err="1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descentralizadas</a:t>
              </a:r>
              <a:endParaRPr lang="en-US" altLang="en-US" sz="1600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+mn-ea"/>
              </a:endParaRPr>
            </a:p>
          </p:txBody>
        </p:sp>
        <p:sp>
          <p:nvSpPr>
            <p:cNvPr id="52" name="Caixa de Texto 12"/>
            <p:cNvSpPr txBox="1"/>
            <p:nvPr/>
          </p:nvSpPr>
          <p:spPr>
            <a:xfrm>
              <a:off x="4613" y="8697"/>
              <a:ext cx="4067" cy="169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lvl="0" indent="-285750" algn="l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 err="1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Dificuldade</a:t>
              </a:r>
              <a:r>
                <a:rPr lang="en-US" altLang="en-US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 de </a:t>
              </a:r>
              <a:r>
                <a:rPr lang="en-US" altLang="en-US" sz="1600" dirty="0" err="1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obtenção</a:t>
              </a:r>
              <a:r>
                <a:rPr lang="en-US" altLang="en-US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 dos dados</a:t>
              </a:r>
              <a:endParaRPr lang="en-US" altLang="en-US" sz="16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+mn-ea"/>
              </a:endParaRPr>
            </a:p>
            <a:p>
              <a:pPr marL="285750" lvl="0" indent="-285750" algn="l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altLang="en-US" sz="16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+mn-ea"/>
              </a:endParaRPr>
            </a:p>
            <a:p>
              <a:pPr marL="285750" lvl="0" indent="-285750" algn="l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 err="1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Apagão</a:t>
              </a:r>
              <a:r>
                <a:rPr lang="en-US" altLang="en-US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 de dados</a:t>
              </a:r>
              <a:endParaRPr lang="en-US" altLang="en-US" sz="16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+mn-ea"/>
              </a:endParaRPr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6116320" y="3694478"/>
            <a:ext cx="2752090" cy="2988326"/>
            <a:chOff x="9632" y="5282"/>
            <a:chExt cx="4334" cy="5242"/>
          </a:xfrm>
        </p:grpSpPr>
        <p:sp>
          <p:nvSpPr>
            <p:cNvPr id="14" name="Fluxograma: Armazenamento interno 7"/>
            <p:cNvSpPr/>
            <p:nvPr/>
          </p:nvSpPr>
          <p:spPr>
            <a:xfrm>
              <a:off x="9632" y="5332"/>
              <a:ext cx="4334" cy="5192"/>
            </a:xfrm>
            <a:prstGeom prst="flowChartInternalStorage">
              <a:avLst/>
            </a:prstGeom>
            <a:solidFill>
              <a:srgbClr val="9460D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5" name="Google Shape;154;g102200d9917_0_14"/>
            <p:cNvSpPr txBox="1"/>
            <p:nvPr/>
          </p:nvSpPr>
          <p:spPr>
            <a:xfrm>
              <a:off x="10182" y="5282"/>
              <a:ext cx="2770" cy="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p>
              <a:pPr lvl="0" algn="just" rtl="0">
                <a:spcBef>
                  <a:spcPts val="0"/>
                </a:spcBef>
                <a:spcAft>
                  <a:spcPts val="0"/>
                </a:spcAft>
              </a:pPr>
              <a:r>
                <a:rPr lang="pt-BR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Necessidades</a:t>
              </a:r>
              <a:endParaRPr lang="pt-BR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6" name="Google Shape;154;g102200d9917_0_14"/>
            <p:cNvSpPr txBox="1"/>
            <p:nvPr/>
          </p:nvSpPr>
          <p:spPr>
            <a:xfrm>
              <a:off x="9746" y="6097"/>
              <a:ext cx="4100" cy="2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p>
              <a:pPr marL="285750" lvl="0" indent="-285750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O que precisamos conhecer sobre a pandemia da         COVID-19?</a:t>
              </a:r>
              <a:endParaRPr lang="pt-BR" sz="16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4" name="Google Shape;154;g102200d9917_0_14"/>
            <p:cNvSpPr txBox="1"/>
            <p:nvPr/>
          </p:nvSpPr>
          <p:spPr>
            <a:xfrm>
              <a:off x="9866" y="8277"/>
              <a:ext cx="4100" cy="2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p>
              <a:pPr marL="285750" lvl="0" indent="-285750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Como produzir conhecimento útil para responder às diversas questões? </a:t>
              </a:r>
              <a:endParaRPr lang="pt-BR" sz="16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Arial" panose="020B0604020202020204"/>
              </a:endParaRPr>
            </a:p>
          </p:txBody>
        </p:sp>
      </p:grpSp>
      <p:sp>
        <p:nvSpPr>
          <p:cNvPr id="29" name="Retângulo arredondado 28"/>
          <p:cNvSpPr/>
          <p:nvPr/>
        </p:nvSpPr>
        <p:spPr>
          <a:xfrm>
            <a:off x="6188710" y="887095"/>
            <a:ext cx="5927725" cy="411480"/>
          </a:xfrm>
          <a:prstGeom prst="roundRect">
            <a:avLst/>
          </a:prstGeom>
          <a:solidFill>
            <a:srgbClr val="CD6C5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pt-BR" sz="1400"/>
              <a:t>Durante a pandemia da Covid-19</a:t>
            </a:r>
            <a:endParaRPr lang="en-US" altLang="pt-BR" sz="1400"/>
          </a:p>
        </p:txBody>
      </p:sp>
      <p:grpSp>
        <p:nvGrpSpPr>
          <p:cNvPr id="37" name="Grupo 36"/>
          <p:cNvGrpSpPr/>
          <p:nvPr/>
        </p:nvGrpSpPr>
        <p:grpSpPr>
          <a:xfrm>
            <a:off x="9364345" y="3693795"/>
            <a:ext cx="2752090" cy="2988945"/>
            <a:chOff x="14747" y="5817"/>
            <a:chExt cx="4334" cy="4707"/>
          </a:xfrm>
        </p:grpSpPr>
        <p:grpSp>
          <p:nvGrpSpPr>
            <p:cNvPr id="7" name="Group 6"/>
            <p:cNvGrpSpPr/>
            <p:nvPr/>
          </p:nvGrpSpPr>
          <p:grpSpPr>
            <a:xfrm rot="0">
              <a:off x="14747" y="5818"/>
              <a:ext cx="4334" cy="4706"/>
              <a:chOff x="6628672" y="2416648"/>
              <a:chExt cx="2663760" cy="3277870"/>
            </a:xfrm>
          </p:grpSpPr>
          <p:sp>
            <p:nvSpPr>
              <p:cNvPr id="10" name="Fluxograma: Armazenamento interno 12"/>
              <p:cNvSpPr/>
              <p:nvPr/>
            </p:nvSpPr>
            <p:spPr>
              <a:xfrm>
                <a:off x="6628672" y="2422998"/>
                <a:ext cx="2663760" cy="3271520"/>
              </a:xfrm>
              <a:prstGeom prst="flowChartInternal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7159952" y="2416648"/>
                <a:ext cx="2035350" cy="3091754"/>
                <a:chOff x="7159952" y="2416648"/>
                <a:chExt cx="2035350" cy="3091754"/>
              </a:xfrm>
            </p:grpSpPr>
            <p:sp>
              <p:nvSpPr>
                <p:cNvPr id="12" name="Caixa de Texto 8"/>
                <p:cNvSpPr txBox="1"/>
                <p:nvPr/>
              </p:nvSpPr>
              <p:spPr>
                <a:xfrm>
                  <a:off x="7159952" y="2977909"/>
                  <a:ext cx="2035350" cy="253049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marL="0" lvl="0" indent="0" algn="just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Font typeface="Arial" panose="020B0604020202020204"/>
                    <a:buNone/>
                  </a:pPr>
                  <a:r>
                    <a:rPr lang="pt-BR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Construir uma </a:t>
                  </a:r>
                  <a:r>
                    <a:rPr lang="pt-BR" sz="1600" b="1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plataforma </a:t>
                  </a:r>
                  <a:r>
                    <a:rPr lang="pt-BR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com um ecossistema de dados para 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a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produção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 de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conhecimento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em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saúde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,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em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 especial,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sobre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 a </a:t>
                  </a:r>
                  <a:r>
                    <a:rPr lang="en-US" sz="1600" dirty="0" err="1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pandemia</a:t>
                  </a:r>
                  <a:r>
                    <a:rPr lang="en-US" sz="1600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  <a:sym typeface="Arial" panose="020B0604020202020204"/>
                    </a:rPr>
                    <a:t> de Covid-19.</a:t>
                  </a:r>
                  <a:endParaRPr lang="en-US" sz="1600" dirty="0">
                    <a:solidFill>
                      <a:schemeClr val="bg1"/>
                    </a:solidFill>
                    <a:latin typeface="Calibri" charset="0"/>
                    <a:ea typeface="Calibri" charset="0"/>
                    <a:cs typeface="Calibri" charset="0"/>
                    <a:sym typeface="Arial" panose="020B0604020202020204"/>
                  </a:endParaRPr>
                </a:p>
              </p:txBody>
            </p:sp>
            <p:sp>
              <p:nvSpPr>
                <p:cNvPr id="13" name="Google Shape;154;g102200d9917_0_14"/>
                <p:cNvSpPr txBox="1"/>
                <p:nvPr/>
              </p:nvSpPr>
              <p:spPr>
                <a:xfrm>
                  <a:off x="7159952" y="2416648"/>
                  <a:ext cx="1702216" cy="5926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lvl="0" algn="just" rtl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pt-BR" b="1" dirty="0">
                      <a:solidFill>
                        <a:schemeClr val="bg1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Ideia</a:t>
                  </a:r>
                  <a:endParaRPr lang="pt-BR" sz="1400" b="1" dirty="0">
                    <a:solidFill>
                      <a:schemeClr val="bg1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980000">
              <a:off x="17071" y="5817"/>
              <a:ext cx="677" cy="677"/>
            </a:xfrm>
            <a:prstGeom prst="rect">
              <a:avLst/>
            </a:prstGeom>
          </p:spPr>
        </p:pic>
      </p:grpSp>
      <p:pic>
        <p:nvPicPr>
          <p:cNvPr id="30" name="Imagem 29" descr="jornada_dados_v3"/>
          <p:cNvPicPr>
            <a:picLocks noChangeAspect="1"/>
          </p:cNvPicPr>
          <p:nvPr/>
        </p:nvPicPr>
        <p:blipFill>
          <a:blip r:embed="rId3"/>
          <a:srcRect r="51236" b="81336"/>
          <a:stretch>
            <a:fillRect/>
          </a:stretch>
        </p:blipFill>
        <p:spPr>
          <a:xfrm>
            <a:off x="99695" y="116205"/>
            <a:ext cx="5885180" cy="1236345"/>
          </a:xfrm>
          <a:prstGeom prst="rect">
            <a:avLst/>
          </a:prstGeom>
        </p:spPr>
      </p:pic>
      <p:grpSp>
        <p:nvGrpSpPr>
          <p:cNvPr id="33" name="Grupo 32"/>
          <p:cNvGrpSpPr/>
          <p:nvPr/>
        </p:nvGrpSpPr>
        <p:grpSpPr>
          <a:xfrm>
            <a:off x="2851785" y="1444625"/>
            <a:ext cx="9355455" cy="1894840"/>
            <a:chOff x="4491" y="2275"/>
            <a:chExt cx="14733" cy="2984"/>
          </a:xfrm>
        </p:grpSpPr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1" y="2275"/>
              <a:ext cx="14610" cy="2985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Caixa de Texto 31"/>
            <p:cNvSpPr txBox="1"/>
            <p:nvPr/>
          </p:nvSpPr>
          <p:spPr>
            <a:xfrm>
              <a:off x="18688" y="3624"/>
              <a:ext cx="537" cy="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pt-BR" sz="1500">
                  <a:solidFill>
                    <a:srgbClr val="CD6C51"/>
                  </a:solidFill>
                </a:rPr>
                <a:t>...</a:t>
              </a:r>
              <a:endParaRPr lang="en-US" altLang="pt-BR" sz="1500">
                <a:solidFill>
                  <a:srgbClr val="CD6C51"/>
                </a:solidFill>
              </a:endParaRPr>
            </a:p>
          </p:txBody>
        </p:sp>
      </p:grpSp>
      <p:pic>
        <p:nvPicPr>
          <p:cNvPr id="55" name="Imagem 5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95" y="1444625"/>
            <a:ext cx="2696210" cy="1800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3" name="Caixa de Texto 2"/>
          <p:cNvSpPr txBox="1"/>
          <p:nvPr/>
        </p:nvSpPr>
        <p:spPr>
          <a:xfrm>
            <a:off x="1802130" y="2926080"/>
            <a:ext cx="88372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pt-BR" sz="3200">
                <a:solidFill>
                  <a:schemeClr val="tx1"/>
                </a:solidFill>
              </a:rPr>
              <a:t>....o papel da plataforma é </a:t>
            </a:r>
            <a:r>
              <a:rPr lang="en-US" altLang="pt-BR" sz="3200" b="1">
                <a:solidFill>
                  <a:srgbClr val="8C2416"/>
                </a:solidFill>
              </a:rPr>
              <a:t>reduzir </a:t>
            </a:r>
            <a:r>
              <a:rPr lang="en-US" altLang="en-US" sz="3200">
                <a:solidFill>
                  <a:schemeClr val="tx1"/>
                </a:solidFill>
              </a:rPr>
              <a:t>esta </a:t>
            </a:r>
            <a:r>
              <a:rPr lang="en-US" altLang="pt-BR" sz="3200">
                <a:solidFill>
                  <a:schemeClr val="tx1"/>
                </a:solidFill>
              </a:rPr>
              <a:t>jornada.</a:t>
            </a:r>
            <a:endParaRPr lang="en-US" altLang="pt-BR" sz="3200">
              <a:solidFill>
                <a:schemeClr val="tx1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4493260" y="4495165"/>
            <a:ext cx="474345" cy="1987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altLang="en-US" sz="700">
                <a:solidFill>
                  <a:schemeClr val="bg1"/>
                </a:solidFill>
              </a:rPr>
              <a:t>Acesso</a:t>
            </a:r>
            <a:endParaRPr lang="en-US" altLang="en-US" sz="7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264795" y="2558415"/>
            <a:ext cx="5653405" cy="19380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pt-BR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É uma solução </a:t>
            </a:r>
            <a:r>
              <a:rPr lang="pt-BR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voltada para a o acesso aberto </a:t>
            </a:r>
            <a:r>
              <a:rPr lang="en-US" altLang="pt-BR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pt-BR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dados administrativos</a:t>
            </a:r>
            <a:r>
              <a:rPr lang="pt-BR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demogr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áficos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socioeconômicos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políticas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sociais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infraestrutura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de 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serviços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e de </a:t>
            </a:r>
            <a:r>
              <a:rPr lang="en-US" alt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saúde</a:t>
            </a:r>
            <a:r>
              <a:rPr lang="en-US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, dentre outros, </a:t>
            </a:r>
            <a:r>
              <a:rPr lang="pt-BR" alt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com </a:t>
            </a:r>
            <a:r>
              <a:rPr lang="pt-BR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objetivo de  produzir  conhecimento em saúde</a:t>
            </a:r>
            <a:r>
              <a:rPr lang="en-US" altLang="pt-BR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altLang="pt-BR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Caixa de Texto 27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Objetivos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29" name="Caixa de Texto 28"/>
          <p:cNvSpPr txBox="1"/>
          <p:nvPr/>
        </p:nvSpPr>
        <p:spPr>
          <a:xfrm>
            <a:off x="6701155" y="1395730"/>
            <a:ext cx="5420995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Vigil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ância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epidemiológica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saúde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 (ex: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monitoramento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emergências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saúde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pública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)</a:t>
            </a:r>
            <a:endParaRPr lang="en-US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C</a:t>
            </a:r>
            <a:r>
              <a:rPr lang="pt-BR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onstrução e atualização de indicadores e painéis</a:t>
            </a:r>
            <a:endParaRPr lang="pt-BR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Pesquisa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determinantes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sociais</a:t>
            </a:r>
            <a:r>
              <a:rPr lang="en-US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,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desigualdades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saúde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 </a:t>
            </a:r>
            <a:r>
              <a:rPr lang="en-US" alt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avaliação</a:t>
            </a:r>
            <a:r>
              <a:rPr lang="en-US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de </a:t>
            </a:r>
            <a:r>
              <a:rPr lang="en-US" alt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impacto</a:t>
            </a:r>
            <a:endParaRPr lang="en-US" altLang="en-US" sz="2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Suporte</a:t>
            </a:r>
            <a:r>
              <a:rPr lang="en-US" altLang="en-US" sz="20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ações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formativas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pesquisa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saúde</a:t>
            </a:r>
            <a:endParaRPr lang="pt-BR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Calibri" charset="0"/>
              <a:cs typeface="Arial" panose="020B0604020202020204" pitchFamily="34" charset="0"/>
            </a:endParaRPr>
          </a:p>
          <a:p>
            <a:pPr marL="285750" indent="-285750" algn="just"/>
            <a:endParaRPr lang="en-US" altLang="en-US" i="1" dirty="0">
              <a:solidFill>
                <a:schemeClr val="tx1"/>
              </a:solidFill>
              <a:latin typeface="Arial" panose="020B0604020202020204" pitchFamily="34" charset="0"/>
              <a:ea typeface="Calibri" charset="0"/>
              <a:cs typeface="Arial" panose="020B0604020202020204" pitchFamily="34" charset="0"/>
            </a:endParaRPr>
          </a:p>
        </p:txBody>
      </p:sp>
      <p:sp>
        <p:nvSpPr>
          <p:cNvPr id="38" name="Caixa de Texto 37"/>
          <p:cNvSpPr txBox="1"/>
          <p:nvPr/>
        </p:nvSpPr>
        <p:spPr>
          <a:xfrm>
            <a:off x="5473700" y="4391660"/>
            <a:ext cx="640715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cxnSp>
        <p:nvCxnSpPr>
          <p:cNvPr id="39" name="Straight Connector 9"/>
          <p:cNvCxnSpPr/>
          <p:nvPr/>
        </p:nvCxnSpPr>
        <p:spPr>
          <a:xfrm>
            <a:off x="6096000" y="1469542"/>
            <a:ext cx="0" cy="4380652"/>
          </a:xfrm>
          <a:prstGeom prst="line">
            <a:avLst/>
          </a:prstGeom>
          <a:ln w="38100">
            <a:solidFill>
              <a:srgbClr val="FFCD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264795" y="2558415"/>
            <a:ext cx="5653405" cy="22453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Organiza </a:t>
            </a:r>
            <a:r>
              <a:rPr lang="pt-BR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um </a:t>
            </a:r>
            <a:r>
              <a:rPr lang="pt-BR" altLang="en-US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ecossistema de dados administrativos </a:t>
            </a:r>
            <a:r>
              <a:rPr lang="en-US" altLang="pt-BR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com </a:t>
            </a:r>
            <a:r>
              <a:rPr lang="en-US" altLang="pt-BR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acesso</a:t>
            </a:r>
            <a:r>
              <a:rPr lang="en-US" altLang="pt-BR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pt-BR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aberto</a:t>
            </a:r>
            <a:r>
              <a:rPr lang="pt-BR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pt-BR" sz="2000" dirty="0">
                <a:latin typeface="Calibri" charset="0"/>
                <a:ea typeface="Calibri" charset="0"/>
                <a:cs typeface="Calibri" charset="0"/>
                <a:sym typeface="+mn-ea"/>
              </a:rPr>
              <a:t>para</a:t>
            </a:r>
            <a:r>
              <a:rPr lang="pt-BR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pt-BR" sz="2000" dirty="0" err="1">
                <a:latin typeface="Calibri" charset="0"/>
                <a:ea typeface="Calibri" charset="0"/>
                <a:cs typeface="Calibri" charset="0"/>
                <a:sym typeface="+mn-ea"/>
              </a:rPr>
              <a:t>produção</a:t>
            </a:r>
            <a:r>
              <a:rPr lang="en-US" altLang="pt-BR" sz="2000" dirty="0">
                <a:latin typeface="Calibri" charset="0"/>
                <a:ea typeface="Calibri" charset="0"/>
                <a:cs typeface="Calibri" charset="0"/>
                <a:sym typeface="+mn-ea"/>
              </a:rPr>
              <a:t> de </a:t>
            </a:r>
            <a:r>
              <a:rPr lang="pt-BR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conhecimento em saúde</a:t>
            </a:r>
            <a:r>
              <a:rPr lang="en-US" altLang="pt-BR" sz="2000" dirty="0">
                <a:latin typeface="Calibri" charset="0"/>
                <a:ea typeface="Calibri" charset="0"/>
                <a:cs typeface="Calibri" charset="0"/>
                <a:sym typeface="+mn-ea"/>
              </a:rPr>
              <a:t>.</a:t>
            </a:r>
            <a:endParaRPr lang="pt-BR" altLang="en-US" sz="2000" dirty="0"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pt-BR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A plataforma é </a:t>
            </a:r>
            <a:r>
              <a:rPr lang="en-US" altLang="en-US" sz="2000" dirty="0" err="1">
                <a:latin typeface="Calibri" charset="0"/>
                <a:ea typeface="Calibri" charset="0"/>
                <a:cs typeface="Calibri" charset="0"/>
                <a:sym typeface="+mn-ea"/>
              </a:rPr>
              <a:t>uma</a:t>
            </a:r>
            <a:r>
              <a:rPr lang="en-US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dirty="0" err="1">
                <a:latin typeface="Calibri" charset="0"/>
                <a:ea typeface="Calibri" charset="0"/>
                <a:cs typeface="Calibri" charset="0"/>
                <a:sym typeface="+mn-ea"/>
              </a:rPr>
              <a:t>solução</a:t>
            </a:r>
            <a:r>
              <a:rPr lang="en-US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dirty="0" err="1">
                <a:latin typeface="Calibri" charset="0"/>
                <a:ea typeface="Calibri" charset="0"/>
                <a:cs typeface="Calibri" charset="0"/>
                <a:sym typeface="+mn-ea"/>
              </a:rPr>
              <a:t>aberta</a:t>
            </a:r>
            <a:r>
              <a:rPr lang="en-US" altLang="en-US" sz="2000" dirty="0">
                <a:latin typeface="Calibri" charset="0"/>
                <a:ea typeface="Calibri" charset="0"/>
                <a:cs typeface="Calibri" charset="0"/>
                <a:sym typeface="+mn-ea"/>
              </a:rPr>
              <a:t> que </a:t>
            </a:r>
            <a:r>
              <a:rPr lang="en-US" altLang="en-US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reúne</a:t>
            </a:r>
            <a:r>
              <a:rPr lang="en-US" altLang="en-US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todos</a:t>
            </a:r>
            <a:r>
              <a:rPr lang="en-US" altLang="en-US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os</a:t>
            </a:r>
            <a:r>
              <a:rPr lang="en-US" altLang="en-US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 dados </a:t>
            </a:r>
            <a:r>
              <a:rPr lang="en-US" altLang="en-US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altLang="en-US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só</a:t>
            </a:r>
            <a:r>
              <a:rPr lang="en-US" altLang="en-US" sz="2000" b="1" dirty="0"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altLang="en-US" sz="2000" b="1" dirty="0" err="1">
                <a:latin typeface="Calibri" charset="0"/>
                <a:ea typeface="Calibri" charset="0"/>
                <a:cs typeface="Calibri" charset="0"/>
                <a:sym typeface="+mn-ea"/>
              </a:rPr>
              <a:t>lugar</a:t>
            </a:r>
            <a:r>
              <a:rPr lang="en-US" altLang="en-US" sz="2000" dirty="0" err="1">
                <a:latin typeface="Calibri" charset="0"/>
                <a:ea typeface="Calibri" charset="0"/>
                <a:cs typeface="Calibri" charset="0"/>
                <a:sym typeface="+mn-ea"/>
              </a:rPr>
              <a:t>.</a:t>
            </a:r>
            <a:endParaRPr lang="pt-BR" sz="2000" dirty="0"/>
          </a:p>
          <a:p>
            <a:pPr algn="just"/>
            <a:endParaRPr lang="en-US" altLang="pt-BR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Caixa de Texto 27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Benefícios e Oportunidades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38" name="Caixa de Texto 37"/>
          <p:cNvSpPr txBox="1"/>
          <p:nvPr/>
        </p:nvSpPr>
        <p:spPr>
          <a:xfrm>
            <a:off x="5473700" y="4391660"/>
            <a:ext cx="640715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cxnSp>
        <p:nvCxnSpPr>
          <p:cNvPr id="39" name="Straight Connector 9"/>
          <p:cNvCxnSpPr/>
          <p:nvPr/>
        </p:nvCxnSpPr>
        <p:spPr>
          <a:xfrm>
            <a:off x="6096000" y="1469542"/>
            <a:ext cx="0" cy="4380652"/>
          </a:xfrm>
          <a:prstGeom prst="line">
            <a:avLst/>
          </a:prstGeom>
          <a:ln w="38100">
            <a:solidFill>
              <a:srgbClr val="FFCD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grpSp>
        <p:nvGrpSpPr>
          <p:cNvPr id="11" name="Agrupar 10"/>
          <p:cNvGrpSpPr/>
          <p:nvPr/>
        </p:nvGrpSpPr>
        <p:grpSpPr>
          <a:xfrm>
            <a:off x="6334990" y="887033"/>
            <a:ext cx="5783580" cy="5354344"/>
            <a:chOff x="6301335" y="845123"/>
            <a:chExt cx="5783580" cy="5354344"/>
          </a:xfrm>
        </p:grpSpPr>
        <p:sp>
          <p:nvSpPr>
            <p:cNvPr id="22" name="TextBox 21"/>
            <p:cNvSpPr txBox="1"/>
            <p:nvPr/>
          </p:nvSpPr>
          <p:spPr>
            <a:xfrm>
              <a:off x="6869660" y="845123"/>
              <a:ext cx="5215255" cy="535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endParaRPr lang="pt-BR" b="1" dirty="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l"/>
              <a:endParaRPr lang="pt-BR" b="1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dirty="0">
                  <a:latin typeface="Calibri" charset="0"/>
                  <a:ea typeface="Calibri" charset="0"/>
                  <a:cs typeface="Calibri" charset="0"/>
                </a:rPr>
                <a:t>Conjunto de dados estruturados e organizados, além de informações sobre seus metadados acessíveis em único local</a:t>
              </a:r>
              <a:r>
                <a:rPr lang="en-US" altLang="pt-BR" dirty="0">
                  <a:latin typeface="Calibri" charset="0"/>
                  <a:ea typeface="Calibri" charset="0"/>
                  <a:cs typeface="Calibri" charset="0"/>
                </a:rPr>
                <a:t>.</a:t>
              </a: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dirty="0">
                  <a:latin typeface="Calibri" charset="0"/>
                  <a:ea typeface="Calibri" charset="0"/>
                  <a:cs typeface="Calibri" charset="0"/>
                </a:rPr>
                <a:t>Dados disponíveis em formatos universais (csv e shape files)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compatíveis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com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diversos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softwares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análise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.</a:t>
              </a: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dirty="0">
                  <a:latin typeface="Calibri" charset="0"/>
                  <a:ea typeface="Calibri" charset="0"/>
                  <a:cs typeface="Calibri" charset="0"/>
                </a:rPr>
                <a:t>Download seletivo por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períodos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e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variáveis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específicas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para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estruturação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de bases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personalizadas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para responder a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uma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questão</a:t>
              </a:r>
              <a:r>
                <a:rPr lang="en-US" dirty="0"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dirty="0" err="1">
                  <a:latin typeface="Calibri" charset="0"/>
                  <a:ea typeface="Calibri" charset="0"/>
                  <a:cs typeface="Calibri" charset="0"/>
                </a:rPr>
                <a:t>pesquisa</a:t>
              </a:r>
              <a:r>
                <a:rPr lang="en-US" altLang="en-US" dirty="0" err="1">
                  <a:latin typeface="Calibri" charset="0"/>
                  <a:ea typeface="Calibri" charset="0"/>
                  <a:cs typeface="Calibri" charset="0"/>
                </a:rPr>
                <a:t>.</a:t>
              </a:r>
              <a:endParaRPr lang="en-US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dirty="0">
                  <a:latin typeface="Calibri" charset="0"/>
                  <a:ea typeface="Calibri" charset="0"/>
                  <a:cs typeface="Calibri" charset="0"/>
                </a:rPr>
                <a:t>Suporte dos técnicos da PDD quanto a problemas de acesso e download</a:t>
              </a:r>
              <a:r>
                <a:rPr lang="en-US" altLang="pt-BR" dirty="0">
                  <a:latin typeface="Calibri" charset="0"/>
                  <a:ea typeface="Calibri" charset="0"/>
                  <a:cs typeface="Calibri" charset="0"/>
                </a:rPr>
                <a:t>.</a:t>
              </a: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b="0" i="0" dirty="0">
                  <a:effectLst/>
                  <a:latin typeface="Calibri" charset="0"/>
                  <a:ea typeface="Calibri" charset="0"/>
                  <a:cs typeface="Calibri" charset="0"/>
                </a:rPr>
                <a:t>Garantia de segurança e uso ético dos dados</a:t>
              </a:r>
              <a:r>
                <a:rPr lang="en-US" altLang="pt-BR" b="0" i="0" dirty="0">
                  <a:effectLst/>
                  <a:latin typeface="Calibri" charset="0"/>
                  <a:ea typeface="Calibri" charset="0"/>
                  <a:cs typeface="Calibri" charset="0"/>
                </a:rPr>
                <a:t>.</a:t>
              </a:r>
              <a:endParaRPr lang="en-US" altLang="pt-BR" b="0" i="0" dirty="0">
                <a:effectLst/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1730" y="1360312"/>
              <a:ext cx="457888" cy="572279"/>
            </a:xfrm>
            <a:prstGeom prst="rect">
              <a:avLst/>
            </a:prstGeom>
          </p:spPr>
        </p:pic>
        <p:pic>
          <p:nvPicPr>
            <p:cNvPr id="4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1547" y="3484233"/>
              <a:ext cx="518119" cy="647557"/>
            </a:xfrm>
            <a:prstGeom prst="rect">
              <a:avLst/>
            </a:prstGeom>
          </p:spPr>
        </p:pic>
        <p:pic>
          <p:nvPicPr>
            <p:cNvPr id="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1731" y="2422590"/>
              <a:ext cx="457888" cy="572279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1579" y="5627133"/>
              <a:ext cx="457932" cy="572334"/>
            </a:xfrm>
            <a:prstGeom prst="rect">
              <a:avLst/>
            </a:prstGeom>
          </p:spPr>
        </p:pic>
        <p:pic>
          <p:nvPicPr>
            <p:cNvPr id="9" name="Graphic 8" descr="Customer review outlin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1335" y="4693583"/>
              <a:ext cx="719638" cy="719638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28" name="Caixa de Texto 27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Público Alvo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38" name="Caixa de Texto 37"/>
          <p:cNvSpPr txBox="1"/>
          <p:nvPr/>
        </p:nvSpPr>
        <p:spPr>
          <a:xfrm>
            <a:off x="5473700" y="4391660"/>
            <a:ext cx="640715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sp>
        <p:nvSpPr>
          <p:cNvPr id="7" name="TextBox 27"/>
          <p:cNvSpPr txBox="1"/>
          <p:nvPr/>
        </p:nvSpPr>
        <p:spPr>
          <a:xfrm>
            <a:off x="197936" y="1755281"/>
            <a:ext cx="3454279" cy="4831080"/>
          </a:xfrm>
          <a:prstGeom prst="rect">
            <a:avLst/>
          </a:prstGeom>
          <a:noFill/>
          <a:ln>
            <a:solidFill>
              <a:srgbClr val="8C241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E593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Font typeface="Arial" panose="020B0604020202020204" pitchFamily="34" charset="0"/>
              <a:buNone/>
            </a:pPr>
            <a:r>
              <a:rPr lang="en-US" altLang="pt-BR" sz="20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Pesquisadores</a:t>
            </a:r>
            <a:endParaRPr lang="pt-BR" sz="2000" b="1" dirty="0">
              <a:solidFill>
                <a:schemeClr val="accent2">
                  <a:lumMod val="50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i="0" dirty="0">
                <a:effectLst/>
                <a:latin typeface="Calibri" charset="0"/>
                <a:ea typeface="Calibri" charset="0"/>
                <a:cs typeface="Calibri" charset="0"/>
              </a:rPr>
              <a:t>Acesso e download seguro aos dad</a:t>
            </a:r>
            <a:r>
              <a:rPr lang="pt-BR" dirty="0">
                <a:latin typeface="Calibri" charset="0"/>
                <a:ea typeface="Calibri" charset="0"/>
                <a:cs typeface="Calibri" charset="0"/>
              </a:rPr>
              <a:t>os desidentificados individualizados e agregados </a:t>
            </a:r>
            <a:r>
              <a:rPr lang="en-US" altLang="pt-BR" dirty="0">
                <a:latin typeface="Calibri" charset="0"/>
                <a:ea typeface="Calibri" charset="0"/>
                <a:cs typeface="Calibri" charset="0"/>
              </a:rPr>
              <a:t>por</a:t>
            </a:r>
            <a:r>
              <a:rPr lang="pt-BR" dirty="0">
                <a:latin typeface="Calibri" charset="0"/>
                <a:ea typeface="Calibri" charset="0"/>
                <a:cs typeface="Calibri" charset="0"/>
              </a:rPr>
              <a:t> municípios</a:t>
            </a:r>
            <a:endParaRPr lang="pt-BR" dirty="0">
              <a:latin typeface="Calibri" charset="0"/>
              <a:ea typeface="Calibri" charset="0"/>
              <a:cs typeface="Calibri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pt-BR" dirty="0">
              <a:latin typeface="Calibri" charset="0"/>
              <a:ea typeface="Calibri" charset="0"/>
              <a:cs typeface="Calibri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Calibri" charset="0"/>
                <a:ea typeface="Calibri" charset="0"/>
                <a:cs typeface="Calibri" charset="0"/>
              </a:rPr>
              <a:t>Possibilidade de </a:t>
            </a:r>
            <a:r>
              <a:rPr lang="pt-BR" i="0" dirty="0">
                <a:effectLst/>
                <a:latin typeface="Calibri" charset="0"/>
                <a:ea typeface="Calibri" charset="0"/>
                <a:cs typeface="Calibri" charset="0"/>
              </a:rPr>
              <a:t>estruturar a(s) base(s) de dado(s) necessária(s)</a:t>
            </a:r>
            <a:r>
              <a:rPr lang="pt-BR" b="0" i="0" dirty="0">
                <a:effectLst/>
                <a:latin typeface="Calibri" charset="0"/>
                <a:ea typeface="Calibri" charset="0"/>
                <a:cs typeface="Calibri" charset="0"/>
              </a:rPr>
              <a:t> para seu estudo ou pesquisa</a:t>
            </a:r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BR" dirty="0">
              <a:latin typeface="Calibri" charset="0"/>
              <a:ea typeface="Calibri" charset="0"/>
              <a:cs typeface="Calibri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  <a:p>
            <a:pPr lvl="1" algn="l"/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  <a:p>
            <a:pPr lvl="1" algn="l"/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  <a:p>
            <a:pPr lvl="1" algn="l"/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  <a:p>
            <a:pPr lvl="1" algn="l"/>
            <a:endParaRPr lang="pt-BR" b="0" i="0" dirty="0">
              <a:effectLst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8309308" y="1755281"/>
            <a:ext cx="3617869" cy="4799965"/>
          </a:xfrm>
          <a:prstGeom prst="rect">
            <a:avLst/>
          </a:prstGeom>
          <a:noFill/>
          <a:ln>
            <a:solidFill>
              <a:srgbClr val="8C241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E593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Sociedade em </a:t>
            </a:r>
            <a:r>
              <a:rPr lang="en-US" altLang="pt-BR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g</a:t>
            </a:r>
            <a:r>
              <a:rPr lang="pt-BR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eral</a:t>
            </a:r>
            <a:endParaRPr lang="pt-BR" b="1" dirty="0">
              <a:solidFill>
                <a:schemeClr val="accent2">
                  <a:lumMod val="50000"/>
                </a:schemeClr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lvl="0" algn="l">
              <a:buFont typeface="Arial" panose="020B0604020202020204" pitchFamily="34" charset="0"/>
            </a:pPr>
            <a:endParaRPr lang="pt-BR" b="1" dirty="0">
              <a:solidFill>
                <a:schemeClr val="accent2">
                  <a:lumMod val="50000"/>
                </a:schemeClr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r>
              <a:rPr lang="pt-BR" dirty="0">
                <a:effectLst/>
                <a:latin typeface="Calibri" charset="0"/>
                <a:ea typeface="Calibri" charset="0"/>
                <a:cs typeface="Calibri" charset="0"/>
                <a:sym typeface="+mn-ea"/>
              </a:rPr>
              <a:t>Acesso a dados para monitoramento de padrões epidemiológicos, análise de situação de saúde e apoio a produção de evidências sobre a situação de saúde de grupos sociais</a:t>
            </a: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r>
              <a:rPr lang="pt-BR" dirty="0">
                <a:effectLst/>
                <a:latin typeface="Calibri" charset="0"/>
                <a:ea typeface="Calibri" charset="0"/>
                <a:cs typeface="Calibri" charset="0"/>
                <a:sym typeface="+mn-ea"/>
              </a:rPr>
              <a:t>Subsídio à monitoramento e avaliação de políticas baseadas em evidências</a:t>
            </a: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3923797" y="1755281"/>
            <a:ext cx="3908166" cy="4799965"/>
          </a:xfrm>
          <a:prstGeom prst="rect">
            <a:avLst/>
          </a:prstGeom>
          <a:noFill/>
          <a:ln>
            <a:solidFill>
              <a:srgbClr val="8C241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E593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Trabalhadores  e </a:t>
            </a:r>
            <a:r>
              <a:rPr lang="en-US" altLang="pt-BR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G</a:t>
            </a:r>
            <a:r>
              <a:rPr lang="pt-BR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estores do SUS</a:t>
            </a:r>
            <a:endParaRPr lang="pt-BR" b="1" dirty="0">
              <a:solidFill>
                <a:schemeClr val="accent2">
                  <a:lumMod val="50000"/>
                </a:schemeClr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r>
              <a:rPr lang="pt-BR" dirty="0">
                <a:effectLst/>
                <a:latin typeface="Calibri" charset="0"/>
                <a:ea typeface="Calibri" charset="0"/>
                <a:cs typeface="Calibri" charset="0"/>
                <a:sym typeface="+mn-ea"/>
              </a:rPr>
              <a:t>Monitoramento de padrões epidemiológicos</a:t>
            </a: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lvl="0" indent="0" algn="l">
              <a:buFont typeface="Arial" panose="020B0604020202020204" pitchFamily="34" charset="0"/>
              <a:buNone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r>
              <a:rPr lang="pt-BR" dirty="0">
                <a:effectLst/>
                <a:latin typeface="Calibri" charset="0"/>
                <a:ea typeface="Calibri" charset="0"/>
                <a:cs typeface="Calibri" charset="0"/>
                <a:sym typeface="+mn-ea"/>
              </a:rPr>
              <a:t>Análise de situação de saúde </a:t>
            </a: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r>
              <a:rPr lang="pt-BR" dirty="0">
                <a:effectLst/>
                <a:latin typeface="Calibri" charset="0"/>
                <a:ea typeface="Calibri" charset="0"/>
                <a:cs typeface="Calibri" charset="0"/>
                <a:sym typeface="+mn-ea"/>
              </a:rPr>
              <a:t>Apoio a produção de evidências sobre a situação de saúde de grupos sociais</a:t>
            </a: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r>
              <a:rPr lang="pt-BR" dirty="0">
                <a:effectLst/>
                <a:latin typeface="Calibri" charset="0"/>
                <a:ea typeface="Calibri" charset="0"/>
                <a:cs typeface="Calibri" charset="0"/>
                <a:sym typeface="+mn-ea"/>
              </a:rPr>
              <a:t>Aprimoramento da qualidade dos dados administrativos e seu uso</a:t>
            </a: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</a:pPr>
            <a:endParaRPr lang="pt-BR" dirty="0">
              <a:effectLst/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28" name="Caixa de Texto 27"/>
          <p:cNvSpPr txBox="1"/>
          <p:nvPr/>
        </p:nvSpPr>
        <p:spPr>
          <a:xfrm>
            <a:off x="265430" y="1097280"/>
            <a:ext cx="5848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Governança e Gestão dos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38" name="Caixa de Texto 37"/>
          <p:cNvSpPr txBox="1"/>
          <p:nvPr/>
        </p:nvSpPr>
        <p:spPr>
          <a:xfrm>
            <a:off x="5473700" y="4391660"/>
            <a:ext cx="640715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37397" y="1831339"/>
            <a:ext cx="12013163" cy="645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pt-BR" dirty="0"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pt-BR" dirty="0">
                <a:latin typeface="Calibri" charset="0"/>
                <a:ea typeface="Calibri" charset="0"/>
                <a:cs typeface="Calibri" charset="0"/>
              </a:rPr>
              <a:t>plataforma implementa uma abordagem sist</a:t>
            </a:r>
            <a:r>
              <a:rPr lang="en-US" dirty="0" err="1">
                <a:latin typeface="Calibri" charset="0"/>
                <a:ea typeface="Calibri" charset="0"/>
                <a:cs typeface="Calibri" charset="0"/>
              </a:rPr>
              <a:t>êmica</a:t>
            </a:r>
            <a:r>
              <a:rPr lang="pt-BR" dirty="0">
                <a:latin typeface="Calibri" charset="0"/>
                <a:ea typeface="Calibri" charset="0"/>
                <a:cs typeface="Calibri" charset="0"/>
              </a:rPr>
              <a:t> para garantir segurança e transparência no uso de dados administrativos desidentificados</a:t>
            </a:r>
            <a:r>
              <a:rPr lang="en-US" altLang="pt-BR" dirty="0">
                <a:latin typeface="Calibri" charset="0"/>
                <a:ea typeface="Calibri" charset="0"/>
                <a:cs typeface="Calibri" charset="0"/>
              </a:rPr>
              <a:t>. </a:t>
            </a:r>
            <a:r>
              <a:rPr lang="pt-BR" dirty="0">
                <a:latin typeface="Calibri" charset="0"/>
                <a:ea typeface="Calibri" charset="0"/>
                <a:cs typeface="Calibri" charset="0"/>
              </a:rPr>
              <a:t>A gestão de dados ocorre através de </a:t>
            </a:r>
            <a:r>
              <a:rPr lang="pt-BR" b="1" dirty="0">
                <a:latin typeface="Calibri" charset="0"/>
                <a:ea typeface="Calibri" charset="0"/>
                <a:cs typeface="Calibri" charset="0"/>
              </a:rPr>
              <a:t>4 etapas fundamentais</a:t>
            </a:r>
            <a:r>
              <a:rPr lang="pt-BR" dirty="0">
                <a:latin typeface="Calibri" charset="0"/>
                <a:ea typeface="Calibri" charset="0"/>
                <a:cs typeface="Calibri" charset="0"/>
              </a:rPr>
              <a:t> de governança</a:t>
            </a:r>
            <a:r>
              <a:rPr lang="en-US" altLang="pt-BR" dirty="0">
                <a:latin typeface="Calibri" charset="0"/>
                <a:ea typeface="Calibri" charset="0"/>
                <a:cs typeface="Calibri" charset="0"/>
              </a:rPr>
              <a:t>:</a:t>
            </a:r>
            <a:endParaRPr lang="en-US" altLang="pt-BR" dirty="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345080" y="2678786"/>
            <a:ext cx="11577955" cy="4015740"/>
            <a:chOff x="448503" y="1919059"/>
            <a:chExt cx="11577955" cy="4015740"/>
          </a:xfrm>
        </p:grpSpPr>
        <p:grpSp>
          <p:nvGrpSpPr>
            <p:cNvPr id="4" name="Group 3"/>
            <p:cNvGrpSpPr/>
            <p:nvPr/>
          </p:nvGrpSpPr>
          <p:grpSpPr>
            <a:xfrm>
              <a:off x="448503" y="3534124"/>
              <a:ext cx="1626235" cy="692785"/>
              <a:chOff x="0" y="218750"/>
              <a:chExt cx="6595699" cy="199031"/>
            </a:xfrm>
          </p:grpSpPr>
          <p:sp>
            <p:nvSpPr>
              <p:cNvPr id="3" name="Rectangle: Rounded Corners 6"/>
              <p:cNvSpPr/>
              <p:nvPr/>
            </p:nvSpPr>
            <p:spPr>
              <a:xfrm>
                <a:off x="0" y="218750"/>
                <a:ext cx="6595699" cy="1990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D2F"/>
                    </a:solidFill>
                  </a14:hiddenFill>
                </a:ext>
              </a:ex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pPr algn="ctr"/>
                <a:endParaRPr lang="en-US" dirty="0"/>
              </a:p>
            </p:txBody>
          </p:sp>
          <p:sp>
            <p:nvSpPr>
              <p:cNvPr id="5" name="Rectangle: Rounded Corners 4"/>
              <p:cNvSpPr txBox="1"/>
              <p:nvPr/>
            </p:nvSpPr>
            <p:spPr>
              <a:xfrm>
                <a:off x="473881" y="233891"/>
                <a:ext cx="5647938" cy="17385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Governança</a:t>
                </a:r>
                <a:endParaRPr lang="en-US" sz="1600" b="1" kern="12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903805" y="1919059"/>
              <a:ext cx="3280410" cy="862965"/>
              <a:chOff x="127952" y="1863680"/>
              <a:chExt cx="6610035" cy="713523"/>
            </a:xfrm>
          </p:grpSpPr>
          <p:sp>
            <p:nvSpPr>
              <p:cNvPr id="6" name="Rectangle: Rounded Corners 9"/>
              <p:cNvSpPr/>
              <p:nvPr/>
            </p:nvSpPr>
            <p:spPr>
              <a:xfrm>
                <a:off x="127952" y="1863680"/>
                <a:ext cx="6610035" cy="71352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D2F"/>
                    </a:solidFill>
                  </a14:hiddenFill>
                </a:ext>
              </a:ex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endParaRPr lang="en-US" dirty="0"/>
              </a:p>
            </p:txBody>
          </p:sp>
          <p:sp>
            <p:nvSpPr>
              <p:cNvPr id="11" name="Rectangle: Rounded Corners 4"/>
              <p:cNvSpPr txBox="1"/>
              <p:nvPr/>
            </p:nvSpPr>
            <p:spPr>
              <a:xfrm>
                <a:off x="451391" y="1863680"/>
                <a:ext cx="5648877" cy="64315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b="1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Captação</a:t>
                </a:r>
                <a:r>
                  <a:rPr lang="en-US" b="1" kern="1200" dirty="0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 do dados </a:t>
                </a:r>
                <a:endParaRPr lang="en-US" b="1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507038" y="1919694"/>
              <a:ext cx="5519420" cy="116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</a:extLst>
          </p:spPr>
          <p:txBody>
            <a:bodyPr wrap="square">
              <a:spAutoFit/>
            </a:bodyPr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pt-BR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Mapeamento</a:t>
              </a:r>
              <a:r>
                <a:rPr lang="en-US" altLang="pt-BR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de </a:t>
              </a:r>
              <a:r>
                <a:rPr lang="en-US" altLang="pt-BR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fontes</a:t>
              </a:r>
              <a:r>
                <a:rPr lang="en-US" altLang="pt-BR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de dados e de </a:t>
              </a:r>
              <a:r>
                <a:rPr lang="en-US" altLang="pt-BR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informações</a:t>
              </a:r>
              <a:r>
                <a:rPr lang="en-US" altLang="pt-BR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</a:t>
              </a:r>
              <a:r>
                <a:rPr lang="en-US" altLang="pt-BR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úteis</a:t>
              </a:r>
              <a:endParaRPr lang="en-US" altLang="pt-BR" sz="1400" dirty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 panose="020B0604020202020204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Download de dados (manual e automatizado)</a:t>
              </a:r>
              <a:endParaRPr lang="en-US" altLang="en-US" sz="1400" b="0" i="0" u="none" strike="noStrike" cap="none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 panose="020B0604020202020204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Pré-</a:t>
              </a:r>
              <a:r>
                <a:rPr lang="en-US" altLang="en-US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processamento</a:t>
              </a: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dos dados</a:t>
              </a:r>
              <a:endParaRPr lang="en-US" altLang="en-US" sz="1400" b="0" i="0" u="none" strike="noStrike" cap="none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 panose="020B0604020202020204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en-US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Ingestão</a:t>
              </a: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dos dados no BigQuery (manual e automatizado)</a:t>
              </a:r>
              <a:endParaRPr lang="en-US" altLang="en-US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 panose="020B0604020202020204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en-US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Geração</a:t>
              </a: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e </a:t>
              </a:r>
              <a:r>
                <a:rPr lang="en-US" altLang="en-US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catalogação</a:t>
              </a: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dos </a:t>
              </a:r>
              <a:r>
                <a:rPr lang="en-US" altLang="en-US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metadados</a:t>
              </a:r>
              <a:r>
                <a:rPr lang="en-US" altLang="en-US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  <a:sym typeface="Arial" panose="020B0604020202020204"/>
                </a:rPr>
                <a:t> (Dataverse e MySQL)</a:t>
              </a:r>
              <a:endParaRPr lang="en-US" sz="1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2902211" y="2961636"/>
              <a:ext cx="3272155" cy="862965"/>
              <a:chOff x="147145" y="1775184"/>
              <a:chExt cx="6593401" cy="713523"/>
            </a:xfrm>
          </p:grpSpPr>
          <p:sp>
            <p:nvSpPr>
              <p:cNvPr id="25" name="Rectangle: Rounded Corners 24"/>
              <p:cNvSpPr/>
              <p:nvPr/>
            </p:nvSpPr>
            <p:spPr>
              <a:xfrm>
                <a:off x="147145" y="1775184"/>
                <a:ext cx="6593401" cy="71352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D2F"/>
                    </a:solidFill>
                  </a14:hiddenFill>
                </a:ext>
              </a:ex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endParaRPr lang="en-US" dirty="0"/>
              </a:p>
            </p:txBody>
          </p:sp>
          <p:sp>
            <p:nvSpPr>
              <p:cNvPr id="26" name="Rectangle: Rounded Corners 4"/>
              <p:cNvSpPr txBox="1"/>
              <p:nvPr/>
            </p:nvSpPr>
            <p:spPr>
              <a:xfrm>
                <a:off x="506692" y="1880191"/>
                <a:ext cx="5649110" cy="504034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b="1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Tratamento</a:t>
                </a:r>
                <a:r>
                  <a:rPr lang="en-US" b="1" kern="1200" dirty="0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 dos dados</a:t>
                </a:r>
                <a:endParaRPr lang="en-US" b="1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6507038" y="3302724"/>
              <a:ext cx="5518785" cy="737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</a:extLst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Padronização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e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harmonização</a:t>
              </a:r>
              <a:endParaRPr lang="en-US" sz="1400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Configuração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da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extração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dos dados no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repositório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BigQuery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(V</a:t>
              </a:r>
              <a:r>
                <a:rPr lang="pt-BR" sz="1400" kern="1200" dirty="0">
                  <a:latin typeface="Calibri" charset="0"/>
                  <a:ea typeface="Calibri" charset="0"/>
                  <a:cs typeface="Calibri" charset="0"/>
                </a:rPr>
                <a:t>iew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s) e no MySQL (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filtros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)</a:t>
              </a:r>
              <a:endParaRPr lang="en-US" sz="1400" kern="12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2902078" y="3995616"/>
              <a:ext cx="3273030" cy="907196"/>
              <a:chOff x="112599" y="1730035"/>
              <a:chExt cx="6595164" cy="750095"/>
            </a:xfrm>
          </p:grpSpPr>
          <p:sp>
            <p:nvSpPr>
              <p:cNvPr id="34" name="Rectangle: Rounded Corners 33"/>
              <p:cNvSpPr/>
              <p:nvPr/>
            </p:nvSpPr>
            <p:spPr>
              <a:xfrm>
                <a:off x="112599" y="1766787"/>
                <a:ext cx="6595164" cy="71334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D2F"/>
                    </a:solidFill>
                  </a14:hiddenFill>
                </a:ext>
              </a:ex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endParaRPr lang="en-US" dirty="0"/>
              </a:p>
            </p:txBody>
          </p:sp>
          <p:sp>
            <p:nvSpPr>
              <p:cNvPr id="35" name="Rectangle: Rounded Corners 4"/>
              <p:cNvSpPr txBox="1"/>
              <p:nvPr/>
            </p:nvSpPr>
            <p:spPr>
              <a:xfrm>
                <a:off x="473426" y="1730035"/>
                <a:ext cx="6109740" cy="64316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800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Acesso</a:t>
                </a:r>
                <a:r>
                  <a:rPr lang="en-US" sz="1800" b="1" kern="1200" dirty="0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sz="1800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aos</a:t>
                </a:r>
                <a:r>
                  <a:rPr lang="en-US" sz="1800" b="1" kern="1200" dirty="0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 dados </a:t>
                </a:r>
                <a:r>
                  <a:rPr lang="en-US" sz="1800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pelos</a:t>
                </a:r>
                <a:r>
                  <a:rPr lang="en-US" sz="1800" b="1" kern="1200" dirty="0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sz="1800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usuários</a:t>
                </a:r>
                <a:endParaRPr lang="en-US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  <p:sp>
          <p:nvSpPr>
            <p:cNvPr id="14" name="TextBox 37"/>
            <p:cNvSpPr txBox="1"/>
            <p:nvPr/>
          </p:nvSpPr>
          <p:spPr>
            <a:xfrm>
              <a:off x="6539423" y="4226014"/>
              <a:ext cx="5487035" cy="737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</a:extLst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Calibri" charset="0"/>
                  <a:ea typeface="Calibri" charset="0"/>
                  <a:cs typeface="Calibri" charset="0"/>
                  <a:sym typeface="+mn-ea"/>
                </a:rPr>
                <a:t>Acesso</a:t>
              </a:r>
              <a:r>
                <a:rPr lang="en-US" sz="1400" dirty="0">
                  <a:latin typeface="Calibri" charset="0"/>
                  <a:ea typeface="Calibri" charset="0"/>
                  <a:cs typeface="Calibri" charset="0"/>
                  <a:sym typeface="+mn-ea"/>
                </a:rPr>
                <a:t> </a:t>
              </a:r>
              <a:r>
                <a:rPr lang="en-US" sz="1400" dirty="0" err="1">
                  <a:latin typeface="Calibri" charset="0"/>
                  <a:ea typeface="Calibri" charset="0"/>
                  <a:cs typeface="Calibri" charset="0"/>
                  <a:sym typeface="+mn-ea"/>
                </a:rPr>
                <a:t>ao</a:t>
              </a:r>
              <a:r>
                <a:rPr lang="en-US" sz="1400" dirty="0">
                  <a:latin typeface="Calibri" charset="0"/>
                  <a:ea typeface="Calibri" charset="0"/>
                  <a:cs typeface="Calibri" charset="0"/>
                  <a:sym typeface="+mn-ea"/>
                </a:rPr>
                <a:t> </a:t>
              </a:r>
              <a:r>
                <a:rPr lang="en-US" sz="1400" dirty="0" err="1">
                  <a:latin typeface="Calibri" charset="0"/>
                  <a:ea typeface="Calibri" charset="0"/>
                  <a:cs typeface="Calibri" charset="0"/>
                  <a:sym typeface="+mn-ea"/>
                </a:rPr>
                <a:t>catálogo</a:t>
              </a:r>
              <a:r>
                <a:rPr lang="en-US" sz="1400" dirty="0">
                  <a:latin typeface="Calibri" charset="0"/>
                  <a:ea typeface="Calibri" charset="0"/>
                  <a:cs typeface="Calibri" charset="0"/>
                  <a:sym typeface="+mn-ea"/>
                </a:rPr>
                <a:t> de dados no</a:t>
              </a:r>
              <a:r>
                <a:rPr lang="en-US" sz="1400" i="1" dirty="0">
                  <a:latin typeface="Calibri" charset="0"/>
                  <a:ea typeface="Calibri" charset="0"/>
                  <a:cs typeface="Calibri" charset="0"/>
                  <a:sym typeface="+mn-ea"/>
                </a:rPr>
                <a:t> web site</a:t>
              </a:r>
              <a:endParaRPr lang="en-US" sz="1400" kern="1200" dirty="0" err="1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Acesso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ao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Dataverse (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catálogo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metadados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) </a:t>
              </a:r>
              <a:endParaRPr lang="en-US" sz="1400" i="1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Acesso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altLang="en-US" sz="1400" kern="1200" dirty="0" err="1">
                  <a:latin typeface="Calibri" charset="0"/>
                  <a:ea typeface="Calibri" charset="0"/>
                  <a:cs typeface="Calibri" charset="0"/>
                </a:rPr>
                <a:t>às interfaces de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extração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de dados</a:t>
              </a:r>
              <a:endParaRPr lang="en-US" sz="1400" kern="12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2903478" y="5071827"/>
              <a:ext cx="3277870" cy="862965"/>
              <a:chOff x="126673" y="1680682"/>
              <a:chExt cx="6604917" cy="713523"/>
            </a:xfrm>
          </p:grpSpPr>
          <p:sp>
            <p:nvSpPr>
              <p:cNvPr id="40" name="Rectangle: Rounded Corners 39"/>
              <p:cNvSpPr/>
              <p:nvPr/>
            </p:nvSpPr>
            <p:spPr>
              <a:xfrm>
                <a:off x="126673" y="1680682"/>
                <a:ext cx="6604917" cy="71352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D2F"/>
                    </a:solidFill>
                  </a14:hiddenFill>
                </a:ext>
              </a:ex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endParaRPr lang="en-US" dirty="0"/>
              </a:p>
            </p:txBody>
          </p:sp>
          <p:sp>
            <p:nvSpPr>
              <p:cNvPr id="41" name="Rectangle: Rounded Corners 4"/>
              <p:cNvSpPr txBox="1"/>
              <p:nvPr/>
            </p:nvSpPr>
            <p:spPr>
              <a:xfrm>
                <a:off x="484659" y="1716145"/>
                <a:ext cx="5648877" cy="64315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800" b="1" kern="1200" dirty="0" err="1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Análise</a:t>
                </a:r>
                <a:r>
                  <a:rPr lang="en-US" sz="1800" b="1" kern="1200" dirty="0">
                    <a:solidFill>
                      <a:schemeClr val="tx1"/>
                    </a:solidFill>
                    <a:latin typeface="Calibri" charset="0"/>
                    <a:ea typeface="Calibri" charset="0"/>
                    <a:cs typeface="Calibri" charset="0"/>
                  </a:rPr>
                  <a:t> dos dados</a:t>
                </a:r>
                <a:endParaRPr lang="en-US" kern="12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6539423" y="5197564"/>
              <a:ext cx="5435600" cy="737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</a:extLst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Calibri" charset="0"/>
                  <a:ea typeface="Calibri" charset="0"/>
                  <a:cs typeface="Calibri" charset="0"/>
                </a:rPr>
                <a:t>Estruturação</a:t>
              </a:r>
              <a:r>
                <a:rPr lang="en-US" sz="1400" dirty="0">
                  <a:latin typeface="Calibri" charset="0"/>
                  <a:ea typeface="Calibri" charset="0"/>
                  <a:cs typeface="Calibri" charset="0"/>
                </a:rPr>
                <a:t> da base de dados para </a:t>
              </a:r>
              <a:r>
                <a:rPr lang="en-US" sz="1400" dirty="0" err="1">
                  <a:latin typeface="Calibri" charset="0"/>
                  <a:ea typeface="Calibri" charset="0"/>
                  <a:cs typeface="Calibri" charset="0"/>
                </a:rPr>
                <a:t>análise</a:t>
              </a:r>
              <a:endParaRPr lang="en-US" sz="1400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Análise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descritiva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dos dados</a:t>
              </a:r>
              <a:endParaRPr lang="en-US" sz="1400" kern="1200" dirty="0"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Uso de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métodos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analise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para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estudos</a:t>
              </a:r>
              <a:r>
                <a:rPr lang="en-US" sz="1400" kern="1200" dirty="0"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400" kern="1200" dirty="0" err="1">
                  <a:latin typeface="Calibri" charset="0"/>
                  <a:ea typeface="Calibri" charset="0"/>
                  <a:cs typeface="Calibri" charset="0"/>
                </a:rPr>
                <a:t>ecológicos</a:t>
              </a:r>
              <a:endParaRPr lang="en-US" sz="1400" kern="1200" dirty="0" err="1">
                <a:latin typeface="Calibri" charset="0"/>
                <a:ea typeface="Calibri" charset="0"/>
                <a:cs typeface="Calibri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45" name="Caixa de Texto 44"/>
          <p:cNvSpPr txBox="1"/>
          <p:nvPr/>
        </p:nvSpPr>
        <p:spPr>
          <a:xfrm>
            <a:off x="264795" y="1656080"/>
            <a:ext cx="7167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 plataforma reúne todos os dados em só lugar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construindo 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um ecossistema de dados administrativos </a:t>
            </a:r>
            <a:r>
              <a:rPr lang="en-US" altLang="pt-BR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com acesso aberto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pt-BR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para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pt-BR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produção de 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conhecimento em saúde</a:t>
            </a:r>
            <a:r>
              <a:rPr lang="en-US" altLang="pt-BR" dirty="0">
                <a:solidFill>
                  <a:schemeClr val="tx1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  <a:sym typeface="+mn-ea"/>
              </a:rPr>
              <a:t>.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Calibri" charset="0"/>
              <a:cs typeface="Arial" panose="020B0604020202020204" pitchFamily="34" charset="0"/>
            </a:endParaRPr>
          </a:p>
          <a:p>
            <a:pPr algn="just"/>
            <a:endParaRPr lang="en-US" altLang="en-US" i="1" dirty="0">
              <a:solidFill>
                <a:schemeClr val="tx1"/>
              </a:solidFill>
              <a:latin typeface="Arial" panose="020B0604020202020204" pitchFamily="34" charset="0"/>
              <a:ea typeface="Calibri" charset="0"/>
              <a:cs typeface="Arial" panose="020B0604020202020204" pitchFamily="34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404495" y="3042285"/>
            <a:ext cx="2258060" cy="3130550"/>
            <a:chOff x="673" y="4327"/>
            <a:chExt cx="3342" cy="3843"/>
          </a:xfrm>
        </p:grpSpPr>
        <p:sp>
          <p:nvSpPr>
            <p:cNvPr id="4" name="Retângulo arredondado 3"/>
            <p:cNvSpPr/>
            <p:nvPr/>
          </p:nvSpPr>
          <p:spPr>
            <a:xfrm>
              <a:off x="673" y="4327"/>
              <a:ext cx="3342" cy="3843"/>
            </a:xfrm>
            <a:prstGeom prst="roundRect">
              <a:avLst/>
            </a:prstGeom>
            <a:solidFill>
              <a:srgbClr val="F7A521"/>
            </a:solidFill>
            <a:ln w="19050">
              <a:solidFill>
                <a:srgbClr val="F7A52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C2416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pt-BR" sz="1600" b="1">
                  <a:solidFill>
                    <a:schemeClr val="bg1"/>
                  </a:solidFill>
                </a:rPr>
                <a:t>Catálogo de dados</a:t>
              </a:r>
              <a:endParaRPr lang="en-US" altLang="pt-BR" sz="1400" b="1">
                <a:solidFill>
                  <a:schemeClr val="bg1"/>
                </a:solidFill>
              </a:endParaRPr>
            </a:p>
            <a:p>
              <a:pPr algn="ctr"/>
              <a:endParaRPr lang="en-US" altLang="pt-BR" sz="1400" b="1">
                <a:solidFill>
                  <a:schemeClr val="bg1"/>
                </a:solidFill>
              </a:endParaRPr>
            </a:p>
            <a:p>
              <a:pPr algn="ctr"/>
              <a:endParaRPr lang="en-US" altLang="pt-BR" sz="1400">
                <a:solidFill>
                  <a:schemeClr val="bg1"/>
                </a:solidFill>
              </a:endParaRPr>
            </a:p>
            <a:p>
              <a:pPr algn="ctr"/>
              <a:endParaRPr lang="en-US" altLang="pt-BR" sz="1400">
                <a:solidFill>
                  <a:schemeClr val="bg1"/>
                </a:solidFill>
              </a:endParaRPr>
            </a:p>
            <a:p>
              <a:pPr algn="just"/>
              <a:r>
                <a:rPr lang="en-US" altLang="pt-BR" sz="1400">
                  <a:solidFill>
                    <a:schemeClr val="bg1"/>
                  </a:solidFill>
                </a:rPr>
                <a:t>Conjunto de dados e metadados das principais fontes de dados do Brasil úteis à pesquisa em saúde catalogados através do </a:t>
              </a:r>
              <a:r>
                <a:rPr lang="en-US" altLang="pt-BR" sz="1400" b="1">
                  <a:solidFill>
                    <a:schemeClr val="bg1"/>
                  </a:solidFill>
                </a:rPr>
                <a:t>site da plataforma</a:t>
              </a:r>
              <a:r>
                <a:rPr lang="en-US" altLang="pt-BR" sz="1400">
                  <a:solidFill>
                    <a:schemeClr val="bg1"/>
                  </a:solidFill>
                </a:rPr>
                <a:t> e do </a:t>
              </a:r>
              <a:r>
                <a:rPr lang="en-US" altLang="pt-BR" sz="1400" b="1">
                  <a:solidFill>
                    <a:schemeClr val="bg1"/>
                  </a:solidFill>
                </a:rPr>
                <a:t>Dataverse.</a:t>
              </a:r>
              <a:endParaRPr lang="en-US" alt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15" name="Caixa de Texto 14"/>
            <p:cNvSpPr txBox="1"/>
            <p:nvPr/>
          </p:nvSpPr>
          <p:spPr>
            <a:xfrm>
              <a:off x="953" y="5205"/>
              <a:ext cx="2872" cy="32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pt-BR" sz="1100" i="1">
                  <a:solidFill>
                    <a:schemeClr val="bg1"/>
                  </a:solidFill>
                </a:rPr>
                <a:t>Metadados</a:t>
              </a:r>
              <a:endParaRPr lang="en-US" altLang="pt-BR" sz="1100" i="1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2787015" y="3042920"/>
            <a:ext cx="2258695" cy="3130550"/>
            <a:chOff x="4510" y="4327"/>
            <a:chExt cx="3342" cy="3355"/>
          </a:xfrm>
        </p:grpSpPr>
        <p:sp>
          <p:nvSpPr>
            <p:cNvPr id="6" name="Retângulo arredondado 5"/>
            <p:cNvSpPr/>
            <p:nvPr/>
          </p:nvSpPr>
          <p:spPr>
            <a:xfrm>
              <a:off x="4510" y="4327"/>
              <a:ext cx="3342" cy="3355"/>
            </a:xfrm>
            <a:prstGeom prst="roundRect">
              <a:avLst/>
            </a:prstGeom>
            <a:solidFill>
              <a:srgbClr val="8C2416"/>
            </a:solidFill>
            <a:ln w="19050">
              <a:solidFill>
                <a:srgbClr val="8C241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C2416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en-US" sz="1600" b="1" i="1">
                  <a:solidFill>
                    <a:schemeClr val="bg1"/>
                  </a:solidFill>
                  <a:sym typeface="+mn-ea"/>
                </a:rPr>
                <a:t>Datalake</a:t>
              </a:r>
              <a:endParaRPr lang="en-US" altLang="en-US" sz="1400" b="1" i="1">
                <a:solidFill>
                  <a:schemeClr val="bg1"/>
                </a:solidFill>
                <a:sym typeface="+mn-ea"/>
              </a:endParaRPr>
            </a:p>
            <a:p>
              <a:pPr algn="ctr"/>
              <a:endParaRPr lang="en-US" altLang="en-US" sz="1400" b="1" i="1">
                <a:solidFill>
                  <a:schemeClr val="bg1"/>
                </a:solidFill>
                <a:sym typeface="+mn-ea"/>
              </a:endParaRPr>
            </a:p>
            <a:p>
              <a:pPr algn="ctr"/>
              <a:endParaRPr lang="en-US" altLang="en-US" sz="1400" b="1" i="1">
                <a:solidFill>
                  <a:schemeClr val="bg1"/>
                </a:solidFill>
                <a:sym typeface="+mn-ea"/>
              </a:endParaRPr>
            </a:p>
            <a:p>
              <a:pPr algn="ctr"/>
              <a:r>
                <a:rPr lang="en-US" altLang="en-US" sz="1400" b="1" i="1">
                  <a:solidFill>
                    <a:schemeClr val="bg1"/>
                  </a:solidFill>
                  <a:sym typeface="+mn-ea"/>
                </a:rPr>
                <a:t> </a:t>
              </a:r>
              <a:endParaRPr lang="en-US" altLang="en-US" sz="1400" b="1">
                <a:solidFill>
                  <a:schemeClr val="bg1"/>
                </a:solidFill>
                <a:sym typeface="+mn-ea"/>
              </a:endParaRPr>
            </a:p>
            <a:p>
              <a:pPr algn="just"/>
              <a:r>
                <a:rPr lang="en-US" altLang="en-US" sz="1400">
                  <a:solidFill>
                    <a:schemeClr val="bg1"/>
                  </a:solidFill>
                  <a:sym typeface="+mn-ea"/>
                </a:rPr>
                <a:t>Repositório de dados em nuvem, escalável e com ferramentas de consulta, filtragem, cruzamento e download, implementado através </a:t>
              </a:r>
              <a:r>
                <a:rPr lang="en-US" altLang="en-US" sz="1400" b="1">
                  <a:solidFill>
                    <a:schemeClr val="bg1"/>
                  </a:solidFill>
                  <a:sym typeface="+mn-ea"/>
                </a:rPr>
                <a:t>Google BigQuery</a:t>
              </a:r>
              <a:r>
                <a:rPr lang="en-US" altLang="en-US" sz="1400">
                  <a:solidFill>
                    <a:schemeClr val="bg1"/>
                  </a:solidFill>
                  <a:sym typeface="+mn-ea"/>
                </a:rPr>
                <a:t>.</a:t>
              </a:r>
              <a:endParaRPr lang="en-US" altLang="en-US" sz="1400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7" name="Caixa de Texto 16"/>
            <p:cNvSpPr txBox="1"/>
            <p:nvPr/>
          </p:nvSpPr>
          <p:spPr>
            <a:xfrm>
              <a:off x="4790" y="5093"/>
              <a:ext cx="2923" cy="27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en-US" sz="1100" i="1">
                  <a:solidFill>
                    <a:schemeClr val="bg1"/>
                  </a:solidFill>
                </a:rPr>
                <a:t>Dados</a:t>
              </a:r>
              <a:endParaRPr lang="en-US" altLang="en-US" sz="1100" i="1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5178425" y="3042285"/>
            <a:ext cx="2258695" cy="3130550"/>
            <a:chOff x="8347" y="2934"/>
            <a:chExt cx="3557" cy="4748"/>
          </a:xfrm>
        </p:grpSpPr>
        <p:sp>
          <p:nvSpPr>
            <p:cNvPr id="8" name="Retângulo arredondado 7"/>
            <p:cNvSpPr/>
            <p:nvPr/>
          </p:nvSpPr>
          <p:spPr>
            <a:xfrm>
              <a:off x="8347" y="2934"/>
              <a:ext cx="3557" cy="4748"/>
            </a:xfrm>
            <a:prstGeom prst="roundRect">
              <a:avLst/>
            </a:prstGeom>
            <a:solidFill>
              <a:srgbClr val="E74410"/>
            </a:solidFill>
            <a:ln w="19050">
              <a:solidFill>
                <a:srgbClr val="E7441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C2416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en-US" sz="1600" b="1">
                  <a:solidFill>
                    <a:schemeClr val="bg1"/>
                  </a:solidFill>
                  <a:sym typeface="+mn-ea"/>
                </a:rPr>
                <a:t>Ferramentas de acesso</a:t>
              </a:r>
              <a:endParaRPr lang="en-US" altLang="en-US" sz="1400" b="1">
                <a:solidFill>
                  <a:schemeClr val="bg1"/>
                </a:solidFill>
                <a:sym typeface="+mn-ea"/>
              </a:endParaRPr>
            </a:p>
            <a:p>
              <a:pPr algn="ctr"/>
              <a:endParaRPr lang="en-US" altLang="en-US" sz="1400" b="1">
                <a:solidFill>
                  <a:schemeClr val="bg1"/>
                </a:solidFill>
                <a:sym typeface="+mn-ea"/>
              </a:endParaRPr>
            </a:p>
            <a:p>
              <a:pPr algn="ctr"/>
              <a:endParaRPr lang="en-US" altLang="en-US" sz="1400" b="1">
                <a:solidFill>
                  <a:schemeClr val="bg1"/>
                </a:solidFill>
                <a:sym typeface="+mn-ea"/>
              </a:endParaRPr>
            </a:p>
            <a:p>
              <a:pPr algn="just"/>
              <a:r>
                <a:rPr lang="en-US" altLang="en-US" sz="1400">
                  <a:solidFill>
                    <a:schemeClr val="bg1"/>
                  </a:solidFill>
                  <a:sym typeface="+mn-ea"/>
                </a:rPr>
                <a:t>Extração dos dados </a:t>
              </a:r>
              <a:r>
                <a:rPr lang="en-US" altLang="en-US" sz="1400" b="1">
                  <a:solidFill>
                    <a:schemeClr val="bg1"/>
                  </a:solidFill>
                  <a:sym typeface="+mn-ea"/>
                </a:rPr>
                <a:t>com aplicação desktop </a:t>
              </a:r>
              <a:r>
                <a:rPr lang="en-US" sz="1400">
                  <a:solidFill>
                    <a:schemeClr val="bg1"/>
                  </a:solidFill>
                  <a:sym typeface="+mn-ea"/>
                </a:rPr>
                <a:t>ou</a:t>
              </a:r>
              <a:r>
                <a:rPr lang="en-US" altLang="en-US" sz="1400">
                  <a:solidFill>
                    <a:schemeClr val="bg1"/>
                  </a:solidFill>
                  <a:sym typeface="+mn-ea"/>
                </a:rPr>
                <a:t> </a:t>
              </a:r>
              <a:r>
                <a:rPr lang="en-US" altLang="en-US" sz="1400" b="1">
                  <a:solidFill>
                    <a:schemeClr val="bg1"/>
                  </a:solidFill>
                  <a:sym typeface="+mn-ea"/>
                </a:rPr>
                <a:t>API,</a:t>
              </a:r>
              <a:r>
                <a:rPr lang="en-US" altLang="en-US" sz="1400">
                  <a:solidFill>
                    <a:schemeClr val="bg1"/>
                  </a:solidFill>
                  <a:sym typeface="+mn-ea"/>
                </a:rPr>
                <a:t> facilitando a exploração do </a:t>
              </a:r>
              <a:r>
                <a:rPr lang="en-US" altLang="en-US" sz="1400" i="1">
                  <a:solidFill>
                    <a:schemeClr val="bg1"/>
                  </a:solidFill>
                  <a:sym typeface="+mn-ea"/>
                </a:rPr>
                <a:t>datalake </a:t>
              </a:r>
              <a:r>
                <a:rPr lang="en-US" altLang="en-US" sz="1400">
                  <a:solidFill>
                    <a:schemeClr val="bg1"/>
                  </a:solidFill>
                  <a:sym typeface="+mn-ea"/>
                </a:rPr>
                <a:t>através de filtros ou consumo de dados usando linguagem de programação.</a:t>
              </a:r>
              <a:endParaRPr lang="en-US" altLang="en-US" sz="1400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8" name="Caixa de Texto 17"/>
            <p:cNvSpPr txBox="1"/>
            <p:nvPr/>
          </p:nvSpPr>
          <p:spPr>
            <a:xfrm>
              <a:off x="8605" y="4018"/>
              <a:ext cx="3076" cy="39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en-US" sz="1100" i="1">
                  <a:solidFill>
                    <a:schemeClr val="bg1"/>
                  </a:solidFill>
                </a:rPr>
                <a:t>Acesso</a:t>
              </a:r>
              <a:endParaRPr lang="en-US" altLang="en-US" sz="1100" i="1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7391400" y="2816886"/>
            <a:ext cx="5105400" cy="3395872"/>
            <a:chOff x="11640" y="4394"/>
            <a:chExt cx="8040" cy="5390"/>
          </a:xfrm>
        </p:grpSpPr>
        <p:sp>
          <p:nvSpPr>
            <p:cNvPr id="20" name="Retângulo 19"/>
            <p:cNvSpPr/>
            <p:nvPr/>
          </p:nvSpPr>
          <p:spPr>
            <a:xfrm>
              <a:off x="12104" y="4452"/>
              <a:ext cx="6967" cy="5227"/>
            </a:xfrm>
            <a:prstGeom prst="rect">
              <a:avLst/>
            </a:prstGeom>
            <a:noFill/>
            <a:ln w="19050">
              <a:solidFill>
                <a:srgbClr val="F7A521"/>
              </a:solidFill>
              <a:prstDash val="dash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grpSp>
          <p:nvGrpSpPr>
            <p:cNvPr id="19" name="Grupo 18"/>
            <p:cNvGrpSpPr/>
            <p:nvPr/>
          </p:nvGrpSpPr>
          <p:grpSpPr>
            <a:xfrm>
              <a:off x="11640" y="4394"/>
              <a:ext cx="8040" cy="5390"/>
              <a:chOff x="11424" y="2953"/>
              <a:chExt cx="8230" cy="5526"/>
            </a:xfrm>
          </p:grpSpPr>
          <p:grpSp>
            <p:nvGrpSpPr>
              <p:cNvPr id="14" name="Grupo 13"/>
              <p:cNvGrpSpPr/>
              <p:nvPr/>
            </p:nvGrpSpPr>
            <p:grpSpPr>
              <a:xfrm>
                <a:off x="11424" y="3475"/>
                <a:ext cx="8230" cy="4505"/>
                <a:chOff x="5061" y="3507"/>
                <a:chExt cx="10892" cy="6226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0" name="Imagem 9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364" y="3627"/>
                  <a:ext cx="8478" cy="4804"/>
                </a:xfrm>
                <a:prstGeom prst="rect">
                  <a:avLst/>
                </a:prstGeom>
              </p:spPr>
            </p:pic>
            <p:pic>
              <p:nvPicPr>
                <p:cNvPr id="9" name="Imagem 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61" y="3507"/>
                  <a:ext cx="10892" cy="6226"/>
                </a:xfrm>
                <a:prstGeom prst="rect">
                  <a:avLst/>
                </a:prstGeom>
              </p:spPr>
            </p:pic>
          </p:grpSp>
          <p:sp>
            <p:nvSpPr>
              <p:cNvPr id="86" name="Caixa de Texto 85"/>
              <p:cNvSpPr txBox="1"/>
              <p:nvPr/>
            </p:nvSpPr>
            <p:spPr>
              <a:xfrm>
                <a:off x="13680" y="7980"/>
                <a:ext cx="3865" cy="499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1400">
                    <a:solidFill>
                      <a:srgbClr val="8C2416"/>
                    </a:solidFill>
                  </a:rPr>
                  <a:t>https://pdd.cidacs.org/</a:t>
                </a:r>
                <a:endParaRPr lang="en-US" altLang="en-US" sz="1400">
                  <a:solidFill>
                    <a:srgbClr val="8C2416"/>
                  </a:solidFill>
                </a:endParaRPr>
              </a:p>
            </p:txBody>
          </p:sp>
          <p:sp>
            <p:nvSpPr>
              <p:cNvPr id="87" name="Caixa de Texto 86"/>
              <p:cNvSpPr txBox="1"/>
              <p:nvPr/>
            </p:nvSpPr>
            <p:spPr>
              <a:xfrm>
                <a:off x="13173" y="2953"/>
                <a:ext cx="4529" cy="549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1600" b="1">
                    <a:solidFill>
                      <a:srgbClr val="8C2416"/>
                    </a:solidFill>
                  </a:rPr>
                  <a:t>Catálogo de dados no site</a:t>
                </a:r>
                <a:endParaRPr lang="en-US" altLang="en-US" sz="1600" b="1">
                  <a:solidFill>
                    <a:srgbClr val="8C2416"/>
                  </a:solidFill>
                </a:endParaRPr>
              </a:p>
            </p:txBody>
          </p:sp>
        </p:grpSp>
      </p:grpSp>
      <p:sp>
        <p:nvSpPr>
          <p:cNvPr id="3" name="Caixa de Texto 2"/>
          <p:cNvSpPr txBox="1"/>
          <p:nvPr/>
        </p:nvSpPr>
        <p:spPr>
          <a:xfrm>
            <a:off x="265430" y="107823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Camadas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5" name="Caixa de Texto 14"/>
          <p:cNvSpPr txBox="1"/>
          <p:nvPr/>
        </p:nvSpPr>
        <p:spPr>
          <a:xfrm>
            <a:off x="593725" y="3757295"/>
            <a:ext cx="1940560" cy="2609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pt-BR" sz="1100" i="1">
                <a:solidFill>
                  <a:schemeClr val="bg1"/>
                </a:solidFill>
              </a:rPr>
              <a:t>Metadados</a:t>
            </a:r>
            <a:endParaRPr lang="en-US" altLang="pt-BR" sz="1100" i="1">
              <a:solidFill>
                <a:schemeClr val="bg1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5342255" y="3757295"/>
            <a:ext cx="1953260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265430" y="107823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Ecossistema de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grpSp>
        <p:nvGrpSpPr>
          <p:cNvPr id="42" name="Grupo 41"/>
          <p:cNvGrpSpPr/>
          <p:nvPr/>
        </p:nvGrpSpPr>
        <p:grpSpPr>
          <a:xfrm>
            <a:off x="325755" y="1611630"/>
            <a:ext cx="4662170" cy="5143500"/>
            <a:chOff x="513" y="2538"/>
            <a:chExt cx="7342" cy="8100"/>
          </a:xfrm>
        </p:grpSpPr>
        <p:pic>
          <p:nvPicPr>
            <p:cNvPr id="16" name="Picture 19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6F6F6">
                    <a:alpha val="100000"/>
                  </a:srgbClr>
                </a:clrFrom>
                <a:clrTo>
                  <a:srgbClr val="F6F6F6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13" y="3232"/>
              <a:ext cx="7342" cy="7406"/>
            </a:xfrm>
            <a:prstGeom prst="rect">
              <a:avLst/>
            </a:prstGeom>
          </p:spPr>
        </p:pic>
        <p:sp>
          <p:nvSpPr>
            <p:cNvPr id="39" name="TextBox 1"/>
            <p:cNvSpPr txBox="1"/>
            <p:nvPr/>
          </p:nvSpPr>
          <p:spPr>
            <a:xfrm>
              <a:off x="569" y="2538"/>
              <a:ext cx="72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b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178 </a:t>
              </a:r>
              <a:r>
                <a:rPr lang="en-US" altLang="en-US" b="1" i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datasets </a:t>
              </a:r>
              <a:r>
                <a:rPr lang="en-US" altLang="en-US" b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cadastrados</a:t>
              </a:r>
              <a:endParaRPr lang="en-US" altLang="en-US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6022975" y="523240"/>
            <a:ext cx="5821680" cy="6228080"/>
            <a:chOff x="9485" y="824"/>
            <a:chExt cx="9168" cy="9808"/>
          </a:xfrm>
        </p:grpSpPr>
        <p:sp>
          <p:nvSpPr>
            <p:cNvPr id="40" name="Rectangle: Rounded Corners 13"/>
            <p:cNvSpPr/>
            <p:nvPr/>
          </p:nvSpPr>
          <p:spPr>
            <a:xfrm>
              <a:off x="9485" y="1512"/>
              <a:ext cx="9168" cy="9120"/>
            </a:xfrm>
            <a:prstGeom prst="roundRect">
              <a:avLst/>
            </a:prstGeom>
            <a:solidFill>
              <a:srgbClr val="FFCE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altLang="en-US" sz="15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indent="0" algn="ctr">
                <a:buFont typeface="Arial" panose="020B0604020202020204" pitchFamily="34" charset="0"/>
                <a:buNone/>
              </a:pPr>
              <a:r>
                <a:rPr lang="en-US" altLang="en-US" sz="1500" b="1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Inclusão de novos dados a partir do lançamento</a:t>
              </a:r>
              <a:endParaRPr lang="en-US" altLang="en-US" sz="15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CNES Estabelecimentos de Saúde Georreferenciados - a partir de 2025 </a:t>
              </a: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(CNES/DATASUS/MS)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;</a:t>
              </a: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l"/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Municípios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segundo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Macrorregiões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e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Regiões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Saúde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do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Brasil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- 2025 </a:t>
              </a: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(Ministério da Saúde)</a:t>
              </a: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Macrorregiões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Saúde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do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Brasil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(Shapefile) -</a:t>
              </a: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2025</a:t>
              </a:r>
              <a:endParaRPr lang="en-US" alt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Regiões 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de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Saúde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 do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Brasil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+mn-ea"/>
                </a:rPr>
                <a:t> (Shapefile) - 2025 </a:t>
              </a: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Políticas Públicas no Brasil (IPEA);</a:t>
              </a:r>
              <a:endParaRPr lang="en-US" alt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Í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ndice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de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Segregação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Residencial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por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Raça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e Renda </a:t>
              </a: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(Cidacs/Fiocruz-BA)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;</a:t>
              </a: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Índice Padronizado de Precipitação e Evapotranspiração - SPEI </a:t>
              </a: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(CPTEC/INPE; Cidacs-Clima/Fiocruz-BA);</a:t>
              </a: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5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Desastres</a:t>
              </a:r>
              <a:r>
                <a:rPr 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 naturais no Brasil - 1991 a 2023 </a:t>
              </a:r>
              <a:r>
                <a:rPr lang="en-US" altLang="en-US" sz="15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(Centro de Estudos e Pesquisas em Engenharia e Defesa Civil - CEPED; Secretaria Nacional de Proteção e Defesa Civil – SEDEC);</a:t>
              </a:r>
              <a:endParaRPr lang="en-US" altLang="en-US" sz="15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altLang="en-US" sz="1500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1" name="TextBox 1"/>
            <p:cNvSpPr txBox="1"/>
            <p:nvPr/>
          </p:nvSpPr>
          <p:spPr>
            <a:xfrm>
              <a:off x="10315" y="824"/>
              <a:ext cx="72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b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Atualizações constantes</a:t>
              </a:r>
              <a:endParaRPr lang="en-US" altLang="en-US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5" name="Caixa de Texto 14"/>
          <p:cNvSpPr txBox="1"/>
          <p:nvPr/>
        </p:nvSpPr>
        <p:spPr>
          <a:xfrm>
            <a:off x="593725" y="3757295"/>
            <a:ext cx="1940560" cy="2609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pt-BR" sz="1100" i="1">
                <a:solidFill>
                  <a:schemeClr val="bg1"/>
                </a:solidFill>
              </a:rPr>
              <a:t>Metadados</a:t>
            </a:r>
            <a:endParaRPr lang="en-US" altLang="pt-BR" sz="1100" i="1">
              <a:solidFill>
                <a:schemeClr val="bg1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5342255" y="3757295"/>
            <a:ext cx="1953260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265430" y="107823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Ecossistema de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sp>
        <p:nvSpPr>
          <p:cNvPr id="33" name="Caixa de Texto 32"/>
          <p:cNvSpPr txBox="1"/>
          <p:nvPr/>
        </p:nvSpPr>
        <p:spPr>
          <a:xfrm>
            <a:off x="8790888" y="5903560"/>
            <a:ext cx="2397615" cy="3065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US" sz="1400">
                <a:solidFill>
                  <a:srgbClr val="8C2416"/>
                </a:solidFill>
              </a:rPr>
              <a:t>https://pdd.cidacs.org/</a:t>
            </a:r>
            <a:endParaRPr lang="en-US" altLang="en-US" sz="1400">
              <a:solidFill>
                <a:srgbClr val="8C2416"/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6012180" y="459740"/>
            <a:ext cx="5913120" cy="6327140"/>
            <a:chOff x="9468" y="724"/>
            <a:chExt cx="9312" cy="9964"/>
          </a:xfrm>
        </p:grpSpPr>
        <p:sp>
          <p:nvSpPr>
            <p:cNvPr id="34" name="Caixa de Texto 33"/>
            <p:cNvSpPr txBox="1"/>
            <p:nvPr/>
          </p:nvSpPr>
          <p:spPr>
            <a:xfrm>
              <a:off x="10826" y="724"/>
              <a:ext cx="7234" cy="5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en-US" sz="1600" b="1">
                  <a:solidFill>
                    <a:srgbClr val="8C2416"/>
                  </a:solidFill>
                </a:rPr>
                <a:t>Catálogo de metadados no Dataverse</a:t>
              </a:r>
              <a:endParaRPr lang="en-US" altLang="en-US" sz="1600" b="1">
                <a:solidFill>
                  <a:srgbClr val="8C2416"/>
                </a:solidFill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9468" y="724"/>
              <a:ext cx="9312" cy="9964"/>
              <a:chOff x="9468" y="350"/>
              <a:chExt cx="9312" cy="9964"/>
            </a:xfrm>
          </p:grpSpPr>
          <p:sp>
            <p:nvSpPr>
              <p:cNvPr id="32" name="Retângulo 31"/>
              <p:cNvSpPr/>
              <p:nvPr/>
            </p:nvSpPr>
            <p:spPr>
              <a:xfrm>
                <a:off x="9468" y="350"/>
                <a:ext cx="9313" cy="9965"/>
              </a:xfrm>
              <a:prstGeom prst="rect">
                <a:avLst/>
              </a:prstGeom>
              <a:noFill/>
              <a:ln w="19050">
                <a:solidFill>
                  <a:srgbClr val="F7A521"/>
                </a:solidFill>
                <a:prstDash val="dash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pt-BR" altLang="en-US"/>
              </a:p>
            </p:txBody>
          </p:sp>
          <p:grpSp>
            <p:nvGrpSpPr>
              <p:cNvPr id="37" name="Grupo 36"/>
              <p:cNvGrpSpPr/>
              <p:nvPr/>
            </p:nvGrpSpPr>
            <p:grpSpPr>
              <a:xfrm>
                <a:off x="9545" y="1001"/>
                <a:ext cx="9170" cy="8779"/>
                <a:chOff x="9558" y="1494"/>
                <a:chExt cx="9216" cy="8797"/>
              </a:xfrm>
            </p:grpSpPr>
            <p:pic>
              <p:nvPicPr>
                <p:cNvPr id="23" name="Picture 5"/>
                <p:cNvPicPr>
                  <a:picLocks noChangeAspect="1"/>
                </p:cNvPicPr>
                <p:nvPr/>
              </p:nvPicPr>
              <p:blipFill>
                <a:blip r:embed="rId3"/>
                <a:srcRect l="23900" t="14867" r="24300"/>
                <a:stretch>
                  <a:fillRect/>
                </a:stretch>
              </p:blipFill>
              <p:spPr>
                <a:xfrm>
                  <a:off x="9655" y="2423"/>
                  <a:ext cx="9010" cy="7868"/>
                </a:xfrm>
                <a:prstGeom prst="rect">
                  <a:avLst/>
                </a:prstGeom>
              </p:spPr>
            </p:pic>
            <p:pic>
              <p:nvPicPr>
                <p:cNvPr id="35" name="Picture 4"/>
                <p:cNvPicPr>
                  <a:picLocks noChangeAspect="1"/>
                </p:cNvPicPr>
                <p:nvPr/>
              </p:nvPicPr>
              <p:blipFill>
                <a:blip r:embed="rId4"/>
                <a:srcRect l="29621" t="11033" r="31713" b="78380"/>
                <a:stretch>
                  <a:fillRect/>
                </a:stretch>
              </p:blipFill>
              <p:spPr>
                <a:xfrm>
                  <a:off x="9558" y="1494"/>
                  <a:ext cx="9216" cy="929"/>
                </a:xfrm>
                <a:prstGeom prst="rect">
                  <a:avLst/>
                </a:prstGeom>
              </p:spPr>
            </p:pic>
          </p:grpSp>
          <p:sp>
            <p:nvSpPr>
              <p:cNvPr id="38" name="Caixa de Texto 37"/>
              <p:cNvSpPr txBox="1"/>
              <p:nvPr/>
            </p:nvSpPr>
            <p:spPr>
              <a:xfrm>
                <a:off x="10988" y="9780"/>
                <a:ext cx="6909" cy="48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1400">
                    <a:solidFill>
                      <a:srgbClr val="8C2416"/>
                    </a:solidFill>
                  </a:rPr>
                  <a:t>https://dataverse.cidacs.org/dataverse/PDDCidacs</a:t>
                </a:r>
                <a:endParaRPr lang="en-US" altLang="en-US" sz="1400">
                  <a:solidFill>
                    <a:srgbClr val="8C2416"/>
                  </a:solidFill>
                </a:endParaRPr>
              </a:p>
            </p:txBody>
          </p:sp>
        </p:grpSp>
      </p:grpSp>
      <p:grpSp>
        <p:nvGrpSpPr>
          <p:cNvPr id="42" name="Grupo 41"/>
          <p:cNvGrpSpPr/>
          <p:nvPr/>
        </p:nvGrpSpPr>
        <p:grpSpPr>
          <a:xfrm>
            <a:off x="325755" y="1611630"/>
            <a:ext cx="4662170" cy="5143500"/>
            <a:chOff x="513" y="2538"/>
            <a:chExt cx="7342" cy="8100"/>
          </a:xfrm>
        </p:grpSpPr>
        <p:pic>
          <p:nvPicPr>
            <p:cNvPr id="4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3" y="3232"/>
              <a:ext cx="7342" cy="7406"/>
            </a:xfrm>
            <a:prstGeom prst="rect">
              <a:avLst/>
            </a:prstGeom>
          </p:spPr>
        </p:pic>
        <p:sp>
          <p:nvSpPr>
            <p:cNvPr id="39" name="TextBox 1"/>
            <p:cNvSpPr txBox="1"/>
            <p:nvPr/>
          </p:nvSpPr>
          <p:spPr>
            <a:xfrm>
              <a:off x="569" y="2538"/>
              <a:ext cx="72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b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178 </a:t>
              </a:r>
              <a:r>
                <a:rPr lang="en-US" altLang="en-US" b="1" i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datasets </a:t>
              </a:r>
              <a:r>
                <a:rPr lang="en-US" altLang="en-US" b="1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cadastrados</a:t>
              </a:r>
              <a:endParaRPr lang="en-US" altLang="en-US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m 49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5" name="Caixa de Texto 14"/>
          <p:cNvSpPr txBox="1"/>
          <p:nvPr/>
        </p:nvSpPr>
        <p:spPr>
          <a:xfrm>
            <a:off x="593725" y="3757295"/>
            <a:ext cx="1940560" cy="2609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pt-BR" sz="1100" i="1">
                <a:solidFill>
                  <a:schemeClr val="bg1"/>
                </a:solidFill>
              </a:rPr>
              <a:t>Metadados</a:t>
            </a:r>
            <a:endParaRPr lang="en-US" altLang="pt-BR" sz="1100" i="1">
              <a:solidFill>
                <a:schemeClr val="bg1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5342255" y="3757295"/>
            <a:ext cx="1953260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265430" y="107823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Ecossistema de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096690" y="2445875"/>
            <a:ext cx="5669280" cy="954405"/>
            <a:chOff x="1854097" y="2042916"/>
            <a:chExt cx="5669280" cy="954405"/>
          </a:xfrm>
        </p:grpSpPr>
        <p:pic>
          <p:nvPicPr>
            <p:cNvPr id="7" name="Imagem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4097" y="2364226"/>
              <a:ext cx="2433320" cy="633095"/>
            </a:xfrm>
            <a:prstGeom prst="rect">
              <a:avLst/>
            </a:prstGeom>
          </p:spPr>
        </p:pic>
        <p:pic>
          <p:nvPicPr>
            <p:cNvPr id="8" name="Picture 2" descr="Logotipo, nome da empresa&#10;&#10;Descrição gerada automaticament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9553" r="20003" b="39046"/>
            <a:stretch>
              <a:fillRect/>
            </a:stretch>
          </p:blipFill>
          <p:spPr bwMode="auto">
            <a:xfrm>
              <a:off x="5164987" y="2042916"/>
              <a:ext cx="2358390" cy="954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Plus Sign 4"/>
            <p:cNvSpPr/>
            <p:nvPr/>
          </p:nvSpPr>
          <p:spPr>
            <a:xfrm>
              <a:off x="4365502" y="2369030"/>
              <a:ext cx="589936" cy="621422"/>
            </a:xfrm>
            <a:prstGeom prst="mathPlus">
              <a:avLst/>
            </a:prstGeom>
            <a:solidFill>
              <a:srgbClr val="6C1B10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53400" y="-14605"/>
            <a:ext cx="3877310" cy="2807335"/>
            <a:chOff x="1190609" y="530335"/>
            <a:chExt cx="6608639" cy="4441162"/>
          </a:xfrm>
        </p:grpSpPr>
        <p:grpSp>
          <p:nvGrpSpPr>
            <p:cNvPr id="13" name="Group 12"/>
            <p:cNvGrpSpPr/>
            <p:nvPr/>
          </p:nvGrpSpPr>
          <p:grpSpPr>
            <a:xfrm>
              <a:off x="1190609" y="530335"/>
              <a:ext cx="6608639" cy="4441162"/>
              <a:chOff x="1190609" y="530335"/>
              <a:chExt cx="6608639" cy="4441162"/>
            </a:xfrm>
          </p:grpSpPr>
          <p:sp>
            <p:nvSpPr>
              <p:cNvPr id="14" name="Elipse 4"/>
              <p:cNvSpPr/>
              <p:nvPr/>
            </p:nvSpPr>
            <p:spPr>
              <a:xfrm>
                <a:off x="2618201" y="1572853"/>
                <a:ext cx="2970243" cy="2752930"/>
              </a:xfrm>
              <a:prstGeom prst="ellipse">
                <a:avLst/>
              </a:prstGeom>
              <a:noFill/>
              <a:ln w="63500" cap="flat" cmpd="dbl" algn="ctr">
                <a:solidFill>
                  <a:srgbClr val="4F81BD">
                    <a:shade val="15000"/>
                  </a:srgbClr>
                </a:solidFill>
                <a:prstDash val="lgDash"/>
              </a:ln>
              <a:effectLst/>
            </p:spPr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865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lang="pt-BR" sz="186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19" name="Imagem 6" descr="Diagrama&#10;&#10;Descrição gerada automaticament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2532" y="2489471"/>
                <a:ext cx="1019856" cy="1080000"/>
              </a:xfrm>
              <a:prstGeom prst="ellipse">
                <a:avLst/>
              </a:prstGeom>
              <a:ln w="63500" cap="rnd">
                <a:noFill/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20" name="Imagem 11" descr="Uma imagem contendo ventilador, gaiola&#10;&#10;Descrição gerada automaticamente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6540" y="2166401"/>
                <a:ext cx="1516995" cy="1080000"/>
              </a:xfrm>
              <a:prstGeom prst="rect">
                <a:avLst/>
              </a:prstGeom>
            </p:spPr>
          </p:pic>
          <p:pic>
            <p:nvPicPr>
              <p:cNvPr id="21" name="Imagem 13" descr="Logotipo&#10;&#10;Descrição gerada automaticamente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1216" y="2138471"/>
                <a:ext cx="900000" cy="516177"/>
              </a:xfrm>
              <a:prstGeom prst="ellipse">
                <a:avLst/>
              </a:prstGeom>
              <a:ln w="63500" cap="rnd">
                <a:noFill/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22" name="Imagem 17" descr="Uma imagem contendo Texto&#10;&#10;Descrição gerada automaticamente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0609" y="2783753"/>
                <a:ext cx="900000" cy="532895"/>
              </a:xfrm>
              <a:prstGeom prst="rect">
                <a:avLst/>
              </a:prstGeom>
            </p:spPr>
          </p:pic>
          <p:pic>
            <p:nvPicPr>
              <p:cNvPr id="16" name="Imagem 19" descr="Logotipo, nome da empresa&#10;&#10;Descrição gerada automaticamente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32460" y="3626296"/>
                <a:ext cx="900000" cy="819971"/>
              </a:xfrm>
              <a:prstGeom prst="rect">
                <a:avLst/>
              </a:prstGeom>
            </p:spPr>
          </p:pic>
          <p:pic>
            <p:nvPicPr>
              <p:cNvPr id="24" name="Imagem 21" descr="Texto, Ícone&#10;&#10;Descrição gerada automaticamente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4358" y="3418520"/>
                <a:ext cx="900000" cy="174584"/>
              </a:xfrm>
              <a:prstGeom prst="rect">
                <a:avLst/>
              </a:prstGeom>
            </p:spPr>
          </p:pic>
          <p:pic>
            <p:nvPicPr>
              <p:cNvPr id="25" name="Gráfico 23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72000" y="4386467"/>
                <a:ext cx="900000" cy="399375"/>
              </a:xfrm>
              <a:prstGeom prst="rect">
                <a:avLst/>
              </a:prstGeom>
            </p:spPr>
          </p:pic>
          <p:pic>
            <p:nvPicPr>
              <p:cNvPr id="26" name="Imagem 27" descr="Texto&#10;&#10;Descrição gerada automaticamente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65314" y="604361"/>
                <a:ext cx="1533598" cy="360000"/>
              </a:xfrm>
              <a:prstGeom prst="rect">
                <a:avLst/>
              </a:prstGeom>
            </p:spPr>
          </p:pic>
          <p:pic>
            <p:nvPicPr>
              <p:cNvPr id="27" name="Imagem 29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6087" y="3891497"/>
                <a:ext cx="341270" cy="1080000"/>
              </a:xfrm>
              <a:prstGeom prst="rect">
                <a:avLst/>
              </a:prstGeom>
            </p:spPr>
          </p:pic>
          <p:pic>
            <p:nvPicPr>
              <p:cNvPr id="28" name="Imagem 31" descr="Logotipo&#10;&#10;Descrição gerada automaticamente"/>
              <p:cNvPicPr>
                <a:picLocks noChangeAspect="1"/>
              </p:cNvPicPr>
              <p:nvPr/>
            </p:nvPicPr>
            <p:blipFill>
              <a:blip r:embed="rId13"/>
              <a:srcRect t="29633" b="31699"/>
              <a:stretch>
                <a:fillRect/>
              </a:stretch>
            </p:blipFill>
            <p:spPr>
              <a:xfrm>
                <a:off x="6592581" y="2051554"/>
                <a:ext cx="900000" cy="348020"/>
              </a:xfrm>
              <a:prstGeom prst="rect">
                <a:avLst/>
              </a:prstGeom>
            </p:spPr>
          </p:pic>
          <p:pic>
            <p:nvPicPr>
              <p:cNvPr id="29" name="Imagem 35" descr="Desenho de personagem de desenho animado&#10;&#10;Descrição gerada automaticamente com confiança média"/>
              <p:cNvPicPr>
                <a:picLocks noChangeAspect="1"/>
              </p:cNvPicPr>
              <p:nvPr/>
            </p:nvPicPr>
            <p:blipFill>
              <a:blip r:embed="rId14"/>
              <a:srcRect b="58762"/>
              <a:stretch>
                <a:fillRect/>
              </a:stretch>
            </p:blipFill>
            <p:spPr>
              <a:xfrm>
                <a:off x="6887657" y="2554411"/>
                <a:ext cx="911591" cy="519602"/>
              </a:xfrm>
              <a:prstGeom prst="rect">
                <a:avLst/>
              </a:prstGeom>
            </p:spPr>
          </p:pic>
          <p:pic>
            <p:nvPicPr>
              <p:cNvPr id="30" name="Imagem 37" descr="Uma imagem contendo Ícone&#10;&#10;Descrição gerada automaticamente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18201" y="1275671"/>
                <a:ext cx="726226" cy="720000"/>
              </a:xfrm>
              <a:prstGeom prst="rect">
                <a:avLst/>
              </a:prstGeom>
            </p:spPr>
          </p:pic>
          <p:pic>
            <p:nvPicPr>
              <p:cNvPr id="31" name="Imagem 38" descr="Desenho de personagem de desenho animado&#10;&#10;Descrição gerada automaticamente com confiança média"/>
              <p:cNvPicPr>
                <a:picLocks noChangeAspect="1"/>
              </p:cNvPicPr>
              <p:nvPr/>
            </p:nvPicPr>
            <p:blipFill>
              <a:blip r:embed="rId14"/>
              <a:srcRect t="41474"/>
              <a:stretch>
                <a:fillRect/>
              </a:stretch>
            </p:blipFill>
            <p:spPr>
              <a:xfrm>
                <a:off x="2955041" y="530335"/>
                <a:ext cx="890051" cy="720000"/>
              </a:xfrm>
              <a:prstGeom prst="rect">
                <a:avLst/>
              </a:prstGeom>
            </p:spPr>
          </p:pic>
          <p:pic>
            <p:nvPicPr>
              <p:cNvPr id="17" name="Gráfico 40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59312" y="862047"/>
                <a:ext cx="860870" cy="720000"/>
              </a:xfrm>
              <a:prstGeom prst="rect">
                <a:avLst/>
              </a:prstGeom>
            </p:spPr>
          </p:pic>
          <p:pic>
            <p:nvPicPr>
              <p:cNvPr id="36" name="Imagem 44" descr="Logotipo&#10;&#10;Descrição gerada automaticamente"/>
              <p:cNvPicPr>
                <a:picLocks noChangeAspect="1"/>
              </p:cNvPicPr>
              <p:nvPr/>
            </p:nvPicPr>
            <p:blipFill>
              <a:blip r:embed="rId17"/>
              <a:srcRect l="26387" t="18353" r="19727" b="23914"/>
              <a:stretch>
                <a:fillRect/>
              </a:stretch>
            </p:blipFill>
            <p:spPr>
              <a:xfrm>
                <a:off x="6525636" y="3097998"/>
                <a:ext cx="950572" cy="720000"/>
              </a:xfrm>
              <a:prstGeom prst="rect">
                <a:avLst/>
              </a:prstGeom>
            </p:spPr>
          </p:pic>
        </p:grpSp>
        <p:grpSp>
          <p:nvGrpSpPr>
            <p:cNvPr id="40" name="Group 13"/>
            <p:cNvGrpSpPr/>
            <p:nvPr/>
          </p:nvGrpSpPr>
          <p:grpSpPr>
            <a:xfrm>
              <a:off x="3328407" y="1103905"/>
              <a:ext cx="1903059" cy="2310079"/>
              <a:chOff x="3328407" y="1103905"/>
              <a:chExt cx="1903059" cy="2310079"/>
            </a:xfrm>
          </p:grpSpPr>
          <p:pic>
            <p:nvPicPr>
              <p:cNvPr id="41" name="Imagem 9" descr="Uma imagem contendo pássaro, em pé, água, tábua&#10;&#10;Descrição gerada automaticamente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11018" y="1103905"/>
                <a:ext cx="962156" cy="1080000"/>
              </a:xfrm>
              <a:prstGeom prst="ellipse">
                <a:avLst/>
              </a:prstGeom>
              <a:ln w="63500" cap="rnd">
                <a:noFill/>
              </a:ln>
              <a:effectLst/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43" name="Picture 16"/>
              <p:cNvPicPr>
                <a:picLocks noChangeAspect="1"/>
              </p:cNvPicPr>
              <p:nvPr/>
            </p:nvPicPr>
            <p:blipFill>
              <a:blip r:embed="rId19"/>
              <a:srcRect l="5377" t="18433"/>
              <a:stretch>
                <a:fillRect/>
              </a:stretch>
            </p:blipFill>
            <p:spPr>
              <a:xfrm>
                <a:off x="3328407" y="2489471"/>
                <a:ext cx="1903059" cy="924513"/>
              </a:xfrm>
              <a:prstGeom prst="rect">
                <a:avLst/>
              </a:prstGeom>
            </p:spPr>
          </p:pic>
        </p:grpSp>
      </p:grpSp>
      <p:sp>
        <p:nvSpPr>
          <p:cNvPr id="45" name="TextBox 6"/>
          <p:cNvSpPr txBox="1"/>
          <p:nvPr/>
        </p:nvSpPr>
        <p:spPr>
          <a:xfrm>
            <a:off x="217805" y="1678305"/>
            <a:ext cx="48577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sz="1600" dirty="0"/>
              <a:t>A </a:t>
            </a:r>
            <a:r>
              <a:rPr lang="en-US" sz="1600" b="1" dirty="0"/>
              <a:t>Plataforma de Dados </a:t>
            </a:r>
            <a:r>
              <a:rPr lang="en-US" sz="1600" b="1" dirty="0" err="1"/>
              <a:t>Desidentificados</a:t>
            </a:r>
            <a:r>
              <a:rPr lang="en-US" sz="1600" dirty="0" err="1"/>
              <a:t> disponibiliza</a:t>
            </a:r>
            <a:r>
              <a:rPr lang="en-US" sz="1600" dirty="0"/>
              <a:t> dados </a:t>
            </a:r>
            <a:r>
              <a:rPr lang="en-US" sz="1600" dirty="0" err="1"/>
              <a:t>demográficos</a:t>
            </a:r>
            <a:r>
              <a:rPr lang="en-US" sz="1600" dirty="0"/>
              <a:t>, </a:t>
            </a:r>
            <a:r>
              <a:rPr lang="en-US" sz="1600" dirty="0" err="1"/>
              <a:t>socioeconômicos</a:t>
            </a:r>
            <a:r>
              <a:rPr lang="en-US" sz="1600" dirty="0"/>
              <a:t>, </a:t>
            </a:r>
            <a:r>
              <a:rPr lang="en-US" sz="1600" dirty="0" err="1"/>
              <a:t>infraestrutura</a:t>
            </a:r>
            <a:r>
              <a:rPr lang="en-US" sz="1600" dirty="0"/>
              <a:t> de </a:t>
            </a:r>
            <a:r>
              <a:rPr lang="en-US" sz="1600" dirty="0" err="1"/>
              <a:t>serviços</a:t>
            </a:r>
            <a:r>
              <a:rPr lang="en-US" sz="1600" dirty="0"/>
              <a:t>, </a:t>
            </a:r>
            <a:r>
              <a:rPr lang="en-US" sz="1600" dirty="0" err="1"/>
              <a:t>saúde</a:t>
            </a:r>
            <a:r>
              <a:rPr lang="en-US" sz="1600" dirty="0"/>
              <a:t>, que </a:t>
            </a:r>
            <a:r>
              <a:rPr lang="en-US" sz="1600" dirty="0" err="1"/>
              <a:t>articulados</a:t>
            </a:r>
            <a:r>
              <a:rPr lang="en-US" sz="1600" dirty="0"/>
              <a:t> com </a:t>
            </a:r>
            <a:r>
              <a:rPr lang="en-US" sz="1600" dirty="0" err="1"/>
              <a:t>os</a:t>
            </a:r>
            <a:r>
              <a:rPr lang="en-US" sz="1600" dirty="0"/>
              <a:t> dados </a:t>
            </a:r>
            <a:r>
              <a:rPr lang="en-US" sz="1600" dirty="0" err="1"/>
              <a:t>climáticos</a:t>
            </a:r>
            <a:r>
              <a:rPr lang="en-US" sz="1600" dirty="0"/>
              <a:t> e de </a:t>
            </a:r>
            <a:r>
              <a:rPr lang="en-US" sz="1600" dirty="0" err="1"/>
              <a:t>ambiente</a:t>
            </a:r>
            <a:r>
              <a:rPr lang="en-US" sz="1600" dirty="0"/>
              <a:t> da </a:t>
            </a:r>
            <a:r>
              <a:rPr lang="en-US" sz="1600" b="1" dirty="0"/>
              <a:t>Plataforma </a:t>
            </a:r>
            <a:r>
              <a:rPr lang="en-US" sz="1600" b="1" dirty="0" err="1"/>
              <a:t>Clima</a:t>
            </a:r>
            <a:r>
              <a:rPr lang="en-US" sz="1600" b="1" dirty="0"/>
              <a:t> </a:t>
            </a:r>
            <a:r>
              <a:rPr lang="en-US" sz="1600" dirty="0" err="1"/>
              <a:t>irão</a:t>
            </a:r>
            <a:r>
              <a:rPr lang="en-US" sz="1600" dirty="0"/>
              <a:t> </a:t>
            </a:r>
            <a:r>
              <a:rPr lang="en-US" sz="1600" dirty="0" err="1"/>
              <a:t>potencializar</a:t>
            </a:r>
            <a:r>
              <a:rPr lang="en-US" sz="1600" dirty="0"/>
              <a:t> a </a:t>
            </a:r>
            <a:r>
              <a:rPr lang="en-US" sz="1600" dirty="0" err="1"/>
              <a:t>produção</a:t>
            </a:r>
            <a:r>
              <a:rPr lang="en-US" sz="1600" dirty="0"/>
              <a:t> de </a:t>
            </a:r>
            <a:r>
              <a:rPr lang="en-US" sz="1600" dirty="0" err="1"/>
              <a:t>evidências</a:t>
            </a:r>
            <a:r>
              <a:rPr lang="en-US" sz="1600" dirty="0"/>
              <a:t> </a:t>
            </a:r>
            <a:r>
              <a:rPr lang="en-US" sz="1600" dirty="0" err="1"/>
              <a:t>rápidas</a:t>
            </a:r>
            <a:r>
              <a:rPr lang="en-US" sz="1600" dirty="0"/>
              <a:t> e </a:t>
            </a:r>
            <a:r>
              <a:rPr lang="en-US" sz="1600" dirty="0" err="1"/>
              <a:t>oportunas</a:t>
            </a:r>
            <a:r>
              <a:rPr lang="en-US" sz="1600" dirty="0"/>
              <a:t> </a:t>
            </a:r>
            <a:r>
              <a:rPr lang="en-US" sz="1600" dirty="0" err="1"/>
              <a:t>sobre</a:t>
            </a:r>
            <a:r>
              <a:rPr lang="en-US" sz="1600" dirty="0"/>
              <a:t> </a:t>
            </a:r>
            <a:r>
              <a:rPr lang="en-US" sz="1600" dirty="0" err="1"/>
              <a:t>padrões</a:t>
            </a:r>
            <a:r>
              <a:rPr lang="en-US" sz="1600" dirty="0"/>
              <a:t> </a:t>
            </a:r>
            <a:r>
              <a:rPr lang="en-US" sz="1600" dirty="0" err="1"/>
              <a:t>climáticos</a:t>
            </a:r>
            <a:r>
              <a:rPr lang="en-US" sz="1600" dirty="0"/>
              <a:t> e </a:t>
            </a:r>
            <a:r>
              <a:rPr lang="en-US" sz="1600" dirty="0" err="1"/>
              <a:t>seus</a:t>
            </a:r>
            <a:r>
              <a:rPr lang="en-US" sz="1600" dirty="0"/>
              <a:t> </a:t>
            </a:r>
            <a:r>
              <a:rPr lang="en-US" sz="1600" dirty="0" err="1"/>
              <a:t>efeitos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saúde</a:t>
            </a:r>
            <a:r>
              <a:rPr lang="en-US" sz="1600" dirty="0"/>
              <a:t>. </a:t>
            </a:r>
            <a:endParaRPr lang="en-US" sz="1600" dirty="0"/>
          </a:p>
        </p:txBody>
      </p:sp>
      <p:sp>
        <p:nvSpPr>
          <p:cNvPr id="48" name="Chave esquerda 47"/>
          <p:cNvSpPr/>
          <p:nvPr/>
        </p:nvSpPr>
        <p:spPr>
          <a:xfrm>
            <a:off x="5075555" y="1012190"/>
            <a:ext cx="491490" cy="269367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pt-BR" altLang="en-US"/>
          </a:p>
        </p:txBody>
      </p:sp>
      <p:graphicFrame>
        <p:nvGraphicFramePr>
          <p:cNvPr id="49" name="Tabela 48"/>
          <p:cNvGraphicFramePr/>
          <p:nvPr/>
        </p:nvGraphicFramePr>
        <p:xfrm>
          <a:off x="217170" y="3838575"/>
          <a:ext cx="11896090" cy="298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1475"/>
                <a:gridCol w="864235"/>
                <a:gridCol w="906145"/>
                <a:gridCol w="506095"/>
                <a:gridCol w="4712970"/>
                <a:gridCol w="1995170"/>
              </a:tblGrid>
              <a:tr h="195580">
                <a:tc grid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Calibri" charset="0"/>
                        </a:rPr>
                        <a:t>C</a:t>
                      </a:r>
                      <a:r>
                        <a:rPr lang="en-US" altLang="en-US" sz="1200" b="1">
                          <a:solidFill>
                            <a:schemeClr val="tx1"/>
                          </a:solidFill>
                          <a:latin typeface="Calibri" charset="0"/>
                        </a:rPr>
                        <a:t>atálogo de dados ambientais e climáticos</a:t>
                      </a:r>
                      <a:endParaRPr lang="en-US" altLang="en-US" sz="1200" b="1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Dataset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Área geográfica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Periodicidade dos dados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Período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Fonte dos dados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Metadados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charset="0"/>
                        </a:rPr>
                        <a:t>(Dataverse)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D973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Temperatura (média, minima e máxima)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Município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Diária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2000 a 2023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Cidacs-Clima;ERAS-LAND; European Centre for Medium-Range Wether Forescast (ECWMF)</a:t>
                      </a:r>
                      <a:endParaRPr lang="en-US" altLang="en-US" sz="10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libri" charset="0"/>
                          <a:hlinkClick r:id="rId20"/>
                        </a:rPr>
                        <a:t>https://doi.org/10.57833/cidacs/7W9THG</a:t>
                      </a:r>
                      <a:endParaRPr lang="en-US" altLang="en-US" sz="1000" b="0">
                        <a:solidFill>
                          <a:srgbClr val="0000FF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 charset="0"/>
                        <a:hlinkClick r:id="rId2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Umidade relativa do ar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Município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Diária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2000 a 2023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Cidacs-Clima;ERAS-LAND; European Centre for Medium-Range Wether Forescast (ECWMF)</a:t>
                      </a:r>
                      <a:endParaRPr lang="en-US" altLang="en-US" sz="10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libri" charset="0"/>
                          <a:hlinkClick r:id="rId21"/>
                        </a:rPr>
                        <a:t>https://doi.org/10.57833/cidacs/YW7LHB</a:t>
                      </a:r>
                      <a:endParaRPr lang="en-US" altLang="en-US" sz="1000" b="0">
                        <a:solidFill>
                          <a:srgbClr val="0000FF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 charset="0"/>
                        <a:hlinkClick r:id="rId21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Precipitação (chuva)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Município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Diária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2000 a 2024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Cidacs-Clima;Brazilian Daily Weather Gridded Data (BR-DWGD) (1)</a:t>
                      </a:r>
                      <a:endParaRPr lang="en-US" altLang="en-US" sz="10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libri" charset="0"/>
                          <a:hlinkClick r:id="rId22" tooltip="https://doi.org/10.57833/cidacs/X3R5TV"/>
                        </a:rPr>
                        <a:t>https://doi.org/10.57833/cidacs/X3R5TV</a:t>
                      </a:r>
                      <a:endParaRPr lang="en-US" altLang="en-US" sz="1000" b="0">
                        <a:solidFill>
                          <a:srgbClr val="0000FF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 charset="0"/>
                        <a:hlinkClick r:id="rId22" tooltip="https://doi.org/10.57833/cidacs/X3R5TV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Qualidade do ar (material particulado PM2.5)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Município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Mensal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1998 a 2022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Cidacs-Clima; Atmospheric Composition Analysis Group Washington University in Saint Louis (ACAG/WUSTL)</a:t>
                      </a:r>
                      <a:endParaRPr lang="en-US" altLang="en-US" sz="10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libri" charset="0"/>
                          <a:hlinkClick r:id="rId23"/>
                        </a:rPr>
                        <a:t>https://doi.org/10.57833/cidacs/SJT1ZI</a:t>
                      </a:r>
                      <a:endParaRPr lang="en-US" altLang="en-US" sz="1000" b="0">
                        <a:solidFill>
                          <a:srgbClr val="0000FF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 charset="0"/>
                        <a:hlinkClick r:id="rId23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Índice Padronizado de Precipitação e Evapotranspiração - SPEI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Município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Mensal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2000 a 2024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Cidacs-Clima; Centro de Previsão de Tempo e Estudos Climáticos(CPTEC)/Instituto Nacional de Pesquisas Espaciais (INPE)</a:t>
                      </a:r>
                      <a:endParaRPr lang="en-US" altLang="en-US" sz="10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libri" charset="0"/>
                          <a:hlinkClick r:id="rId24"/>
                        </a:rPr>
                        <a:t>https://doi.org/10.57833/cidacs/YYOVDR</a:t>
                      </a:r>
                      <a:endParaRPr lang="en-US" altLang="en-US" sz="1000" b="0">
                        <a:solidFill>
                          <a:srgbClr val="0000FF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 charset="0"/>
                        <a:hlinkClick r:id="rId24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Desastres naturais no Brasil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Município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Data do evento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charset="0"/>
                        </a:rPr>
                        <a:t>1991 a 2023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Centro de Estudos e Pesquisas em Engenharia e Defesa Civil (CEPED); Secretaria Nacional de Proteção e Defesa Civil  (SEDEC)</a:t>
                      </a:r>
                      <a:endParaRPr lang="en-US" altLang="en-US" sz="10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E6A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libri" charset="0"/>
                          <a:hlinkClick r:id="rId25"/>
                        </a:rPr>
                        <a:t>https://doi.org/10.57833/cidacs/I5S5E1</a:t>
                      </a:r>
                      <a:endParaRPr lang="en-US" altLang="en-US" sz="1000" b="0">
                        <a:solidFill>
                          <a:srgbClr val="0000FF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 charset="0"/>
                        <a:hlinkClick r:id="rId25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</a:tr>
              <a:tr h="196215">
                <a:tc grid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 i="1">
                          <a:solidFill>
                            <a:srgbClr val="000000"/>
                          </a:solidFill>
                          <a:latin typeface="Calibri" charset="0"/>
                        </a:rPr>
                        <a:t>(1) Xavier, A.C., Scanlon, B.R.,King C.W. &amp;Alves, A. I.(2022). New improved Brazilian daily weather gridded data (1961-2020), International Journal of Climatology, 42(16), 8390-8404.https://doi.org/10.1002/joc.7731</a:t>
                      </a:r>
                      <a:endParaRPr lang="en-US" altLang="en-US" sz="800" b="0" i="1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0C8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 rot="0">
            <a:off x="126365" y="1673225"/>
            <a:ext cx="1833245" cy="2484755"/>
            <a:chOff x="-744" y="2138"/>
            <a:chExt cx="2058" cy="1998"/>
          </a:xfrm>
        </p:grpSpPr>
        <p:sp>
          <p:nvSpPr>
            <p:cNvPr id="9" name="Retângulo arredondado 8"/>
            <p:cNvSpPr/>
            <p:nvPr/>
          </p:nvSpPr>
          <p:spPr>
            <a:xfrm>
              <a:off x="-744" y="2360"/>
              <a:ext cx="1856" cy="1776"/>
            </a:xfrm>
            <a:prstGeom prst="roundRect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pt-BR" sz="900"/>
            </a:p>
            <a:p>
              <a:pPr algn="l"/>
              <a:r>
                <a:rPr lang="en-US" altLang="pt-BR" sz="1300" b="1"/>
                <a:t>Identificação e avaliação</a:t>
              </a:r>
              <a:r>
                <a:rPr lang="en-US" altLang="pt-BR" sz="1300"/>
                <a:t> de possíveis bases de dados úteis </a:t>
              </a:r>
              <a:r>
                <a:rPr lang="en-US" altLang="en-US" sz="1300"/>
                <a:t>à pesquisa em saúde.</a:t>
              </a:r>
              <a:endParaRPr lang="en-US" altLang="en-US" sz="1300"/>
            </a:p>
          </p:txBody>
        </p:sp>
        <p:sp>
          <p:nvSpPr>
            <p:cNvPr id="10" name="Retângulo arredondado 9"/>
            <p:cNvSpPr/>
            <p:nvPr/>
          </p:nvSpPr>
          <p:spPr>
            <a:xfrm>
              <a:off x="-422" y="2138"/>
              <a:ext cx="1736" cy="368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pt-BR" sz="1600" b="1" dirty="0" err="1">
                  <a:solidFill>
                    <a:schemeClr val="tx1"/>
                  </a:solidFill>
                </a:rPr>
                <a:t>Identificação</a:t>
              </a:r>
              <a:endParaRPr lang="en-US" altLang="pt-BR" sz="1600" b="1" dirty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Grupo 98"/>
          <p:cNvGrpSpPr/>
          <p:nvPr/>
        </p:nvGrpSpPr>
        <p:grpSpPr>
          <a:xfrm>
            <a:off x="1959610" y="1702435"/>
            <a:ext cx="1631315" cy="2454910"/>
            <a:chOff x="3086" y="2681"/>
            <a:chExt cx="2569" cy="3866"/>
          </a:xfrm>
        </p:grpSpPr>
        <p:cxnSp>
          <p:nvCxnSpPr>
            <p:cNvPr id="53" name="Conector de Seta Reta 52"/>
            <p:cNvCxnSpPr/>
            <p:nvPr/>
          </p:nvCxnSpPr>
          <p:spPr>
            <a:xfrm>
              <a:off x="3086" y="2960"/>
              <a:ext cx="42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upo 3"/>
            <p:cNvGrpSpPr/>
            <p:nvPr/>
          </p:nvGrpSpPr>
          <p:grpSpPr>
            <a:xfrm rot="0">
              <a:off x="3107" y="2681"/>
              <a:ext cx="2548" cy="3867"/>
              <a:chOff x="-744" y="2138"/>
              <a:chExt cx="2058" cy="1998"/>
            </a:xfrm>
          </p:grpSpPr>
          <p:sp>
            <p:nvSpPr>
              <p:cNvPr id="6" name="Retângulo arredondado 5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lang="en-US" altLang="pt-BR" sz="1300"/>
              </a:p>
              <a:p>
                <a:pPr algn="l"/>
                <a:r>
                  <a:rPr lang="en-US" altLang="en-US" sz="1300" b="1" dirty="0" err="1">
                    <a:sym typeface="+mn-ea"/>
                  </a:rPr>
                  <a:t>Download </a:t>
                </a:r>
                <a:r>
                  <a:rPr lang="en-US" altLang="en-US" sz="1300" b="1" dirty="0">
                    <a:sym typeface="+mn-ea"/>
                  </a:rPr>
                  <a:t>dos dados</a:t>
                </a:r>
                <a:r>
                  <a:rPr lang="en-US" altLang="en-US" sz="1300" dirty="0">
                    <a:sym typeface="+mn-ea"/>
                  </a:rPr>
                  <a:t> e </a:t>
                </a:r>
                <a:r>
                  <a:rPr lang="en-US" altLang="en-US" sz="1300" dirty="0" err="1">
                    <a:sym typeface="+mn-ea"/>
                  </a:rPr>
                  <a:t>implementação </a:t>
                </a:r>
                <a:r>
                  <a:rPr lang="en-US" altLang="en-US" sz="1300" dirty="0">
                    <a:sym typeface="+mn-ea"/>
                  </a:rPr>
                  <a:t>de </a:t>
                </a:r>
                <a:r>
                  <a:rPr lang="en-US" altLang="en-US" sz="1300" dirty="0" err="1">
                    <a:sym typeface="+mn-ea"/>
                  </a:rPr>
                  <a:t>rotinas</a:t>
                </a:r>
                <a:r>
                  <a:rPr lang="en-US" altLang="en-US" sz="1300" dirty="0">
                    <a:sym typeface="+mn-ea"/>
                  </a:rPr>
                  <a:t> </a:t>
                </a:r>
                <a:r>
                  <a:rPr lang="en-US" altLang="en-US" sz="1300" dirty="0" err="1">
                    <a:sym typeface="+mn-ea"/>
                  </a:rPr>
                  <a:t>automatizadas</a:t>
                </a:r>
                <a:r>
                  <a:rPr lang="en-US" altLang="en-US" sz="1300" dirty="0">
                    <a:sym typeface="+mn-ea"/>
                  </a:rPr>
                  <a:t> de </a:t>
                </a:r>
                <a:r>
                  <a:rPr lang="en-US" altLang="en-US" sz="1300" dirty="0" err="1">
                    <a:sym typeface="+mn-ea"/>
                  </a:rPr>
                  <a:t>atualização.</a:t>
                </a:r>
                <a:r>
                  <a:rPr lang="en-US" altLang="en-US" sz="1400" dirty="0">
                    <a:sym typeface="+mn-ea"/>
                  </a:rPr>
                  <a:t> </a:t>
                </a:r>
                <a:endParaRPr lang="en-US" altLang="en-US" sz="1400" dirty="0">
                  <a:sym typeface="+mn-ea"/>
                </a:endParaRPr>
              </a:p>
            </p:txBody>
          </p:sp>
          <p:sp>
            <p:nvSpPr>
              <p:cNvPr id="7" name="Retângulo arredondado 6"/>
              <p:cNvSpPr/>
              <p:nvPr/>
            </p:nvSpPr>
            <p:spPr>
              <a:xfrm>
                <a:off x="-422" y="2138"/>
                <a:ext cx="1736" cy="355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1600" b="1">
                    <a:solidFill>
                      <a:schemeClr val="tx1"/>
                    </a:solidFill>
                    <a:sym typeface="+mn-ea"/>
                  </a:rPr>
                  <a:t>Obtenção</a:t>
                </a:r>
                <a:endParaRPr lang="en-US" altLang="pt-BR" sz="1600" b="1" dirty="0" err="1">
                  <a:solidFill>
                    <a:schemeClr val="tx1"/>
                  </a:solidFill>
                  <a:sym typeface="+mn-ea"/>
                </a:endParaRPr>
              </a:p>
            </p:txBody>
          </p:sp>
        </p:grpSp>
      </p:grpSp>
      <p:grpSp>
        <p:nvGrpSpPr>
          <p:cNvPr id="100" name="Grupo 99"/>
          <p:cNvGrpSpPr/>
          <p:nvPr/>
        </p:nvGrpSpPr>
        <p:grpSpPr>
          <a:xfrm>
            <a:off x="3599180" y="1681480"/>
            <a:ext cx="1714500" cy="2476500"/>
            <a:chOff x="5668" y="2648"/>
            <a:chExt cx="2700" cy="3900"/>
          </a:xfrm>
        </p:grpSpPr>
        <p:cxnSp>
          <p:nvCxnSpPr>
            <p:cNvPr id="70" name="Conector de Seta Reta 69"/>
            <p:cNvCxnSpPr/>
            <p:nvPr/>
          </p:nvCxnSpPr>
          <p:spPr>
            <a:xfrm>
              <a:off x="5668" y="2995"/>
              <a:ext cx="403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o 16"/>
            <p:cNvGrpSpPr/>
            <p:nvPr/>
          </p:nvGrpSpPr>
          <p:grpSpPr>
            <a:xfrm rot="0">
              <a:off x="5681" y="2648"/>
              <a:ext cx="2687" cy="3900"/>
              <a:chOff x="-711" y="2138"/>
              <a:chExt cx="2025" cy="1998"/>
            </a:xfrm>
          </p:grpSpPr>
          <p:sp>
            <p:nvSpPr>
              <p:cNvPr id="18" name="Retângulo arredondado 17"/>
              <p:cNvSpPr/>
              <p:nvPr/>
            </p:nvSpPr>
            <p:spPr>
              <a:xfrm>
                <a:off x="-711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ym typeface="+mn-ea"/>
                  </a:rPr>
                  <a:t>Pré-processamento </a:t>
                </a:r>
                <a:r>
                  <a:rPr lang="en-US" altLang="en-US" sz="1300" dirty="0" err="1">
                    <a:sym typeface="+mn-ea"/>
                  </a:rPr>
                  <a:t>dos dados antes da ingestão no </a:t>
                </a:r>
                <a:r>
                  <a:rPr lang="en-US" altLang="en-US" sz="1300" i="1" dirty="0" err="1">
                    <a:sym typeface="+mn-ea"/>
                  </a:rPr>
                  <a:t>datalake</a:t>
                </a:r>
                <a:r>
                  <a:rPr lang="en-US" altLang="en-US" sz="1300" dirty="0" err="1">
                    <a:sym typeface="+mn-ea"/>
                  </a:rPr>
                  <a:t>.</a:t>
                </a:r>
                <a:endParaRPr lang="en-US" altLang="en-US" sz="1300"/>
              </a:p>
            </p:txBody>
          </p:sp>
          <p:sp>
            <p:nvSpPr>
              <p:cNvPr id="19" name="Retângulo arredondado 18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tx1"/>
                    </a:solidFill>
                    <a:sym typeface="+mn-ea"/>
                  </a:rPr>
                  <a:t>Preparação</a:t>
                </a:r>
                <a:endParaRPr lang="en-US" altLang="en-US" sz="1600" b="1" dirty="0" err="1">
                  <a:solidFill>
                    <a:schemeClr val="tx1"/>
                  </a:solidFill>
                  <a:sym typeface="+mn-ea"/>
                </a:endParaRPr>
              </a:p>
            </p:txBody>
          </p:sp>
        </p:grpSp>
      </p:grpSp>
      <p:grpSp>
        <p:nvGrpSpPr>
          <p:cNvPr id="101" name="Grupo 100"/>
          <p:cNvGrpSpPr/>
          <p:nvPr/>
        </p:nvGrpSpPr>
        <p:grpSpPr>
          <a:xfrm>
            <a:off x="5316855" y="1673225"/>
            <a:ext cx="1492250" cy="2476500"/>
            <a:chOff x="8373" y="2635"/>
            <a:chExt cx="2350" cy="3900"/>
          </a:xfrm>
        </p:grpSpPr>
        <p:cxnSp>
          <p:nvCxnSpPr>
            <p:cNvPr id="71" name="Conector de Seta Reta 70"/>
            <p:cNvCxnSpPr/>
            <p:nvPr/>
          </p:nvCxnSpPr>
          <p:spPr>
            <a:xfrm>
              <a:off x="8373" y="2947"/>
              <a:ext cx="4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upo 2"/>
            <p:cNvGrpSpPr/>
            <p:nvPr/>
          </p:nvGrpSpPr>
          <p:grpSpPr>
            <a:xfrm rot="0">
              <a:off x="8433" y="2635"/>
              <a:ext cx="2290" cy="3900"/>
              <a:chOff x="-744" y="2138"/>
              <a:chExt cx="2058" cy="1998"/>
            </a:xfrm>
          </p:grpSpPr>
          <p:sp>
            <p:nvSpPr>
              <p:cNvPr id="5" name="Retângulo arredondado 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>
                    <a:sym typeface="+mn-ea"/>
                  </a:rPr>
                  <a:t>Upload dos dados</a:t>
                </a:r>
                <a:r>
                  <a:rPr lang="en-US" altLang="en-US" sz="1300">
                    <a:sym typeface="+mn-ea"/>
                  </a:rPr>
                  <a:t> no Google Bigquery.</a:t>
                </a:r>
                <a:endParaRPr lang="en-US" altLang="en-US" sz="1300">
                  <a:sym typeface="+mn-ea"/>
                </a:endParaRPr>
              </a:p>
            </p:txBody>
          </p:sp>
          <p:sp>
            <p:nvSpPr>
              <p:cNvPr id="11" name="Retângulo arredondado 10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tx1"/>
                    </a:solidFill>
                    <a:sym typeface="+mn-ea"/>
                  </a:rPr>
                  <a:t>Ingestão</a:t>
                </a:r>
                <a:endParaRPr lang="en-US" altLang="en-US" sz="1600" b="1" dirty="0" err="1">
                  <a:solidFill>
                    <a:schemeClr val="tx1"/>
                  </a:solidFill>
                  <a:sym typeface="+mn-ea"/>
                </a:endParaRPr>
              </a:p>
            </p:txBody>
          </p:sp>
        </p:grpSp>
      </p:grpSp>
      <p:grpSp>
        <p:nvGrpSpPr>
          <p:cNvPr id="102" name="Grupo 101"/>
          <p:cNvGrpSpPr/>
          <p:nvPr/>
        </p:nvGrpSpPr>
        <p:grpSpPr>
          <a:xfrm>
            <a:off x="6809740" y="1681480"/>
            <a:ext cx="1869440" cy="2476500"/>
            <a:chOff x="10724" y="2648"/>
            <a:chExt cx="2944" cy="3900"/>
          </a:xfrm>
        </p:grpSpPr>
        <p:cxnSp>
          <p:nvCxnSpPr>
            <p:cNvPr id="74" name="Conector de Seta Reta 73"/>
            <p:cNvCxnSpPr/>
            <p:nvPr/>
          </p:nvCxnSpPr>
          <p:spPr>
            <a:xfrm>
              <a:off x="10727" y="2947"/>
              <a:ext cx="4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o 20"/>
            <p:cNvGrpSpPr/>
            <p:nvPr/>
          </p:nvGrpSpPr>
          <p:grpSpPr>
            <a:xfrm rot="0">
              <a:off x="10724" y="2648"/>
              <a:ext cx="2945" cy="3900"/>
              <a:chOff x="-744" y="2138"/>
              <a:chExt cx="2058" cy="1998"/>
            </a:xfrm>
          </p:grpSpPr>
          <p:sp>
            <p:nvSpPr>
              <p:cNvPr id="22" name="Retângulo arredondado 21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>
                    <a:sym typeface="+mn-ea"/>
                  </a:rPr>
                  <a:t>Tratamento </a:t>
                </a:r>
                <a:endParaRPr lang="en-US" altLang="en-US" sz="1300">
                  <a:sym typeface="+mn-ea"/>
                </a:endParaRPr>
              </a:p>
              <a:p>
                <a:pPr algn="l"/>
                <a:r>
                  <a:rPr lang="en-US" altLang="en-US" sz="1300">
                    <a:sym typeface="+mn-ea"/>
                  </a:rPr>
                  <a:t>e </a:t>
                </a:r>
                <a:r>
                  <a:rPr lang="en-US" altLang="en-US" sz="1300" b="1">
                    <a:sym typeface="+mn-ea"/>
                  </a:rPr>
                  <a:t>configuração dos dados </a:t>
                </a:r>
                <a:r>
                  <a:rPr lang="en-US" altLang="en-US" sz="1300">
                    <a:sym typeface="+mn-ea"/>
                  </a:rPr>
                  <a:t>no Google Bigquery para a extração.</a:t>
                </a:r>
                <a:endParaRPr lang="en-US" altLang="en-US" sz="1300">
                  <a:sym typeface="+mn-ea"/>
                </a:endParaRPr>
              </a:p>
            </p:txBody>
          </p:sp>
          <p:sp>
            <p:nvSpPr>
              <p:cNvPr id="23" name="Retângulo arredondado 22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tx1"/>
                    </a:solidFill>
                    <a:sym typeface="+mn-ea"/>
                  </a:rPr>
                  <a:t>Configuração</a:t>
                </a:r>
                <a:endParaRPr lang="en-US" altLang="en-US" sz="1600" b="1" dirty="0" err="1">
                  <a:solidFill>
                    <a:schemeClr val="tx1"/>
                  </a:solidFill>
                  <a:sym typeface="+mn-ea"/>
                </a:endParaRPr>
              </a:p>
            </p:txBody>
          </p:sp>
        </p:grpSp>
      </p:grpSp>
      <p:grpSp>
        <p:nvGrpSpPr>
          <p:cNvPr id="103" name="Grupo 102"/>
          <p:cNvGrpSpPr/>
          <p:nvPr/>
        </p:nvGrpSpPr>
        <p:grpSpPr>
          <a:xfrm>
            <a:off x="8679815" y="1681480"/>
            <a:ext cx="1769110" cy="2476500"/>
            <a:chOff x="13669" y="2648"/>
            <a:chExt cx="2786" cy="3900"/>
          </a:xfrm>
        </p:grpSpPr>
        <p:cxnSp>
          <p:nvCxnSpPr>
            <p:cNvPr id="78" name="Conector de Seta Reta 77"/>
            <p:cNvCxnSpPr/>
            <p:nvPr/>
          </p:nvCxnSpPr>
          <p:spPr>
            <a:xfrm>
              <a:off x="13669" y="2947"/>
              <a:ext cx="4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 rot="0">
              <a:off x="13719" y="2648"/>
              <a:ext cx="2736" cy="3900"/>
              <a:chOff x="-744" y="2138"/>
              <a:chExt cx="2058" cy="1998"/>
            </a:xfrm>
          </p:grpSpPr>
          <p:sp>
            <p:nvSpPr>
              <p:cNvPr id="25" name="Retângulo arredondado 2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ym typeface="+mn-ea"/>
                  </a:rPr>
                  <a:t>Organização</a:t>
                </a:r>
                <a:r>
                  <a:rPr lang="en-US" altLang="en-US" sz="1300" b="1" dirty="0">
                    <a:sym typeface="+mn-ea"/>
                  </a:rPr>
                  <a:t> dos </a:t>
                </a:r>
                <a:r>
                  <a:rPr lang="en-US" altLang="en-US" sz="1300" b="1" dirty="0" err="1">
                    <a:sym typeface="+mn-ea"/>
                  </a:rPr>
                  <a:t>metadados</a:t>
                </a:r>
                <a:r>
                  <a:rPr lang="en-US" altLang="en-US" sz="1300" b="1" dirty="0">
                    <a:sym typeface="+mn-ea"/>
                  </a:rPr>
                  <a:t>: </a:t>
                </a:r>
                <a:r>
                  <a:rPr lang="en-US" altLang="en-US" sz="1300" dirty="0" err="1">
                    <a:sym typeface="+mn-ea"/>
                  </a:rPr>
                  <a:t>cadastramento</a:t>
                </a:r>
                <a:r>
                  <a:rPr lang="en-US" altLang="en-US" sz="1300" dirty="0">
                    <a:sym typeface="+mn-ea"/>
                  </a:rPr>
                  <a:t> dos datasets, </a:t>
                </a:r>
                <a:r>
                  <a:rPr lang="en-US" altLang="en-US" sz="1300" dirty="0" err="1">
                    <a:sym typeface="+mn-ea"/>
                  </a:rPr>
                  <a:t>geração</a:t>
                </a:r>
                <a:r>
                  <a:rPr lang="en-US" altLang="en-US" sz="1300" dirty="0">
                    <a:sym typeface="+mn-ea"/>
                  </a:rPr>
                  <a:t> e </a:t>
                </a:r>
                <a:r>
                  <a:rPr lang="en-US" altLang="en-US" sz="1300" dirty="0" err="1">
                    <a:sym typeface="+mn-ea"/>
                  </a:rPr>
                  <a:t>catalogação</a:t>
                </a:r>
                <a:r>
                  <a:rPr lang="en-US" altLang="en-US" sz="1300" dirty="0">
                    <a:sym typeface="+mn-ea"/>
                  </a:rPr>
                  <a:t> de </a:t>
                </a:r>
                <a:r>
                  <a:rPr lang="en-US" altLang="en-US" sz="1300" dirty="0" err="1">
                    <a:sym typeface="+mn-ea"/>
                  </a:rPr>
                  <a:t>metadados no </a:t>
                </a:r>
                <a:r>
                  <a:rPr lang="en-US" altLang="en-US" sz="1300" dirty="0">
                    <a:sym typeface="+mn-ea"/>
                  </a:rPr>
                  <a:t>D</a:t>
                </a:r>
                <a:r>
                  <a:rPr lang="en-US" altLang="en-US" sz="1300" dirty="0" err="1">
                    <a:sym typeface="+mn-ea"/>
                  </a:rPr>
                  <a:t>ataverse.</a:t>
                </a:r>
                <a:endParaRPr lang="en-US" altLang="en-US" sz="1300">
                  <a:sym typeface="+mn-ea"/>
                </a:endParaRPr>
              </a:p>
            </p:txBody>
          </p:sp>
          <p:sp>
            <p:nvSpPr>
              <p:cNvPr id="26" name="Retângulo arredondado 25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tx1"/>
                    </a:solidFill>
                    <a:sym typeface="+mn-ea"/>
                  </a:rPr>
                  <a:t>Catalogação</a:t>
                </a:r>
                <a:endParaRPr lang="en-US" altLang="en-US" sz="1600" b="1" dirty="0" err="1">
                  <a:solidFill>
                    <a:schemeClr val="tx1"/>
                  </a:solidFill>
                  <a:sym typeface="+mn-ea"/>
                </a:endParaRPr>
              </a:p>
            </p:txBody>
          </p:sp>
        </p:grpSp>
      </p:grpSp>
      <p:grpSp>
        <p:nvGrpSpPr>
          <p:cNvPr id="104" name="Grupo 103"/>
          <p:cNvGrpSpPr/>
          <p:nvPr/>
        </p:nvGrpSpPr>
        <p:grpSpPr>
          <a:xfrm>
            <a:off x="10448925" y="1673225"/>
            <a:ext cx="1709420" cy="2476500"/>
            <a:chOff x="16455" y="2635"/>
            <a:chExt cx="2692" cy="3900"/>
          </a:xfrm>
        </p:grpSpPr>
        <p:grpSp>
          <p:nvGrpSpPr>
            <p:cNvPr id="43" name="Grupo 42"/>
            <p:cNvGrpSpPr/>
            <p:nvPr/>
          </p:nvGrpSpPr>
          <p:grpSpPr>
            <a:xfrm rot="0">
              <a:off x="16543" y="2635"/>
              <a:ext cx="2604" cy="3900"/>
              <a:chOff x="-744" y="2138"/>
              <a:chExt cx="2058" cy="1998"/>
            </a:xfrm>
          </p:grpSpPr>
          <p:sp>
            <p:nvSpPr>
              <p:cNvPr id="44" name="Retângulo arredondado 43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rgbClr val="54823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ym typeface="+mn-ea"/>
                  </a:rPr>
                  <a:t>Dados e metadados disponíveis </a:t>
                </a:r>
                <a:r>
                  <a:rPr lang="en-US" altLang="en-US" sz="1300" dirty="0" err="1">
                    <a:sym typeface="+mn-ea"/>
                  </a:rPr>
                  <a:t>para acesso através das aplicações de extração.</a:t>
                </a:r>
                <a:endParaRPr lang="en-US" altLang="en-US" sz="1300" dirty="0" err="1">
                  <a:sym typeface="+mn-ea"/>
                </a:endParaRPr>
              </a:p>
            </p:txBody>
          </p:sp>
          <p:sp>
            <p:nvSpPr>
              <p:cNvPr id="45" name="Retângulo arredondado 44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548235"/>
              </a:solidFill>
              <a:ln w="12700"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/>
                    </a:solidFill>
                    <a:sym typeface="+mn-ea"/>
                  </a:rPr>
                  <a:t>Acesso</a:t>
                </a:r>
                <a:endParaRPr lang="en-US" altLang="en-US" sz="1600" b="1" dirty="0" err="1">
                  <a:solidFill>
                    <a:schemeClr val="tx1"/>
                  </a:solidFill>
                  <a:sym typeface="+mn-ea"/>
                </a:endParaRPr>
              </a:p>
            </p:txBody>
          </p:sp>
        </p:grpSp>
        <p:cxnSp>
          <p:nvCxnSpPr>
            <p:cNvPr id="79" name="Conector de Seta Reta 78"/>
            <p:cNvCxnSpPr/>
            <p:nvPr/>
          </p:nvCxnSpPr>
          <p:spPr>
            <a:xfrm>
              <a:off x="16455" y="2961"/>
              <a:ext cx="46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ixa de Texto 11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Modelo de Funcionamento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grpSp>
        <p:nvGrpSpPr>
          <p:cNvPr id="86" name="Grupo 85"/>
          <p:cNvGrpSpPr/>
          <p:nvPr/>
        </p:nvGrpSpPr>
        <p:grpSpPr>
          <a:xfrm>
            <a:off x="126365" y="4276725"/>
            <a:ext cx="5713508" cy="2584450"/>
            <a:chOff x="199" y="6735"/>
            <a:chExt cx="7999" cy="4070"/>
          </a:xfrm>
        </p:grpSpPr>
        <p:sp>
          <p:nvSpPr>
            <p:cNvPr id="67" name="Retângulo arredondado 66"/>
            <p:cNvSpPr/>
            <p:nvPr/>
          </p:nvSpPr>
          <p:spPr>
            <a:xfrm>
              <a:off x="199" y="6735"/>
              <a:ext cx="7998" cy="450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pt-BR" sz="1400" b="1"/>
                <a:t>QUALIDADE </a:t>
              </a:r>
              <a:r>
                <a:rPr lang="en-US" altLang="en-US" sz="1400" b="1"/>
                <a:t>DE </a:t>
              </a:r>
              <a:r>
                <a:rPr lang="en-US" altLang="pt-BR" sz="1400" b="1"/>
                <a:t>DADOS</a:t>
              </a:r>
              <a:endParaRPr lang="en-US" altLang="pt-BR" sz="1400" b="1"/>
            </a:p>
          </p:txBody>
        </p:sp>
        <p:sp>
          <p:nvSpPr>
            <p:cNvPr id="75" name="Caixa de Texto 74"/>
            <p:cNvSpPr txBox="1"/>
            <p:nvPr/>
          </p:nvSpPr>
          <p:spPr>
            <a:xfrm>
              <a:off x="199" y="7269"/>
              <a:ext cx="7999" cy="3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altLang="en-US" sz="1400" b="1"/>
                <a:t>Processo continuo</a:t>
              </a:r>
              <a:r>
                <a:rPr lang="en-US" altLang="en-US" sz="1400"/>
                <a:t> (todas as etapas)</a:t>
              </a:r>
              <a:endParaRPr lang="en-US" altLang="en-US" sz="1400" b="1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altLang="en-US" sz="1400" b="1"/>
                <a:t>Mapeamento - critérios de verificação: </a:t>
              </a:r>
              <a:r>
                <a:rPr lang="en-US" altLang="en-US" sz="1400" i="1"/>
                <a:t>a) </a:t>
              </a:r>
              <a:r>
                <a:rPr lang="en-US" altLang="pt-BR" sz="1400" i="1">
                  <a:sym typeface="+mn-ea"/>
                </a:rPr>
                <a:t>adequação ao escopo e objetivos;  </a:t>
              </a:r>
              <a:r>
                <a:rPr lang="en-US" altLang="en-US" sz="1400" i="1">
                  <a:sym typeface="+mn-ea"/>
                </a:rPr>
                <a:t>b)</a:t>
              </a:r>
              <a:r>
                <a:rPr lang="en-US" altLang="pt-BR" sz="1400" i="1">
                  <a:sym typeface="+mn-ea"/>
                </a:rPr>
                <a:t> missing; </a:t>
              </a:r>
              <a:r>
                <a:rPr lang="en-US" altLang="en-US" sz="1400" i="1">
                  <a:sym typeface="+mn-ea"/>
                </a:rPr>
                <a:t>c) </a:t>
              </a:r>
              <a:r>
                <a:rPr lang="en-US" altLang="pt-BR" sz="1400" i="1">
                  <a:sym typeface="+mn-ea"/>
                </a:rPr>
                <a:t>período </a:t>
              </a:r>
              <a:r>
                <a:rPr lang="en-US" altLang="en-US" sz="1400" i="1">
                  <a:sym typeface="+mn-ea"/>
                </a:rPr>
                <a:t>e espacialidade de abrangência; d) </a:t>
              </a:r>
              <a:r>
                <a:rPr lang="en-US" altLang="pt-BR" sz="1400" i="1">
                  <a:sym typeface="+mn-ea"/>
                </a:rPr>
                <a:t>periodicidade da atualização; </a:t>
              </a:r>
              <a:r>
                <a:rPr lang="en-US" altLang="en-US" sz="1400" i="1">
                  <a:sym typeface="+mn-ea"/>
                </a:rPr>
                <a:t>e) </a:t>
              </a:r>
              <a:r>
                <a:rPr lang="en-US" altLang="pt-BR" sz="1400" i="1">
                  <a:sym typeface="+mn-ea"/>
                </a:rPr>
                <a:t>viabilidade da automatização da atualização; </a:t>
              </a:r>
              <a:r>
                <a:rPr lang="en-US" altLang="en-US" sz="1400" i="1">
                  <a:sym typeface="+mn-ea"/>
                </a:rPr>
                <a:t>f) </a:t>
              </a:r>
              <a:r>
                <a:rPr lang="en-US" altLang="pt-BR" sz="1400" i="1">
                  <a:sym typeface="+mn-ea"/>
                </a:rPr>
                <a:t>qualidade dos metadados; </a:t>
              </a:r>
              <a:r>
                <a:rPr lang="en-US" altLang="en-US" sz="1400" i="1">
                  <a:sym typeface="+mn-ea"/>
                </a:rPr>
                <a:t>g) </a:t>
              </a:r>
              <a:r>
                <a:rPr lang="en-US" altLang="pt-BR" sz="1400" i="1">
                  <a:sym typeface="+mn-ea"/>
                </a:rPr>
                <a:t>redundância em relação </a:t>
              </a:r>
              <a:r>
                <a:rPr lang="en-US" altLang="en-US" sz="1400" i="1">
                  <a:sym typeface="+mn-ea"/>
                </a:rPr>
                <a:t>aos dados </a:t>
              </a:r>
              <a:r>
                <a:rPr lang="en-US" altLang="pt-BR" sz="1400" i="1">
                  <a:sym typeface="+mn-ea"/>
                </a:rPr>
                <a:t>já incluídos; </a:t>
              </a:r>
              <a:r>
                <a:rPr lang="en-US" altLang="en-US" sz="1400" i="1">
                  <a:sym typeface="+mn-ea"/>
                </a:rPr>
                <a:t>h) </a:t>
              </a:r>
              <a:r>
                <a:rPr lang="en-US" altLang="pt-BR" sz="1400" i="1">
                  <a:sym typeface="+mn-ea"/>
                </a:rPr>
                <a:t>tipo de tratamento necessário; e etc.</a:t>
              </a:r>
              <a:endParaRPr lang="en-US" altLang="pt-BR" sz="1400" i="1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altLang="pt-BR" sz="1400" b="1"/>
                <a:t>Validação</a:t>
              </a:r>
              <a:r>
                <a:rPr lang="en-US" altLang="pt-BR" sz="1400"/>
                <a:t> </a:t>
              </a:r>
              <a:r>
                <a:rPr lang="en-US" altLang="en-US" sz="1400"/>
                <a:t>da integridade </a:t>
              </a:r>
              <a:r>
                <a:rPr lang="en-US" altLang="pt-BR" sz="1400"/>
                <a:t>dos dados baixados</a:t>
              </a:r>
              <a:r>
                <a:rPr lang="en-US" altLang="en-US" sz="1400"/>
                <a:t>, ingeridos e atualizados.</a:t>
              </a:r>
              <a:endParaRPr lang="en-US" altLang="en-US" sz="140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altLang="pt-BR" sz="1400">
                  <a:sym typeface="+mn-ea"/>
                </a:rPr>
                <a:t>Padronização da estrutura de dados</a:t>
              </a:r>
              <a:r>
                <a:rPr lang="en-US" altLang="en-US" sz="1400">
                  <a:sym typeface="+mn-ea"/>
                </a:rPr>
                <a:t>.</a:t>
              </a:r>
              <a:endParaRPr lang="en-US" altLang="en-US" sz="1400">
                <a:sym typeface="+mn-ea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 rot="0">
            <a:off x="126365" y="1673225"/>
            <a:ext cx="1833245" cy="2484755"/>
            <a:chOff x="-744" y="2138"/>
            <a:chExt cx="2058" cy="1998"/>
          </a:xfrm>
        </p:grpSpPr>
        <p:sp>
          <p:nvSpPr>
            <p:cNvPr id="9" name="Retângulo arredondado 8"/>
            <p:cNvSpPr/>
            <p:nvPr/>
          </p:nvSpPr>
          <p:spPr>
            <a:xfrm>
              <a:off x="-744" y="2360"/>
              <a:ext cx="1856" cy="1776"/>
            </a:xfrm>
            <a:prstGeom prst="roundRect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pt-BR" sz="900">
                <a:solidFill>
                  <a:schemeClr val="bg1">
                    <a:lumMod val="75000"/>
                  </a:schemeClr>
                </a:solidFill>
              </a:endParaRPr>
            </a:p>
            <a:p>
              <a:pPr algn="l"/>
              <a:r>
                <a:rPr lang="en-US" altLang="pt-BR" sz="1300" b="1">
                  <a:solidFill>
                    <a:schemeClr val="bg1">
                      <a:lumMod val="75000"/>
                    </a:schemeClr>
                  </a:solidFill>
                </a:rPr>
                <a:t>Identificação e avaliação</a:t>
              </a:r>
              <a:r>
                <a:rPr lang="en-US" altLang="pt-BR" sz="1300">
                  <a:solidFill>
                    <a:schemeClr val="bg1">
                      <a:lumMod val="75000"/>
                    </a:schemeClr>
                  </a:solidFill>
                </a:rPr>
                <a:t> de possíveis bases de dados úteis </a:t>
              </a:r>
              <a:r>
                <a:rPr lang="en-US" altLang="en-US" sz="1300">
                  <a:solidFill>
                    <a:schemeClr val="bg1">
                      <a:lumMod val="75000"/>
                    </a:schemeClr>
                  </a:solidFill>
                </a:rPr>
                <a:t>à pesquisa em saúde.</a:t>
              </a:r>
              <a:endParaRPr lang="en-US" altLang="en-US" sz="130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tângulo arredondado 9"/>
            <p:cNvSpPr/>
            <p:nvPr/>
          </p:nvSpPr>
          <p:spPr>
            <a:xfrm>
              <a:off x="-422" y="2138"/>
              <a:ext cx="1736" cy="368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pt-BR" sz="1600" b="1" dirty="0" err="1">
                  <a:solidFill>
                    <a:schemeClr val="bg1">
                      <a:lumMod val="75000"/>
                    </a:schemeClr>
                  </a:solidFill>
                </a:rPr>
                <a:t>Identificação</a:t>
              </a:r>
              <a:endParaRPr lang="en-US" altLang="pt-BR" sz="1600" b="1" dirty="0" err="1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88" name="Grupo 87"/>
          <p:cNvGrpSpPr/>
          <p:nvPr/>
        </p:nvGrpSpPr>
        <p:grpSpPr>
          <a:xfrm>
            <a:off x="5955030" y="4276725"/>
            <a:ext cx="3658870" cy="2040890"/>
            <a:chOff x="8433" y="6735"/>
            <a:chExt cx="7603" cy="3214"/>
          </a:xfrm>
        </p:grpSpPr>
        <p:sp>
          <p:nvSpPr>
            <p:cNvPr id="76" name="Caixa de Texto 75"/>
            <p:cNvSpPr txBox="1"/>
            <p:nvPr/>
          </p:nvSpPr>
          <p:spPr>
            <a:xfrm>
              <a:off x="8433" y="7430"/>
              <a:ext cx="6627" cy="2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400"/>
                <a:t>Escalabilidade </a:t>
              </a:r>
              <a:endParaRPr lang="en-US" altLang="en-US" sz="14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400"/>
                <a:t>Desempenho</a:t>
              </a:r>
              <a:endParaRPr lang="en-US" altLang="en-US" sz="14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400"/>
                <a:t>Confiabilidade</a:t>
              </a:r>
              <a:endParaRPr lang="en-US" altLang="en-US" sz="14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400"/>
                <a:t>Acesso 24h</a:t>
              </a:r>
              <a:endParaRPr lang="en-US" altLang="en-US" sz="14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400"/>
                <a:t>Alto poder de processameto de grande volume de dados</a:t>
              </a:r>
              <a:endParaRPr lang="en-US" altLang="en-US" sz="14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sz="1400"/>
                <a:t>Velocidade</a:t>
              </a:r>
              <a:endParaRPr lang="en-US" altLang="en-US" sz="1400"/>
            </a:p>
          </p:txBody>
        </p:sp>
        <p:sp>
          <p:nvSpPr>
            <p:cNvPr id="66" name="Retângulo arredondado 65"/>
            <p:cNvSpPr/>
            <p:nvPr/>
          </p:nvSpPr>
          <p:spPr>
            <a:xfrm>
              <a:off x="8433" y="6735"/>
              <a:ext cx="7603" cy="450"/>
            </a:xfrm>
            <a:prstGeom prst="roundRect">
              <a:avLst/>
            </a:prstGeom>
            <a:solidFill>
              <a:srgbClr val="5B9BD5"/>
            </a:solidFill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 b="1"/>
                <a:t>INFRAESTRUTURA GOOGLE</a:t>
              </a:r>
              <a:endParaRPr lang="en-US" altLang="en-US" sz="1400" b="1"/>
            </a:p>
          </p:txBody>
        </p:sp>
      </p:grpSp>
      <p:grpSp>
        <p:nvGrpSpPr>
          <p:cNvPr id="89" name="Grupo 88"/>
          <p:cNvGrpSpPr/>
          <p:nvPr/>
        </p:nvGrpSpPr>
        <p:grpSpPr>
          <a:xfrm>
            <a:off x="9734455" y="4276725"/>
            <a:ext cx="2423890" cy="2596515"/>
            <a:chOff x="15827" y="6735"/>
            <a:chExt cx="3320" cy="4089"/>
          </a:xfrm>
        </p:grpSpPr>
        <p:sp>
          <p:nvSpPr>
            <p:cNvPr id="77" name="Caixa de Texto 76"/>
            <p:cNvSpPr txBox="1"/>
            <p:nvPr/>
          </p:nvSpPr>
          <p:spPr>
            <a:xfrm>
              <a:off x="15827" y="7288"/>
              <a:ext cx="3320" cy="3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just">
                <a:buFont typeface="Arial" panose="020B0604020202020204" pitchFamily="34" charset="0"/>
                <a:buNone/>
              </a:pPr>
              <a:r>
                <a:rPr lang="en-US" altLang="en-US" sz="1400"/>
                <a:t>Extração de dados via interface gráfica ou através de </a:t>
              </a:r>
              <a:r>
                <a:rPr lang="en-US" sz="1400"/>
                <a:t>consultas diretamente </a:t>
              </a:r>
              <a:r>
                <a:rPr lang="en-US" altLang="en-US" sz="1400"/>
                <a:t>pela </a:t>
              </a:r>
              <a:r>
                <a:rPr lang="en-US" sz="1400"/>
                <a:t>API</a:t>
              </a:r>
              <a:r>
                <a:rPr lang="en-US" altLang="en-US" sz="1400"/>
                <a:t>: formato universal (csv compactado), manipulável por Microsoft Excel, programas ou linguagens de análise de dados (R, Python, Spark, Stata).</a:t>
              </a:r>
              <a:endParaRPr lang="en-US" altLang="en-US" sz="1400"/>
            </a:p>
          </p:txBody>
        </p:sp>
        <p:sp>
          <p:nvSpPr>
            <p:cNvPr id="68" name="Retângulo arredondado 67"/>
            <p:cNvSpPr/>
            <p:nvPr/>
          </p:nvSpPr>
          <p:spPr>
            <a:xfrm>
              <a:off x="15828" y="6735"/>
              <a:ext cx="3319" cy="45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 b="1"/>
                <a:t>FACILIDADE</a:t>
              </a:r>
              <a:endParaRPr lang="en-US" altLang="en-US" sz="1400" b="1"/>
            </a:p>
          </p:txBody>
        </p:sp>
      </p:grpSp>
      <p:grpSp>
        <p:nvGrpSpPr>
          <p:cNvPr id="99" name="Grupo 98"/>
          <p:cNvGrpSpPr/>
          <p:nvPr/>
        </p:nvGrpSpPr>
        <p:grpSpPr>
          <a:xfrm>
            <a:off x="1959610" y="1703070"/>
            <a:ext cx="1631315" cy="2454910"/>
            <a:chOff x="3086" y="2681"/>
            <a:chExt cx="2569" cy="3866"/>
          </a:xfrm>
        </p:grpSpPr>
        <p:cxnSp>
          <p:nvCxnSpPr>
            <p:cNvPr id="53" name="Conector de Seta Reta 52"/>
            <p:cNvCxnSpPr/>
            <p:nvPr/>
          </p:nvCxnSpPr>
          <p:spPr>
            <a:xfrm>
              <a:off x="3086" y="2960"/>
              <a:ext cx="428" cy="1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upo 3"/>
            <p:cNvGrpSpPr/>
            <p:nvPr/>
          </p:nvGrpSpPr>
          <p:grpSpPr>
            <a:xfrm rot="0">
              <a:off x="3107" y="2681"/>
              <a:ext cx="2548" cy="3867"/>
              <a:chOff x="-744" y="2138"/>
              <a:chExt cx="2058" cy="1998"/>
            </a:xfrm>
          </p:grpSpPr>
          <p:sp>
            <p:nvSpPr>
              <p:cNvPr id="6" name="Retângulo arredondado 5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lang="en-US" altLang="pt-BR" sz="130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Download 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dos dados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implementação 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rotinas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automatizadas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atualização.</a:t>
                </a:r>
                <a:r>
                  <a:rPr lang="en-US" altLang="en-US" sz="14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</a:t>
                </a:r>
                <a:endParaRPr lang="en-US" altLang="en-US" sz="1400" dirty="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7" name="Retângulo arredondado 6"/>
              <p:cNvSpPr/>
              <p:nvPr/>
            </p:nvSpPr>
            <p:spPr>
              <a:xfrm>
                <a:off x="-422" y="2138"/>
                <a:ext cx="1736" cy="355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Obtenção</a:t>
                </a:r>
                <a:endParaRPr lang="en-US" altLang="pt-BR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0" name="Grupo 99"/>
          <p:cNvGrpSpPr/>
          <p:nvPr/>
        </p:nvGrpSpPr>
        <p:grpSpPr>
          <a:xfrm>
            <a:off x="3599180" y="1681480"/>
            <a:ext cx="1714500" cy="2476500"/>
            <a:chOff x="5668" y="2648"/>
            <a:chExt cx="2700" cy="3900"/>
          </a:xfrm>
        </p:grpSpPr>
        <p:cxnSp>
          <p:nvCxnSpPr>
            <p:cNvPr id="70" name="Conector de Seta Reta 69"/>
            <p:cNvCxnSpPr/>
            <p:nvPr/>
          </p:nvCxnSpPr>
          <p:spPr>
            <a:xfrm>
              <a:off x="5668" y="2995"/>
              <a:ext cx="403" cy="1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o 16"/>
            <p:cNvGrpSpPr/>
            <p:nvPr/>
          </p:nvGrpSpPr>
          <p:grpSpPr>
            <a:xfrm rot="0">
              <a:off x="5681" y="2648"/>
              <a:ext cx="2687" cy="3900"/>
              <a:chOff x="-711" y="2138"/>
              <a:chExt cx="2025" cy="1998"/>
            </a:xfrm>
          </p:grpSpPr>
          <p:sp>
            <p:nvSpPr>
              <p:cNvPr id="18" name="Retângulo arredondado 17"/>
              <p:cNvSpPr/>
              <p:nvPr/>
            </p:nvSpPr>
            <p:spPr>
              <a:xfrm>
                <a:off x="-711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Pré-processamento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dos dados antes da ingestão no </a:t>
                </a:r>
                <a:r>
                  <a:rPr lang="en-US" altLang="en-US" sz="1300" i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datalake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19" name="Retângulo arredondado 18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Preparação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1" name="Grupo 100"/>
          <p:cNvGrpSpPr/>
          <p:nvPr/>
        </p:nvGrpSpPr>
        <p:grpSpPr>
          <a:xfrm>
            <a:off x="5313680" y="1673225"/>
            <a:ext cx="1492250" cy="2476500"/>
            <a:chOff x="8373" y="2635"/>
            <a:chExt cx="2350" cy="3900"/>
          </a:xfrm>
        </p:grpSpPr>
        <p:cxnSp>
          <p:nvCxnSpPr>
            <p:cNvPr id="71" name="Conector de Seta Reta 70"/>
            <p:cNvCxnSpPr/>
            <p:nvPr/>
          </p:nvCxnSpPr>
          <p:spPr>
            <a:xfrm>
              <a:off x="8373" y="2947"/>
              <a:ext cx="40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upo 2"/>
            <p:cNvGrpSpPr/>
            <p:nvPr/>
          </p:nvGrpSpPr>
          <p:grpSpPr>
            <a:xfrm rot="0">
              <a:off x="8433" y="2635"/>
              <a:ext cx="2290" cy="3900"/>
              <a:chOff x="-744" y="2138"/>
              <a:chExt cx="2058" cy="1998"/>
            </a:xfrm>
          </p:grpSpPr>
          <p:sp>
            <p:nvSpPr>
              <p:cNvPr id="5" name="Retângulo arredondado 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Upload dos dados</a:t>
                </a:r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no Google Bigquery.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11" name="Retângulo arredondado 10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Ingestão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2" name="Grupo 101"/>
          <p:cNvGrpSpPr/>
          <p:nvPr/>
        </p:nvGrpSpPr>
        <p:grpSpPr>
          <a:xfrm>
            <a:off x="6809740" y="1681480"/>
            <a:ext cx="1869440" cy="2476500"/>
            <a:chOff x="10724" y="2648"/>
            <a:chExt cx="2944" cy="3900"/>
          </a:xfrm>
        </p:grpSpPr>
        <p:cxnSp>
          <p:nvCxnSpPr>
            <p:cNvPr id="74" name="Conector de Seta Reta 73"/>
            <p:cNvCxnSpPr/>
            <p:nvPr/>
          </p:nvCxnSpPr>
          <p:spPr>
            <a:xfrm>
              <a:off x="10727" y="2947"/>
              <a:ext cx="44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o 20"/>
            <p:cNvGrpSpPr/>
            <p:nvPr/>
          </p:nvGrpSpPr>
          <p:grpSpPr>
            <a:xfrm rot="0">
              <a:off x="10724" y="2648"/>
              <a:ext cx="2945" cy="3900"/>
              <a:chOff x="-744" y="2138"/>
              <a:chExt cx="2058" cy="1998"/>
            </a:xfrm>
          </p:grpSpPr>
          <p:sp>
            <p:nvSpPr>
              <p:cNvPr id="22" name="Retângulo arredondado 21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Tratamento 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  <a:p>
                <a:pPr algn="l"/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e </a:t>
                </a:r>
                <a:r>
                  <a:rPr lang="en-US" altLang="en-US" sz="13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configuração dos dados </a:t>
                </a:r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no Google Bigquery para a extração.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23" name="Retângulo arredondado 22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Configuração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3" name="Grupo 102"/>
          <p:cNvGrpSpPr/>
          <p:nvPr/>
        </p:nvGrpSpPr>
        <p:grpSpPr>
          <a:xfrm>
            <a:off x="8679815" y="1681480"/>
            <a:ext cx="1769110" cy="2476500"/>
            <a:chOff x="13669" y="2648"/>
            <a:chExt cx="2786" cy="3900"/>
          </a:xfrm>
        </p:grpSpPr>
        <p:cxnSp>
          <p:nvCxnSpPr>
            <p:cNvPr id="78" name="Conector de Seta Reta 77"/>
            <p:cNvCxnSpPr/>
            <p:nvPr/>
          </p:nvCxnSpPr>
          <p:spPr>
            <a:xfrm>
              <a:off x="13669" y="2947"/>
              <a:ext cx="44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 rot="0">
              <a:off x="13719" y="2648"/>
              <a:ext cx="2736" cy="3900"/>
              <a:chOff x="-744" y="2138"/>
              <a:chExt cx="2058" cy="1998"/>
            </a:xfrm>
          </p:grpSpPr>
          <p:sp>
            <p:nvSpPr>
              <p:cNvPr id="25" name="Retângulo arredondado 2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Organização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dos </a:t>
                </a:r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metadados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: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cadastramento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dos datasets,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geração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catalogação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metadados no 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ataverse.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26" name="Retângulo arredondado 25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Catalogação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4" name="Grupo 103"/>
          <p:cNvGrpSpPr/>
          <p:nvPr/>
        </p:nvGrpSpPr>
        <p:grpSpPr>
          <a:xfrm>
            <a:off x="10448925" y="1673225"/>
            <a:ext cx="1709420" cy="2476500"/>
            <a:chOff x="16455" y="2635"/>
            <a:chExt cx="2692" cy="3900"/>
          </a:xfrm>
        </p:grpSpPr>
        <p:grpSp>
          <p:nvGrpSpPr>
            <p:cNvPr id="43" name="Grupo 42"/>
            <p:cNvGrpSpPr/>
            <p:nvPr/>
          </p:nvGrpSpPr>
          <p:grpSpPr>
            <a:xfrm rot="0">
              <a:off x="16543" y="2635"/>
              <a:ext cx="2604" cy="3900"/>
              <a:chOff x="-744" y="2138"/>
              <a:chExt cx="2058" cy="1998"/>
            </a:xfrm>
          </p:grpSpPr>
          <p:sp>
            <p:nvSpPr>
              <p:cNvPr id="44" name="Retângulo arredondado 43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rgbClr val="54823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Dados e metadados disponíveis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para acesso através das aplicações de extração.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45" name="Retângulo arredondado 44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Acesso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  <p:cxnSp>
          <p:nvCxnSpPr>
            <p:cNvPr id="79" name="Conector de Seta Reta 78"/>
            <p:cNvCxnSpPr/>
            <p:nvPr/>
          </p:nvCxnSpPr>
          <p:spPr>
            <a:xfrm>
              <a:off x="16455" y="2961"/>
              <a:ext cx="461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ixa de Texto 11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Modelo de Funcionamento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 rot="0">
            <a:off x="126365" y="1673225"/>
            <a:ext cx="1833245" cy="2484755"/>
            <a:chOff x="-744" y="2138"/>
            <a:chExt cx="2058" cy="1998"/>
          </a:xfrm>
        </p:grpSpPr>
        <p:sp>
          <p:nvSpPr>
            <p:cNvPr id="9" name="Retângulo arredondado 8"/>
            <p:cNvSpPr/>
            <p:nvPr/>
          </p:nvSpPr>
          <p:spPr>
            <a:xfrm>
              <a:off x="-744" y="2360"/>
              <a:ext cx="1856" cy="1776"/>
            </a:xfrm>
            <a:prstGeom prst="roundRect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pt-BR" sz="900">
                <a:solidFill>
                  <a:schemeClr val="bg1">
                    <a:lumMod val="75000"/>
                  </a:schemeClr>
                </a:solidFill>
              </a:endParaRPr>
            </a:p>
            <a:p>
              <a:pPr algn="l"/>
              <a:r>
                <a:rPr lang="en-US" altLang="pt-BR" sz="1300" b="1">
                  <a:solidFill>
                    <a:schemeClr val="bg1">
                      <a:lumMod val="75000"/>
                    </a:schemeClr>
                  </a:solidFill>
                </a:rPr>
                <a:t>Identificação e avaliação</a:t>
              </a:r>
              <a:r>
                <a:rPr lang="en-US" altLang="pt-BR" sz="1300">
                  <a:solidFill>
                    <a:schemeClr val="bg1">
                      <a:lumMod val="75000"/>
                    </a:schemeClr>
                  </a:solidFill>
                </a:rPr>
                <a:t> de possíveis bases de dados úteis </a:t>
              </a:r>
              <a:r>
                <a:rPr lang="en-US" altLang="en-US" sz="1300">
                  <a:solidFill>
                    <a:schemeClr val="bg1">
                      <a:lumMod val="75000"/>
                    </a:schemeClr>
                  </a:solidFill>
                </a:rPr>
                <a:t>à pesquisa em saúde.</a:t>
              </a:r>
              <a:endParaRPr lang="en-US" altLang="en-US" sz="130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tângulo arredondado 9"/>
            <p:cNvSpPr/>
            <p:nvPr/>
          </p:nvSpPr>
          <p:spPr>
            <a:xfrm>
              <a:off x="-422" y="2138"/>
              <a:ext cx="1736" cy="368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pt-BR" sz="1600" b="1" dirty="0" err="1">
                  <a:solidFill>
                    <a:schemeClr val="bg1">
                      <a:lumMod val="75000"/>
                    </a:schemeClr>
                  </a:solidFill>
                </a:rPr>
                <a:t>Identificação</a:t>
              </a:r>
              <a:endParaRPr lang="en-US" altLang="pt-BR" sz="1600" b="1" dirty="0" err="1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99" name="Grupo 98"/>
          <p:cNvGrpSpPr/>
          <p:nvPr/>
        </p:nvGrpSpPr>
        <p:grpSpPr>
          <a:xfrm>
            <a:off x="1959610" y="1703070"/>
            <a:ext cx="1631315" cy="2454910"/>
            <a:chOff x="3086" y="2681"/>
            <a:chExt cx="2569" cy="3866"/>
          </a:xfrm>
        </p:grpSpPr>
        <p:cxnSp>
          <p:nvCxnSpPr>
            <p:cNvPr id="53" name="Conector de Seta Reta 52"/>
            <p:cNvCxnSpPr/>
            <p:nvPr/>
          </p:nvCxnSpPr>
          <p:spPr>
            <a:xfrm>
              <a:off x="3086" y="2960"/>
              <a:ext cx="428" cy="1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upo 3"/>
            <p:cNvGrpSpPr/>
            <p:nvPr/>
          </p:nvGrpSpPr>
          <p:grpSpPr>
            <a:xfrm rot="0">
              <a:off x="3107" y="2681"/>
              <a:ext cx="2548" cy="3867"/>
              <a:chOff x="-744" y="2138"/>
              <a:chExt cx="2058" cy="1998"/>
            </a:xfrm>
          </p:grpSpPr>
          <p:sp>
            <p:nvSpPr>
              <p:cNvPr id="6" name="Retângulo arredondado 5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lang="en-US" altLang="pt-BR" sz="130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Download 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dos dados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implementação 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rotinas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automatizadas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atualização.</a:t>
                </a:r>
                <a:r>
                  <a:rPr lang="en-US" altLang="en-US" sz="14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</a:t>
                </a:r>
                <a:endParaRPr lang="en-US" altLang="en-US" sz="1400" dirty="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7" name="Retângulo arredondado 6"/>
              <p:cNvSpPr/>
              <p:nvPr/>
            </p:nvSpPr>
            <p:spPr>
              <a:xfrm>
                <a:off x="-422" y="2138"/>
                <a:ext cx="1736" cy="355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Obtenção</a:t>
                </a:r>
                <a:endParaRPr lang="en-US" altLang="pt-BR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0" name="Grupo 99"/>
          <p:cNvGrpSpPr/>
          <p:nvPr/>
        </p:nvGrpSpPr>
        <p:grpSpPr>
          <a:xfrm>
            <a:off x="3599180" y="1681480"/>
            <a:ext cx="1714500" cy="2476500"/>
            <a:chOff x="5668" y="2648"/>
            <a:chExt cx="2700" cy="3900"/>
          </a:xfrm>
        </p:grpSpPr>
        <p:cxnSp>
          <p:nvCxnSpPr>
            <p:cNvPr id="70" name="Conector de Seta Reta 69"/>
            <p:cNvCxnSpPr/>
            <p:nvPr/>
          </p:nvCxnSpPr>
          <p:spPr>
            <a:xfrm>
              <a:off x="5668" y="2995"/>
              <a:ext cx="403" cy="1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o 16"/>
            <p:cNvGrpSpPr/>
            <p:nvPr/>
          </p:nvGrpSpPr>
          <p:grpSpPr>
            <a:xfrm rot="0">
              <a:off x="5681" y="2648"/>
              <a:ext cx="2687" cy="3900"/>
              <a:chOff x="-711" y="2138"/>
              <a:chExt cx="2025" cy="1998"/>
            </a:xfrm>
          </p:grpSpPr>
          <p:sp>
            <p:nvSpPr>
              <p:cNvPr id="18" name="Retângulo arredondado 17"/>
              <p:cNvSpPr/>
              <p:nvPr/>
            </p:nvSpPr>
            <p:spPr>
              <a:xfrm>
                <a:off x="-711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Pré-processamento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dos dados antes da ingestão no </a:t>
                </a:r>
                <a:r>
                  <a:rPr lang="en-US" altLang="en-US" sz="1300" i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datalake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19" name="Retângulo arredondado 18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Preparação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1" name="Grupo 100"/>
          <p:cNvGrpSpPr/>
          <p:nvPr/>
        </p:nvGrpSpPr>
        <p:grpSpPr>
          <a:xfrm>
            <a:off x="5313680" y="1673225"/>
            <a:ext cx="1492250" cy="2476500"/>
            <a:chOff x="8373" y="2635"/>
            <a:chExt cx="2350" cy="3900"/>
          </a:xfrm>
        </p:grpSpPr>
        <p:cxnSp>
          <p:nvCxnSpPr>
            <p:cNvPr id="71" name="Conector de Seta Reta 70"/>
            <p:cNvCxnSpPr/>
            <p:nvPr/>
          </p:nvCxnSpPr>
          <p:spPr>
            <a:xfrm>
              <a:off x="8373" y="2947"/>
              <a:ext cx="40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upo 2"/>
            <p:cNvGrpSpPr/>
            <p:nvPr/>
          </p:nvGrpSpPr>
          <p:grpSpPr>
            <a:xfrm rot="0">
              <a:off x="8433" y="2635"/>
              <a:ext cx="2290" cy="3900"/>
              <a:chOff x="-744" y="2138"/>
              <a:chExt cx="2058" cy="1998"/>
            </a:xfrm>
          </p:grpSpPr>
          <p:sp>
            <p:nvSpPr>
              <p:cNvPr id="5" name="Retângulo arredondado 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Upload dos dados</a:t>
                </a:r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no Google Bigquery.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11" name="Retângulo arredondado 10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Ingestão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2" name="Grupo 101"/>
          <p:cNvGrpSpPr/>
          <p:nvPr/>
        </p:nvGrpSpPr>
        <p:grpSpPr>
          <a:xfrm>
            <a:off x="6809740" y="1681480"/>
            <a:ext cx="1869440" cy="2476500"/>
            <a:chOff x="10724" y="2648"/>
            <a:chExt cx="2944" cy="3900"/>
          </a:xfrm>
        </p:grpSpPr>
        <p:cxnSp>
          <p:nvCxnSpPr>
            <p:cNvPr id="74" name="Conector de Seta Reta 73"/>
            <p:cNvCxnSpPr/>
            <p:nvPr/>
          </p:nvCxnSpPr>
          <p:spPr>
            <a:xfrm>
              <a:off x="10727" y="2947"/>
              <a:ext cx="44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o 20"/>
            <p:cNvGrpSpPr/>
            <p:nvPr/>
          </p:nvGrpSpPr>
          <p:grpSpPr>
            <a:xfrm rot="0">
              <a:off x="10724" y="2648"/>
              <a:ext cx="2945" cy="3900"/>
              <a:chOff x="-744" y="2138"/>
              <a:chExt cx="2058" cy="1998"/>
            </a:xfrm>
          </p:grpSpPr>
          <p:sp>
            <p:nvSpPr>
              <p:cNvPr id="22" name="Retângulo arredondado 21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Tratamento 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  <a:p>
                <a:pPr algn="l"/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e </a:t>
                </a:r>
                <a:r>
                  <a:rPr lang="en-US" altLang="en-US" sz="13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configuração dos dados </a:t>
                </a:r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no Google Bigquery para a extração.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23" name="Retângulo arredondado 22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Configuração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3" name="Grupo 102"/>
          <p:cNvGrpSpPr/>
          <p:nvPr/>
        </p:nvGrpSpPr>
        <p:grpSpPr>
          <a:xfrm>
            <a:off x="8679815" y="1681480"/>
            <a:ext cx="1769110" cy="2476500"/>
            <a:chOff x="13669" y="2648"/>
            <a:chExt cx="2786" cy="3900"/>
          </a:xfrm>
        </p:grpSpPr>
        <p:cxnSp>
          <p:nvCxnSpPr>
            <p:cNvPr id="78" name="Conector de Seta Reta 77"/>
            <p:cNvCxnSpPr/>
            <p:nvPr/>
          </p:nvCxnSpPr>
          <p:spPr>
            <a:xfrm>
              <a:off x="13669" y="2947"/>
              <a:ext cx="44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 rot="0">
              <a:off x="13719" y="2648"/>
              <a:ext cx="2736" cy="3900"/>
              <a:chOff x="-744" y="2138"/>
              <a:chExt cx="2058" cy="1998"/>
            </a:xfrm>
          </p:grpSpPr>
          <p:sp>
            <p:nvSpPr>
              <p:cNvPr id="25" name="Retângulo arredondado 2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Organização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dos </a:t>
                </a:r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metadados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: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cadastramento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dos datasets,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geração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catalogação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metadados no 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ataverse.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26" name="Retângulo arredondado 25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Catalogação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4" name="Grupo 103"/>
          <p:cNvGrpSpPr/>
          <p:nvPr/>
        </p:nvGrpSpPr>
        <p:grpSpPr>
          <a:xfrm>
            <a:off x="10448925" y="1673225"/>
            <a:ext cx="1709420" cy="2476500"/>
            <a:chOff x="16455" y="2635"/>
            <a:chExt cx="2692" cy="3900"/>
          </a:xfrm>
        </p:grpSpPr>
        <p:grpSp>
          <p:nvGrpSpPr>
            <p:cNvPr id="43" name="Grupo 42"/>
            <p:cNvGrpSpPr/>
            <p:nvPr/>
          </p:nvGrpSpPr>
          <p:grpSpPr>
            <a:xfrm rot="0">
              <a:off x="16543" y="2635"/>
              <a:ext cx="2604" cy="3900"/>
              <a:chOff x="-744" y="2138"/>
              <a:chExt cx="2058" cy="1998"/>
            </a:xfrm>
          </p:grpSpPr>
          <p:sp>
            <p:nvSpPr>
              <p:cNvPr id="44" name="Retângulo arredondado 43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rgbClr val="54823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Dados e metadados disponíveis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para acesso através das aplicações de extração.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45" name="Retângulo arredondado 44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Acesso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  <p:cxnSp>
          <p:nvCxnSpPr>
            <p:cNvPr id="79" name="Conector de Seta Reta 78"/>
            <p:cNvCxnSpPr/>
            <p:nvPr/>
          </p:nvCxnSpPr>
          <p:spPr>
            <a:xfrm>
              <a:off x="16455" y="2961"/>
              <a:ext cx="461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ixa de Texto 11"/>
          <p:cNvSpPr txBox="1"/>
          <p:nvPr/>
        </p:nvSpPr>
        <p:spPr>
          <a:xfrm>
            <a:off x="126365" y="4720590"/>
            <a:ext cx="25444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Coordenação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Time de dados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Usuários</a:t>
            </a:r>
            <a:endParaRPr lang="en-US" altLang="pt-BR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2000"/>
          </a:p>
        </p:txBody>
      </p:sp>
      <p:sp>
        <p:nvSpPr>
          <p:cNvPr id="14" name="Caixa de Texto 13"/>
          <p:cNvSpPr txBox="1"/>
          <p:nvPr/>
        </p:nvSpPr>
        <p:spPr>
          <a:xfrm>
            <a:off x="5135880" y="4669790"/>
            <a:ext cx="30975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Captação de dados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Tratamento</a:t>
            </a:r>
            <a:r>
              <a:rPr lang="en-US" altLang="pt-BR" sz="2000"/>
              <a:t> </a:t>
            </a:r>
            <a:r>
              <a:rPr lang="en-US" altLang="en-US" sz="2000"/>
              <a:t>de dados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Gestão do acesso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Análise de dados</a:t>
            </a:r>
            <a:endParaRPr lang="en-US" altLang="en-US" sz="2000"/>
          </a:p>
        </p:txBody>
      </p:sp>
      <p:sp>
        <p:nvSpPr>
          <p:cNvPr id="15" name="Caixa de Texto 14"/>
          <p:cNvSpPr txBox="1"/>
          <p:nvPr/>
        </p:nvSpPr>
        <p:spPr>
          <a:xfrm>
            <a:off x="9899015" y="4669790"/>
            <a:ext cx="19665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Ética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Segurança</a:t>
            </a:r>
            <a:endParaRPr lang="en-US" altLang="en-US" sz="2000"/>
          </a:p>
        </p:txBody>
      </p:sp>
      <p:sp>
        <p:nvSpPr>
          <p:cNvPr id="16" name="Retângulo arredondado 15"/>
          <p:cNvSpPr/>
          <p:nvPr/>
        </p:nvSpPr>
        <p:spPr>
          <a:xfrm>
            <a:off x="126365" y="4276725"/>
            <a:ext cx="11868785" cy="28575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 b="1">
                <a:sym typeface="+mn-ea"/>
              </a:rPr>
              <a:t>GOVERNANÇA</a:t>
            </a:r>
            <a:endParaRPr lang="en-US" altLang="pt-BR" sz="1400" b="1"/>
          </a:p>
        </p:txBody>
      </p:sp>
      <p:sp>
        <p:nvSpPr>
          <p:cNvPr id="2" name="Caixa de Texto 1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Governança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2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 rot="0">
            <a:off x="126365" y="1673225"/>
            <a:ext cx="1833245" cy="2484755"/>
            <a:chOff x="-744" y="2138"/>
            <a:chExt cx="2058" cy="1998"/>
          </a:xfrm>
        </p:grpSpPr>
        <p:sp>
          <p:nvSpPr>
            <p:cNvPr id="9" name="Retângulo arredondado 8"/>
            <p:cNvSpPr/>
            <p:nvPr/>
          </p:nvSpPr>
          <p:spPr>
            <a:xfrm>
              <a:off x="-744" y="2360"/>
              <a:ext cx="1856" cy="1776"/>
            </a:xfrm>
            <a:prstGeom prst="roundRect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pt-BR" sz="900">
                <a:solidFill>
                  <a:schemeClr val="bg1">
                    <a:lumMod val="75000"/>
                  </a:schemeClr>
                </a:solidFill>
              </a:endParaRPr>
            </a:p>
            <a:p>
              <a:pPr algn="l"/>
              <a:r>
                <a:rPr lang="en-US" altLang="pt-BR" sz="1300" b="1">
                  <a:solidFill>
                    <a:schemeClr val="bg1">
                      <a:lumMod val="75000"/>
                    </a:schemeClr>
                  </a:solidFill>
                </a:rPr>
                <a:t>Identificação e avaliação</a:t>
              </a:r>
              <a:r>
                <a:rPr lang="en-US" altLang="pt-BR" sz="1300">
                  <a:solidFill>
                    <a:schemeClr val="bg1">
                      <a:lumMod val="75000"/>
                    </a:schemeClr>
                  </a:solidFill>
                </a:rPr>
                <a:t> de possíveis bases de dados úteis </a:t>
              </a:r>
              <a:r>
                <a:rPr lang="en-US" altLang="en-US" sz="1300">
                  <a:solidFill>
                    <a:schemeClr val="bg1">
                      <a:lumMod val="75000"/>
                    </a:schemeClr>
                  </a:solidFill>
                </a:rPr>
                <a:t>à pesquisa em saúde.</a:t>
              </a:r>
              <a:endParaRPr lang="en-US" altLang="en-US" sz="130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tângulo arredondado 9"/>
            <p:cNvSpPr/>
            <p:nvPr/>
          </p:nvSpPr>
          <p:spPr>
            <a:xfrm>
              <a:off x="-422" y="2138"/>
              <a:ext cx="1736" cy="368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pt-BR" sz="1600" b="1" dirty="0" err="1">
                  <a:solidFill>
                    <a:schemeClr val="bg1">
                      <a:lumMod val="75000"/>
                    </a:schemeClr>
                  </a:solidFill>
                </a:rPr>
                <a:t>Identificação</a:t>
              </a:r>
              <a:endParaRPr lang="en-US" altLang="pt-BR" sz="1600" b="1" dirty="0" err="1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99" name="Grupo 98"/>
          <p:cNvGrpSpPr/>
          <p:nvPr/>
        </p:nvGrpSpPr>
        <p:grpSpPr>
          <a:xfrm>
            <a:off x="1959610" y="1703070"/>
            <a:ext cx="1631315" cy="2454910"/>
            <a:chOff x="3086" y="2681"/>
            <a:chExt cx="2569" cy="3866"/>
          </a:xfrm>
        </p:grpSpPr>
        <p:cxnSp>
          <p:nvCxnSpPr>
            <p:cNvPr id="53" name="Conector de Seta Reta 52"/>
            <p:cNvCxnSpPr/>
            <p:nvPr/>
          </p:nvCxnSpPr>
          <p:spPr>
            <a:xfrm>
              <a:off x="3086" y="2960"/>
              <a:ext cx="428" cy="1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upo 3"/>
            <p:cNvGrpSpPr/>
            <p:nvPr/>
          </p:nvGrpSpPr>
          <p:grpSpPr>
            <a:xfrm rot="0">
              <a:off x="3107" y="2681"/>
              <a:ext cx="2548" cy="3867"/>
              <a:chOff x="-744" y="2138"/>
              <a:chExt cx="2058" cy="1998"/>
            </a:xfrm>
          </p:grpSpPr>
          <p:sp>
            <p:nvSpPr>
              <p:cNvPr id="6" name="Retângulo arredondado 5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lang="en-US" altLang="pt-BR" sz="130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Download 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dos dados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implementação 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rotinas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automatizadas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atualização.</a:t>
                </a:r>
                <a:r>
                  <a:rPr lang="en-US" altLang="en-US" sz="14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</a:t>
                </a:r>
                <a:endParaRPr lang="en-US" altLang="en-US" sz="1400" dirty="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7" name="Retângulo arredondado 6"/>
              <p:cNvSpPr/>
              <p:nvPr/>
            </p:nvSpPr>
            <p:spPr>
              <a:xfrm>
                <a:off x="-422" y="2138"/>
                <a:ext cx="1736" cy="355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Obtenção</a:t>
                </a:r>
                <a:endParaRPr lang="en-US" altLang="pt-BR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0" name="Grupo 99"/>
          <p:cNvGrpSpPr/>
          <p:nvPr/>
        </p:nvGrpSpPr>
        <p:grpSpPr>
          <a:xfrm>
            <a:off x="3599180" y="1681480"/>
            <a:ext cx="1714500" cy="2476500"/>
            <a:chOff x="5668" y="2648"/>
            <a:chExt cx="2700" cy="3900"/>
          </a:xfrm>
        </p:grpSpPr>
        <p:cxnSp>
          <p:nvCxnSpPr>
            <p:cNvPr id="70" name="Conector de Seta Reta 69"/>
            <p:cNvCxnSpPr/>
            <p:nvPr/>
          </p:nvCxnSpPr>
          <p:spPr>
            <a:xfrm>
              <a:off x="5668" y="2995"/>
              <a:ext cx="403" cy="1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upo 16"/>
            <p:cNvGrpSpPr/>
            <p:nvPr/>
          </p:nvGrpSpPr>
          <p:grpSpPr>
            <a:xfrm rot="0">
              <a:off x="5681" y="2648"/>
              <a:ext cx="2687" cy="3900"/>
              <a:chOff x="-711" y="2138"/>
              <a:chExt cx="2025" cy="1998"/>
            </a:xfrm>
          </p:grpSpPr>
          <p:sp>
            <p:nvSpPr>
              <p:cNvPr id="18" name="Retângulo arredondado 17"/>
              <p:cNvSpPr/>
              <p:nvPr/>
            </p:nvSpPr>
            <p:spPr>
              <a:xfrm>
                <a:off x="-711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Pré-processamento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dos dados antes da ingestão no </a:t>
                </a:r>
                <a:r>
                  <a:rPr lang="en-US" altLang="en-US" sz="1300" i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datalake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19" name="Retângulo arredondado 18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Preparação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1" name="Grupo 100"/>
          <p:cNvGrpSpPr/>
          <p:nvPr/>
        </p:nvGrpSpPr>
        <p:grpSpPr>
          <a:xfrm>
            <a:off x="5313680" y="1673225"/>
            <a:ext cx="1492250" cy="2476500"/>
            <a:chOff x="8373" y="2635"/>
            <a:chExt cx="2350" cy="3900"/>
          </a:xfrm>
        </p:grpSpPr>
        <p:cxnSp>
          <p:nvCxnSpPr>
            <p:cNvPr id="71" name="Conector de Seta Reta 70"/>
            <p:cNvCxnSpPr/>
            <p:nvPr/>
          </p:nvCxnSpPr>
          <p:spPr>
            <a:xfrm>
              <a:off x="8373" y="2947"/>
              <a:ext cx="40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upo 2"/>
            <p:cNvGrpSpPr/>
            <p:nvPr/>
          </p:nvGrpSpPr>
          <p:grpSpPr>
            <a:xfrm rot="0">
              <a:off x="8433" y="2635"/>
              <a:ext cx="2290" cy="3900"/>
              <a:chOff x="-744" y="2138"/>
              <a:chExt cx="2058" cy="1998"/>
            </a:xfrm>
          </p:grpSpPr>
          <p:sp>
            <p:nvSpPr>
              <p:cNvPr id="5" name="Retângulo arredondado 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Upload dos dados</a:t>
                </a:r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no Google Bigquery.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11" name="Retângulo arredondado 10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Ingestão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2" name="Grupo 101"/>
          <p:cNvGrpSpPr/>
          <p:nvPr/>
        </p:nvGrpSpPr>
        <p:grpSpPr>
          <a:xfrm>
            <a:off x="6809740" y="1681480"/>
            <a:ext cx="1869440" cy="2476500"/>
            <a:chOff x="10724" y="2648"/>
            <a:chExt cx="2944" cy="3900"/>
          </a:xfrm>
        </p:grpSpPr>
        <p:cxnSp>
          <p:nvCxnSpPr>
            <p:cNvPr id="74" name="Conector de Seta Reta 73"/>
            <p:cNvCxnSpPr/>
            <p:nvPr/>
          </p:nvCxnSpPr>
          <p:spPr>
            <a:xfrm>
              <a:off x="10727" y="2947"/>
              <a:ext cx="44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o 20"/>
            <p:cNvGrpSpPr/>
            <p:nvPr/>
          </p:nvGrpSpPr>
          <p:grpSpPr>
            <a:xfrm rot="0">
              <a:off x="10724" y="2648"/>
              <a:ext cx="2945" cy="3900"/>
              <a:chOff x="-744" y="2138"/>
              <a:chExt cx="2058" cy="1998"/>
            </a:xfrm>
          </p:grpSpPr>
          <p:sp>
            <p:nvSpPr>
              <p:cNvPr id="22" name="Retângulo arredondado 21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Tratamento 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  <a:p>
                <a:pPr algn="l"/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e </a:t>
                </a:r>
                <a:r>
                  <a:rPr lang="en-US" altLang="en-US" sz="13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configuração dos dados </a:t>
                </a:r>
                <a:r>
                  <a:rPr lang="en-US" altLang="en-US" sz="130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no Google Bigquery para a extração.</a:t>
                </a:r>
                <a:endParaRPr lang="en-US" altLang="en-US" sz="1300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23" name="Retângulo arredondado 22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Configuração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3" name="Grupo 102"/>
          <p:cNvGrpSpPr/>
          <p:nvPr/>
        </p:nvGrpSpPr>
        <p:grpSpPr>
          <a:xfrm>
            <a:off x="8679815" y="1681480"/>
            <a:ext cx="1769110" cy="2476500"/>
            <a:chOff x="13669" y="2648"/>
            <a:chExt cx="2786" cy="3900"/>
          </a:xfrm>
        </p:grpSpPr>
        <p:cxnSp>
          <p:nvCxnSpPr>
            <p:cNvPr id="78" name="Conector de Seta Reta 77"/>
            <p:cNvCxnSpPr/>
            <p:nvPr/>
          </p:nvCxnSpPr>
          <p:spPr>
            <a:xfrm>
              <a:off x="13669" y="2947"/>
              <a:ext cx="44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 rot="0">
              <a:off x="13719" y="2648"/>
              <a:ext cx="2736" cy="3900"/>
              <a:chOff x="-744" y="2138"/>
              <a:chExt cx="2058" cy="1998"/>
            </a:xfrm>
          </p:grpSpPr>
          <p:sp>
            <p:nvSpPr>
              <p:cNvPr id="25" name="Retângulo arredondado 24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Organização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dos </a:t>
                </a:r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metadados</a:t>
                </a:r>
                <a:r>
                  <a:rPr lang="en-US" altLang="en-US" sz="1300" b="1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: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cadastramento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dos datasets,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geração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catalogação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 de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metadados no </a:t>
                </a:r>
                <a:r>
                  <a:rPr lang="en-US" altLang="en-US" sz="1300" dirty="0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ataverse.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26" name="Retângulo arredondado 25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Catalogação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</p:grpSp>
      <p:grpSp>
        <p:nvGrpSpPr>
          <p:cNvPr id="104" name="Grupo 103"/>
          <p:cNvGrpSpPr/>
          <p:nvPr/>
        </p:nvGrpSpPr>
        <p:grpSpPr>
          <a:xfrm>
            <a:off x="10448925" y="1673225"/>
            <a:ext cx="1709420" cy="2476500"/>
            <a:chOff x="16455" y="2635"/>
            <a:chExt cx="2692" cy="3900"/>
          </a:xfrm>
        </p:grpSpPr>
        <p:grpSp>
          <p:nvGrpSpPr>
            <p:cNvPr id="43" name="Grupo 42"/>
            <p:cNvGrpSpPr/>
            <p:nvPr/>
          </p:nvGrpSpPr>
          <p:grpSpPr>
            <a:xfrm rot="0">
              <a:off x="16543" y="2635"/>
              <a:ext cx="2604" cy="3900"/>
              <a:chOff x="-744" y="2138"/>
              <a:chExt cx="2058" cy="1998"/>
            </a:xfrm>
          </p:grpSpPr>
          <p:sp>
            <p:nvSpPr>
              <p:cNvPr id="44" name="Retângulo arredondado 43"/>
              <p:cNvSpPr/>
              <p:nvPr/>
            </p:nvSpPr>
            <p:spPr>
              <a:xfrm>
                <a:off x="-744" y="2360"/>
                <a:ext cx="1856" cy="1776"/>
              </a:xfrm>
              <a:prstGeom prst="roundRect">
                <a:avLst/>
              </a:prstGeom>
              <a:ln w="12700">
                <a:solidFill>
                  <a:srgbClr val="54823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l"/>
                <a:r>
                  <a:rPr lang="en-US" altLang="en-US" sz="1300" b="1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Dados e metadados disponíveis </a:t>
                </a:r>
                <a:r>
                  <a:rPr lang="en-US" altLang="en-US" sz="1300" dirty="0" err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para acesso através das aplicações de extração.</a:t>
                </a:r>
                <a:endParaRPr lang="en-US" altLang="en-US" sz="1300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  <p:sp>
            <p:nvSpPr>
              <p:cNvPr id="45" name="Retângulo arredondado 44"/>
              <p:cNvSpPr/>
              <p:nvPr/>
            </p:nvSpPr>
            <p:spPr>
              <a:xfrm>
                <a:off x="-422" y="2138"/>
                <a:ext cx="1736" cy="36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bg1">
                        <a:lumMod val="75000"/>
                      </a:schemeClr>
                    </a:solidFill>
                    <a:sym typeface="+mn-ea"/>
                  </a:rPr>
                  <a:t>Acesso</a:t>
                </a:r>
                <a:endParaRPr lang="en-US" altLang="en-US" sz="1600" b="1" dirty="0" err="1">
                  <a:solidFill>
                    <a:schemeClr val="bg1">
                      <a:lumMod val="75000"/>
                    </a:schemeClr>
                  </a:solidFill>
                  <a:sym typeface="+mn-ea"/>
                </a:endParaRPr>
              </a:p>
            </p:txBody>
          </p:sp>
        </p:grpSp>
        <p:cxnSp>
          <p:nvCxnSpPr>
            <p:cNvPr id="79" name="Conector de Seta Reta 78"/>
            <p:cNvCxnSpPr/>
            <p:nvPr/>
          </p:nvCxnSpPr>
          <p:spPr>
            <a:xfrm>
              <a:off x="16455" y="2961"/>
              <a:ext cx="461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tângulo arredondado 15"/>
          <p:cNvSpPr/>
          <p:nvPr/>
        </p:nvSpPr>
        <p:spPr>
          <a:xfrm>
            <a:off x="126365" y="4276725"/>
            <a:ext cx="11868785" cy="285750"/>
          </a:xfrm>
          <a:prstGeom prst="roundRect">
            <a:avLst/>
          </a:prstGeom>
          <a:solidFill>
            <a:srgbClr val="E74410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 b="1">
                <a:sym typeface="+mn-ea"/>
              </a:rPr>
              <a:t>TECNOLOGIAS</a:t>
            </a:r>
            <a:endParaRPr lang="en-US" altLang="pt-BR" sz="1400" b="1"/>
          </a:p>
        </p:txBody>
      </p:sp>
      <p:grpSp>
        <p:nvGrpSpPr>
          <p:cNvPr id="37" name="Grupo 36"/>
          <p:cNvGrpSpPr/>
          <p:nvPr/>
        </p:nvGrpSpPr>
        <p:grpSpPr>
          <a:xfrm>
            <a:off x="126365" y="4747260"/>
            <a:ext cx="11793855" cy="1637665"/>
            <a:chOff x="199" y="7476"/>
            <a:chExt cx="18573" cy="2579"/>
          </a:xfrm>
        </p:grpSpPr>
        <p:sp>
          <p:nvSpPr>
            <p:cNvPr id="8" name="Fluxograma: Processo 7"/>
            <p:cNvSpPr/>
            <p:nvPr/>
          </p:nvSpPr>
          <p:spPr>
            <a:xfrm>
              <a:off x="284" y="7507"/>
              <a:ext cx="18488" cy="2548"/>
            </a:xfrm>
            <a:prstGeom prst="flowChartProcess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" y="7697"/>
              <a:ext cx="2365" cy="1332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6" y="9167"/>
              <a:ext cx="810" cy="627"/>
            </a:xfrm>
            <a:prstGeom prst="rect">
              <a:avLst/>
            </a:prstGeom>
          </p:spPr>
        </p:pic>
        <p:pic>
          <p:nvPicPr>
            <p:cNvPr id="28" name="Imagem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8" y="8069"/>
              <a:ext cx="1993" cy="770"/>
            </a:xfrm>
            <a:prstGeom prst="rect">
              <a:avLst/>
            </a:prstGeom>
          </p:spPr>
        </p:pic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51" y="8662"/>
              <a:ext cx="2246" cy="1265"/>
            </a:xfrm>
            <a:prstGeom prst="rect">
              <a:avLst/>
            </a:prstGeom>
          </p:spPr>
        </p:pic>
        <p:pic>
          <p:nvPicPr>
            <p:cNvPr id="30" name="Imagem 29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448" y="7476"/>
              <a:ext cx="1774" cy="1774"/>
            </a:xfrm>
            <a:prstGeom prst="rect">
              <a:avLst/>
            </a:prstGeom>
          </p:spPr>
        </p:pic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95" y="7697"/>
              <a:ext cx="1714" cy="888"/>
            </a:xfrm>
            <a:prstGeom prst="rect">
              <a:avLst/>
            </a:prstGeom>
          </p:spPr>
        </p:pic>
        <p:pic>
          <p:nvPicPr>
            <p:cNvPr id="33" name="Imagem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85" y="9167"/>
              <a:ext cx="997" cy="466"/>
            </a:xfrm>
            <a:prstGeom prst="rect">
              <a:avLst/>
            </a:prstGeom>
          </p:spPr>
        </p:pic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850" y="7973"/>
              <a:ext cx="1734" cy="728"/>
            </a:xfrm>
            <a:prstGeom prst="rect">
              <a:avLst/>
            </a:prstGeom>
          </p:spPr>
        </p:pic>
        <p:pic>
          <p:nvPicPr>
            <p:cNvPr id="41" name="Imagem 4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40" y="9040"/>
              <a:ext cx="1691" cy="957"/>
            </a:xfrm>
            <a:prstGeom prst="rect">
              <a:avLst/>
            </a:prstGeom>
          </p:spPr>
        </p:pic>
        <p:grpSp>
          <p:nvGrpSpPr>
            <p:cNvPr id="32" name="Grupo 31"/>
            <p:cNvGrpSpPr/>
            <p:nvPr/>
          </p:nvGrpSpPr>
          <p:grpSpPr>
            <a:xfrm>
              <a:off x="4880" y="8084"/>
              <a:ext cx="1955" cy="700"/>
              <a:chOff x="5931" y="9071"/>
              <a:chExt cx="1955" cy="700"/>
            </a:xfrm>
          </p:grpSpPr>
          <p:pic>
            <p:nvPicPr>
              <p:cNvPr id="42" name="Imagem 41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1" y="9071"/>
                <a:ext cx="788" cy="701"/>
              </a:xfrm>
              <a:prstGeom prst="rect">
                <a:avLst/>
              </a:prstGeom>
            </p:spPr>
          </p:pic>
          <p:sp>
            <p:nvSpPr>
              <p:cNvPr id="34" name="Caixa de Texto 33"/>
              <p:cNvSpPr txBox="1"/>
              <p:nvPr/>
            </p:nvSpPr>
            <p:spPr>
              <a:xfrm>
                <a:off x="6732" y="9100"/>
                <a:ext cx="1155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pt-BR" sz="1000">
                    <a:solidFill>
                      <a:schemeClr val="bg1">
                        <a:lumMod val="50000"/>
                      </a:schemeClr>
                    </a:solidFill>
                  </a:rPr>
                  <a:t>Compute </a:t>
                </a:r>
                <a:endParaRPr lang="en-US" altLang="pt-BR" sz="100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r>
                  <a:rPr lang="en-US" altLang="pt-BR" sz="1000">
                    <a:solidFill>
                      <a:schemeClr val="bg1">
                        <a:lumMod val="50000"/>
                      </a:schemeClr>
                    </a:solidFill>
                  </a:rPr>
                  <a:t>Engine</a:t>
                </a:r>
                <a:endParaRPr lang="en-US" altLang="pt-BR" sz="10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49" name="Imagem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713" y="9045"/>
              <a:ext cx="798" cy="798"/>
            </a:xfrm>
            <a:prstGeom prst="rect">
              <a:avLst/>
            </a:prstGeom>
          </p:spPr>
        </p:pic>
        <p:pic>
          <p:nvPicPr>
            <p:cNvPr id="50" name="Imagem 4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914" y="8585"/>
              <a:ext cx="1473" cy="1258"/>
            </a:xfrm>
            <a:prstGeom prst="rect">
              <a:avLst/>
            </a:prstGeom>
          </p:spPr>
        </p:pic>
        <p:pic>
          <p:nvPicPr>
            <p:cNvPr id="51" name="Imagem 50"/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757" y="8721"/>
              <a:ext cx="1623" cy="912"/>
            </a:xfrm>
            <a:prstGeom prst="rect">
              <a:avLst/>
            </a:prstGeom>
          </p:spPr>
        </p:pic>
        <p:pic>
          <p:nvPicPr>
            <p:cNvPr id="57" name="Imagem 5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2674" y="7812"/>
              <a:ext cx="2546" cy="973"/>
            </a:xfrm>
            <a:prstGeom prst="rect">
              <a:avLst/>
            </a:prstGeom>
          </p:spPr>
        </p:pic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5130" y="7697"/>
              <a:ext cx="2146" cy="774"/>
            </a:xfrm>
            <a:prstGeom prst="rect">
              <a:avLst/>
            </a:prstGeom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91FFD2">
                    <a:alpha val="100000"/>
                  </a:srgbClr>
                </a:clrFrom>
                <a:clrTo>
                  <a:srgbClr val="91FFD2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48" y="8955"/>
              <a:ext cx="3209" cy="819"/>
            </a:xfrm>
            <a:prstGeom prst="rect">
              <a:avLst/>
            </a:prstGeom>
          </p:spPr>
        </p:pic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sp>
        <p:nvSpPr>
          <p:cNvPr id="14" name="Caixa de Texto 13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Tecnologias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grpSp>
        <p:nvGrpSpPr>
          <p:cNvPr id="20" name="Grupo 19"/>
          <p:cNvGrpSpPr/>
          <p:nvPr/>
        </p:nvGrpSpPr>
        <p:grpSpPr>
          <a:xfrm>
            <a:off x="9626600" y="2324100"/>
            <a:ext cx="1395730" cy="3975735"/>
            <a:chOff x="14992" y="3610"/>
            <a:chExt cx="2198" cy="6261"/>
          </a:xfrm>
        </p:grpSpPr>
        <p:sp>
          <p:nvSpPr>
            <p:cNvPr id="22" name="Caixa de Texto 21"/>
            <p:cNvSpPr txBox="1"/>
            <p:nvPr/>
          </p:nvSpPr>
          <p:spPr>
            <a:xfrm>
              <a:off x="15240" y="3610"/>
              <a:ext cx="165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rgbClr val="F7A521"/>
                  </a:solidFill>
                </a:rPr>
                <a:t>≈ 1.</a:t>
              </a:r>
              <a:r>
                <a:rPr lang="en-US" altLang="en-US" sz="1200" b="1">
                  <a:solidFill>
                    <a:srgbClr val="F7A521"/>
                  </a:solidFill>
                </a:rPr>
                <a:t>59</a:t>
              </a:r>
              <a:r>
                <a:rPr lang="en-US" sz="1200" b="1">
                  <a:solidFill>
                    <a:srgbClr val="F7A521"/>
                  </a:solidFill>
                </a:rPr>
                <a:t> TB</a:t>
              </a:r>
              <a:endParaRPr lang="en-US" sz="1200" b="1">
                <a:solidFill>
                  <a:srgbClr val="F7A521"/>
                </a:solidFill>
              </a:endParaRPr>
            </a:p>
          </p:txBody>
        </p:sp>
        <p:sp>
          <p:nvSpPr>
            <p:cNvPr id="2" name="Caixa de Texto 1"/>
            <p:cNvSpPr txBox="1"/>
            <p:nvPr/>
          </p:nvSpPr>
          <p:spPr>
            <a:xfrm>
              <a:off x="14992" y="9437"/>
              <a:ext cx="21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200" b="1">
                  <a:solidFill>
                    <a:srgbClr val="F7A521"/>
                  </a:solidFill>
                </a:rPr>
                <a:t>Armazenamento</a:t>
              </a:r>
              <a:endParaRPr lang="en-US" altLang="en-US" sz="1200" b="1">
                <a:solidFill>
                  <a:srgbClr val="F7A521"/>
                </a:solidFill>
              </a:endParaRPr>
            </a:p>
          </p:txBody>
        </p:sp>
        <p:grpSp>
          <p:nvGrpSpPr>
            <p:cNvPr id="8" name="Grupo 7"/>
            <p:cNvGrpSpPr/>
            <p:nvPr/>
          </p:nvGrpSpPr>
          <p:grpSpPr>
            <a:xfrm>
              <a:off x="15393" y="4147"/>
              <a:ext cx="1268" cy="5290"/>
              <a:chOff x="15394" y="4147"/>
              <a:chExt cx="1268" cy="5290"/>
            </a:xfrm>
          </p:grpSpPr>
          <p:sp>
            <p:nvSpPr>
              <p:cNvPr id="17" name="Retângulo 16"/>
              <p:cNvSpPr/>
              <p:nvPr/>
            </p:nvSpPr>
            <p:spPr>
              <a:xfrm>
                <a:off x="15470" y="4271"/>
                <a:ext cx="1192" cy="5166"/>
              </a:xfrm>
              <a:prstGeom prst="rect">
                <a:avLst/>
              </a:prstGeom>
              <a:solidFill>
                <a:srgbClr val="F7A521"/>
              </a:solidFill>
              <a:ln w="28575">
                <a:solidFill>
                  <a:srgbClr val="F7A52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altLang="en-US"/>
              </a:p>
            </p:txBody>
          </p:sp>
          <p:pic>
            <p:nvPicPr>
              <p:cNvPr id="79" name="Imagem 78" descr="241306066797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grayscl/>
                <a:lum bright="88000" contrast="-70000"/>
              </a:blip>
              <a:srcRect l="81921" t="77587" r="6975" b="8735"/>
              <a:stretch>
                <a:fillRect/>
              </a:stretch>
            </p:blipFill>
            <p:spPr>
              <a:xfrm>
                <a:off x="15394" y="4147"/>
                <a:ext cx="1033" cy="940"/>
              </a:xfrm>
              <a:prstGeom prst="rect">
                <a:avLst/>
              </a:prstGeom>
            </p:spPr>
          </p:pic>
        </p:grpSp>
      </p:grpSp>
      <p:grpSp>
        <p:nvGrpSpPr>
          <p:cNvPr id="26" name="Grupo 25"/>
          <p:cNvGrpSpPr/>
          <p:nvPr/>
        </p:nvGrpSpPr>
        <p:grpSpPr>
          <a:xfrm>
            <a:off x="10779760" y="1586865"/>
            <a:ext cx="1278255" cy="4699000"/>
            <a:chOff x="16718" y="2446"/>
            <a:chExt cx="2013" cy="7400"/>
          </a:xfrm>
        </p:grpSpPr>
        <p:sp>
          <p:nvSpPr>
            <p:cNvPr id="31" name="Caixa de Texto 30"/>
            <p:cNvSpPr txBox="1"/>
            <p:nvPr/>
          </p:nvSpPr>
          <p:spPr>
            <a:xfrm>
              <a:off x="16991" y="9412"/>
              <a:ext cx="144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200" b="1">
                  <a:solidFill>
                    <a:srgbClr val="8C2416"/>
                  </a:solidFill>
                </a:rPr>
                <a:t>Registros</a:t>
              </a:r>
              <a:endParaRPr lang="en-US" altLang="en-US" sz="1200" b="1">
                <a:solidFill>
                  <a:srgbClr val="8C2416"/>
                </a:solidFill>
              </a:endParaRPr>
            </a:p>
          </p:txBody>
        </p:sp>
        <p:sp>
          <p:nvSpPr>
            <p:cNvPr id="19" name="Caixa de Texto 18"/>
            <p:cNvSpPr txBox="1"/>
            <p:nvPr/>
          </p:nvSpPr>
          <p:spPr>
            <a:xfrm>
              <a:off x="16718" y="2446"/>
              <a:ext cx="20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rgbClr val="8C2416"/>
                  </a:solidFill>
                  <a:sym typeface="+mn-ea"/>
                </a:rPr>
                <a:t>≈ </a:t>
              </a:r>
              <a:r>
                <a:rPr lang="en-US" altLang="en-US" sz="1200" b="1">
                  <a:solidFill>
                    <a:srgbClr val="8C2416"/>
                  </a:solidFill>
                  <a:sym typeface="+mn-ea"/>
                </a:rPr>
                <a:t>8.98 bi</a:t>
              </a:r>
              <a:endParaRPr lang="en-US" altLang="en-US" sz="1200" b="1">
                <a:solidFill>
                  <a:srgbClr val="8C2416"/>
                </a:solidFill>
                <a:sym typeface="+mn-ea"/>
              </a:endParaRPr>
            </a:p>
            <a:p>
              <a:pPr algn="ctr"/>
              <a:r>
                <a:rPr lang="en-US" altLang="en-US" sz="1200" b="1">
                  <a:solidFill>
                    <a:srgbClr val="8C2416"/>
                  </a:solidFill>
                  <a:sym typeface="+mn-ea"/>
                </a:rPr>
                <a:t>de linhas</a:t>
              </a:r>
              <a:endParaRPr lang="en-US" altLang="en-US" sz="1200" b="1">
                <a:solidFill>
                  <a:srgbClr val="8C2416"/>
                </a:solidFill>
                <a:sym typeface="+mn-ea"/>
              </a:endParaRPr>
            </a:p>
          </p:txBody>
        </p:sp>
        <p:grpSp>
          <p:nvGrpSpPr>
            <p:cNvPr id="9" name="Grupo 8"/>
            <p:cNvGrpSpPr/>
            <p:nvPr/>
          </p:nvGrpSpPr>
          <p:grpSpPr>
            <a:xfrm>
              <a:off x="17014" y="3171"/>
              <a:ext cx="1260" cy="6266"/>
              <a:chOff x="17014" y="3171"/>
              <a:chExt cx="1260" cy="6266"/>
            </a:xfrm>
          </p:grpSpPr>
          <p:sp>
            <p:nvSpPr>
              <p:cNvPr id="18" name="Retângulo 17"/>
              <p:cNvSpPr/>
              <p:nvPr/>
            </p:nvSpPr>
            <p:spPr>
              <a:xfrm>
                <a:off x="17086" y="3293"/>
                <a:ext cx="1189" cy="6144"/>
              </a:xfrm>
              <a:prstGeom prst="rect">
                <a:avLst/>
              </a:prstGeom>
              <a:solidFill>
                <a:srgbClr val="8C2416"/>
              </a:solidFill>
              <a:ln w="28575">
                <a:solidFill>
                  <a:srgbClr val="8C2416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altLang="en-US"/>
              </a:p>
            </p:txBody>
          </p:sp>
          <p:pic>
            <p:nvPicPr>
              <p:cNvPr id="82" name="Imagem 81" descr="241306066797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100000"/>
              </a:blip>
              <a:srcRect l="36340" t="42244" r="51685" b="43427"/>
              <a:stretch>
                <a:fillRect/>
              </a:stretch>
            </p:blipFill>
            <p:spPr>
              <a:xfrm>
                <a:off x="17014" y="3171"/>
                <a:ext cx="952" cy="976"/>
              </a:xfrm>
              <a:prstGeom prst="rect">
                <a:avLst/>
              </a:prstGeom>
            </p:spPr>
          </p:pic>
        </p:grpSp>
      </p:grpSp>
      <p:grpSp>
        <p:nvGrpSpPr>
          <p:cNvPr id="12" name="Grupo 11"/>
          <p:cNvGrpSpPr/>
          <p:nvPr/>
        </p:nvGrpSpPr>
        <p:grpSpPr>
          <a:xfrm>
            <a:off x="7585075" y="4242435"/>
            <a:ext cx="1044575" cy="2058670"/>
            <a:chOff x="11854" y="6681"/>
            <a:chExt cx="1645" cy="3242"/>
          </a:xfrm>
        </p:grpSpPr>
        <p:sp>
          <p:nvSpPr>
            <p:cNvPr id="50" name="Caixa de Texto 49"/>
            <p:cNvSpPr txBox="1"/>
            <p:nvPr/>
          </p:nvSpPr>
          <p:spPr>
            <a:xfrm>
              <a:off x="11978" y="9489"/>
              <a:ext cx="144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200" b="1" i="1">
                  <a:solidFill>
                    <a:srgbClr val="8C2416"/>
                  </a:solidFill>
                </a:rPr>
                <a:t>Datasets</a:t>
              </a:r>
              <a:endParaRPr lang="en-US" altLang="en-US" sz="1200" b="1" i="1">
                <a:solidFill>
                  <a:srgbClr val="8C2416"/>
                </a:solidFill>
              </a:endParaRPr>
            </a:p>
          </p:txBody>
        </p:sp>
        <p:sp>
          <p:nvSpPr>
            <p:cNvPr id="52" name="Caixa de Texto 51"/>
            <p:cNvSpPr txBox="1"/>
            <p:nvPr/>
          </p:nvSpPr>
          <p:spPr>
            <a:xfrm>
              <a:off x="11854" y="6681"/>
              <a:ext cx="164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200" b="1" dirty="0">
                  <a:solidFill>
                    <a:srgbClr val="8C2416"/>
                  </a:solidFill>
                  <a:sym typeface="+mn-ea"/>
                </a:rPr>
                <a:t>178</a:t>
              </a:r>
              <a:endParaRPr lang="en-US" altLang="en-US" sz="1200" b="1" dirty="0">
                <a:solidFill>
                  <a:srgbClr val="8C2416"/>
                </a:solidFill>
                <a:sym typeface="+mn-ea"/>
              </a:endParaRPr>
            </a:p>
            <a:p>
              <a:pPr algn="ctr"/>
              <a:r>
                <a:rPr lang="en-US" altLang="en-US" sz="1200" b="1" i="1" dirty="0">
                  <a:solidFill>
                    <a:srgbClr val="8C2416"/>
                  </a:solidFill>
                  <a:sym typeface="+mn-ea"/>
                </a:rPr>
                <a:t>datasets</a:t>
              </a:r>
              <a:endParaRPr lang="en-US" altLang="en-US" sz="1200" b="1" i="1" dirty="0">
                <a:solidFill>
                  <a:srgbClr val="8C2416"/>
                </a:solidFill>
                <a:sym typeface="+mn-ea"/>
              </a:endParaRPr>
            </a:p>
            <a:p>
              <a:pPr algn="ctr"/>
              <a:r>
                <a:rPr lang="en-US" altLang="en-US" sz="1200" b="1" dirty="0" err="1">
                  <a:solidFill>
                    <a:srgbClr val="8C2416"/>
                  </a:solidFill>
                  <a:sym typeface="+mn-ea"/>
                </a:rPr>
                <a:t>disponíveis</a:t>
              </a:r>
              <a:endParaRPr lang="en-US" altLang="en-US" sz="1200" b="1" dirty="0">
                <a:solidFill>
                  <a:srgbClr val="8C2416"/>
                </a:solidFill>
                <a:sym typeface="+mn-ea"/>
              </a:endParaRPr>
            </a:p>
          </p:txBody>
        </p:sp>
        <p:grpSp>
          <p:nvGrpSpPr>
            <p:cNvPr id="6" name="Grupo 5"/>
            <p:cNvGrpSpPr/>
            <p:nvPr/>
          </p:nvGrpSpPr>
          <p:grpSpPr>
            <a:xfrm>
              <a:off x="12102" y="7705"/>
              <a:ext cx="1192" cy="1781"/>
              <a:chOff x="12103" y="7655"/>
              <a:chExt cx="1192" cy="1781"/>
            </a:xfrm>
          </p:grpSpPr>
          <p:sp>
            <p:nvSpPr>
              <p:cNvPr id="73" name="Retângulo 72"/>
              <p:cNvSpPr/>
              <p:nvPr/>
            </p:nvSpPr>
            <p:spPr>
              <a:xfrm>
                <a:off x="12103" y="7760"/>
                <a:ext cx="1192" cy="1677"/>
              </a:xfrm>
              <a:prstGeom prst="rect">
                <a:avLst/>
              </a:prstGeom>
              <a:solidFill>
                <a:srgbClr val="8C2416"/>
              </a:solidFill>
              <a:ln w="28575">
                <a:solidFill>
                  <a:srgbClr val="8C2416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altLang="en-US"/>
              </a:p>
            </p:txBody>
          </p:sp>
          <p:pic>
            <p:nvPicPr>
              <p:cNvPr id="83" name="Imagem 82" descr="241306066797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100000"/>
              </a:blip>
              <a:srcRect l="52062" t="24670" r="36776" b="62880"/>
              <a:stretch>
                <a:fillRect/>
              </a:stretch>
            </p:blipFill>
            <p:spPr>
              <a:xfrm>
                <a:off x="12104" y="7655"/>
                <a:ext cx="925" cy="882"/>
              </a:xfrm>
              <a:prstGeom prst="rect">
                <a:avLst/>
              </a:prstGeom>
            </p:spPr>
          </p:pic>
        </p:grpSp>
      </p:grpSp>
      <p:grpSp>
        <p:nvGrpSpPr>
          <p:cNvPr id="13" name="Grupo 12"/>
          <p:cNvGrpSpPr/>
          <p:nvPr/>
        </p:nvGrpSpPr>
        <p:grpSpPr>
          <a:xfrm>
            <a:off x="8629650" y="3866515"/>
            <a:ext cx="1212215" cy="2435225"/>
            <a:chOff x="13447" y="6089"/>
            <a:chExt cx="1909" cy="3835"/>
          </a:xfrm>
        </p:grpSpPr>
        <p:sp>
          <p:nvSpPr>
            <p:cNvPr id="30" name="Caixa de Texto 29"/>
            <p:cNvSpPr txBox="1"/>
            <p:nvPr/>
          </p:nvSpPr>
          <p:spPr>
            <a:xfrm>
              <a:off x="13713" y="9490"/>
              <a:ext cx="143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200" b="1">
                  <a:solidFill>
                    <a:srgbClr val="E74410"/>
                  </a:solidFill>
                </a:rPr>
                <a:t>Arquivos</a:t>
              </a:r>
              <a:endParaRPr lang="en-US" altLang="en-US" sz="1200" b="1">
                <a:solidFill>
                  <a:srgbClr val="E74410"/>
                </a:solidFill>
              </a:endParaRPr>
            </a:p>
          </p:txBody>
        </p:sp>
        <p:sp>
          <p:nvSpPr>
            <p:cNvPr id="16" name="Caixa de Texto 15"/>
            <p:cNvSpPr txBox="1"/>
            <p:nvPr/>
          </p:nvSpPr>
          <p:spPr>
            <a:xfrm>
              <a:off x="13447" y="6089"/>
              <a:ext cx="190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200" b="1">
                  <a:solidFill>
                    <a:srgbClr val="E74410"/>
                  </a:solidFill>
                </a:rPr>
                <a:t>2.167</a:t>
              </a:r>
              <a:endParaRPr lang="en-US" altLang="en-US" sz="1200" b="1">
                <a:solidFill>
                  <a:srgbClr val="E74410"/>
                </a:solidFill>
              </a:endParaRPr>
            </a:p>
            <a:p>
              <a:pPr algn="ctr"/>
              <a:r>
                <a:rPr lang="en-US" altLang="en-US" sz="1200" b="1">
                  <a:solidFill>
                    <a:srgbClr val="E74410"/>
                  </a:solidFill>
                </a:rPr>
                <a:t>tabelas</a:t>
              </a:r>
              <a:endParaRPr lang="en-US" altLang="en-US" sz="1200" b="1">
                <a:solidFill>
                  <a:srgbClr val="E74410"/>
                </a:solidFill>
              </a:endParaRPr>
            </a:p>
          </p:txBody>
        </p:sp>
        <p:grpSp>
          <p:nvGrpSpPr>
            <p:cNvPr id="7" name="Grupo 6"/>
            <p:cNvGrpSpPr/>
            <p:nvPr/>
          </p:nvGrpSpPr>
          <p:grpSpPr>
            <a:xfrm>
              <a:off x="13790" y="6811"/>
              <a:ext cx="1192" cy="2690"/>
              <a:chOff x="13834" y="6746"/>
              <a:chExt cx="1192" cy="2690"/>
            </a:xfrm>
          </p:grpSpPr>
          <p:sp>
            <p:nvSpPr>
              <p:cNvPr id="72" name="Retângulo 71"/>
              <p:cNvSpPr/>
              <p:nvPr/>
            </p:nvSpPr>
            <p:spPr>
              <a:xfrm>
                <a:off x="13834" y="6874"/>
                <a:ext cx="1192" cy="2563"/>
              </a:xfrm>
              <a:prstGeom prst="rect">
                <a:avLst/>
              </a:prstGeom>
              <a:solidFill>
                <a:srgbClr val="E74410"/>
              </a:solidFill>
              <a:ln w="28575">
                <a:solidFill>
                  <a:srgbClr val="E7441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altLang="en-US"/>
              </a:p>
            </p:txBody>
          </p:sp>
          <p:pic>
            <p:nvPicPr>
              <p:cNvPr id="84" name="Imagem 83" descr="241306066797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100000"/>
              </a:blip>
              <a:srcRect l="36340" t="42244" r="51685" b="43427"/>
              <a:stretch>
                <a:fillRect/>
              </a:stretch>
            </p:blipFill>
            <p:spPr>
              <a:xfrm>
                <a:off x="13863" y="6746"/>
                <a:ext cx="952" cy="976"/>
              </a:xfrm>
              <a:prstGeom prst="rect">
                <a:avLst/>
              </a:prstGeom>
            </p:spPr>
          </p:pic>
        </p:grpSp>
      </p:grpSp>
      <p:grpSp>
        <p:nvGrpSpPr>
          <p:cNvPr id="64" name="Grupo 63"/>
          <p:cNvGrpSpPr/>
          <p:nvPr/>
        </p:nvGrpSpPr>
        <p:grpSpPr>
          <a:xfrm>
            <a:off x="83652" y="3132455"/>
            <a:ext cx="6127750" cy="3371215"/>
            <a:chOff x="5351" y="7249"/>
            <a:chExt cx="7275" cy="384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pic>
          <p:nvPicPr>
            <p:cNvPr id="63" name="Imagem 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1" y="7452"/>
              <a:ext cx="5575" cy="3093"/>
            </a:xfrm>
            <a:prstGeom prst="rect">
              <a:avLst/>
            </a:prstGeom>
          </p:spPr>
        </p:pic>
        <p:pic>
          <p:nvPicPr>
            <p:cNvPr id="59" name="Imagem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1" y="7249"/>
              <a:ext cx="7275" cy="3842"/>
            </a:xfrm>
            <a:prstGeom prst="rect">
              <a:avLst/>
            </a:prstGeom>
          </p:spPr>
        </p:pic>
      </p:grpSp>
      <p:sp>
        <p:nvSpPr>
          <p:cNvPr id="53" name="Caixa de Texto 52"/>
          <p:cNvSpPr txBox="1"/>
          <p:nvPr/>
        </p:nvSpPr>
        <p:spPr>
          <a:xfrm>
            <a:off x="1802765" y="2856230"/>
            <a:ext cx="245427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1200">
                <a:solidFill>
                  <a:srgbClr val="8C2416"/>
                </a:solidFill>
              </a:rPr>
              <a:t>Aplicativo desktop</a:t>
            </a:r>
            <a:endParaRPr lang="en-US" altLang="en-US" sz="1200">
              <a:solidFill>
                <a:srgbClr val="8C2416"/>
              </a:solidFill>
            </a:endParaRPr>
          </a:p>
        </p:txBody>
      </p:sp>
      <p:grpSp>
        <p:nvGrpSpPr>
          <p:cNvPr id="54" name="Grupo 53"/>
          <p:cNvGrpSpPr/>
          <p:nvPr/>
        </p:nvGrpSpPr>
        <p:grpSpPr>
          <a:xfrm>
            <a:off x="6336030" y="1083945"/>
            <a:ext cx="1368425" cy="5402580"/>
            <a:chOff x="9978" y="1707"/>
            <a:chExt cx="2155" cy="8508"/>
          </a:xfrm>
        </p:grpSpPr>
        <p:grpSp>
          <p:nvGrpSpPr>
            <p:cNvPr id="55" name="Grupo 54"/>
            <p:cNvGrpSpPr/>
            <p:nvPr/>
          </p:nvGrpSpPr>
          <p:grpSpPr>
            <a:xfrm>
              <a:off x="9978" y="7196"/>
              <a:ext cx="2155" cy="3019"/>
              <a:chOff x="9978" y="7196"/>
              <a:chExt cx="2155" cy="3019"/>
            </a:xfrm>
          </p:grpSpPr>
          <p:sp>
            <p:nvSpPr>
              <p:cNvPr id="56" name="Caixa de Texto 55"/>
              <p:cNvSpPr txBox="1"/>
              <p:nvPr/>
            </p:nvSpPr>
            <p:spPr>
              <a:xfrm>
                <a:off x="10027" y="9490"/>
                <a:ext cx="201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en-US" sz="1200" b="1">
                    <a:solidFill>
                      <a:srgbClr val="F7A521"/>
                    </a:solidFill>
                  </a:rPr>
                  <a:t>Fontes </a:t>
                </a:r>
                <a:endParaRPr lang="en-US" altLang="en-US" sz="1200" b="1">
                  <a:solidFill>
                    <a:srgbClr val="F7A521"/>
                  </a:solidFill>
                </a:endParaRPr>
              </a:p>
              <a:p>
                <a:pPr algn="ctr"/>
                <a:r>
                  <a:rPr lang="en-US" altLang="en-US" sz="1200" b="1">
                    <a:solidFill>
                      <a:srgbClr val="F7A521"/>
                    </a:solidFill>
                  </a:rPr>
                  <a:t>de dados </a:t>
                </a:r>
                <a:endParaRPr lang="en-US" altLang="en-US" sz="1200" b="1">
                  <a:solidFill>
                    <a:srgbClr val="F7A521"/>
                  </a:solidFill>
                </a:endParaRPr>
              </a:p>
            </p:txBody>
          </p:sp>
          <p:sp>
            <p:nvSpPr>
              <p:cNvPr id="57" name="Caixa de Texto 56"/>
              <p:cNvSpPr txBox="1"/>
              <p:nvPr/>
            </p:nvSpPr>
            <p:spPr>
              <a:xfrm>
                <a:off x="9978" y="7196"/>
                <a:ext cx="2155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en-US" sz="1200" b="1" dirty="0">
                    <a:solidFill>
                      <a:srgbClr val="F7A521"/>
                    </a:solidFill>
                    <a:sym typeface="+mn-ea"/>
                  </a:rPr>
                  <a:t>37</a:t>
                </a:r>
                <a:endParaRPr lang="en-US" altLang="en-US" sz="1200" b="1" dirty="0">
                  <a:solidFill>
                    <a:srgbClr val="F7A521"/>
                  </a:solidFill>
                  <a:sym typeface="+mn-ea"/>
                </a:endParaRPr>
              </a:p>
              <a:p>
                <a:pPr algn="ctr"/>
                <a:r>
                  <a:rPr lang="en-US" altLang="en-US" sz="1200" b="1" dirty="0" err="1">
                    <a:solidFill>
                      <a:srgbClr val="F7A521"/>
                    </a:solidFill>
                    <a:sym typeface="+mn-ea"/>
                  </a:rPr>
                  <a:t>fontes</a:t>
                </a:r>
                <a:r>
                  <a:rPr lang="en-US" altLang="en-US" sz="1200" b="1" dirty="0">
                    <a:solidFill>
                      <a:srgbClr val="F7A521"/>
                    </a:solidFill>
                    <a:sym typeface="+mn-ea"/>
                  </a:rPr>
                  <a:t> </a:t>
                </a:r>
                <a:endParaRPr lang="en-US" altLang="en-US" sz="1200" b="1" dirty="0">
                  <a:solidFill>
                    <a:srgbClr val="F7A521"/>
                  </a:solidFill>
                  <a:sym typeface="+mn-ea"/>
                </a:endParaRPr>
              </a:p>
              <a:p>
                <a:pPr algn="ctr"/>
                <a:r>
                  <a:rPr lang="en-US" altLang="en-US" sz="1200" b="1" dirty="0">
                    <a:solidFill>
                      <a:srgbClr val="F7A521"/>
                    </a:solidFill>
                    <a:sym typeface="+mn-ea"/>
                  </a:rPr>
                  <a:t>de dados*</a:t>
                </a:r>
                <a:endParaRPr lang="en-US" altLang="en-US" sz="1200" b="1" dirty="0">
                  <a:solidFill>
                    <a:srgbClr val="F7A521"/>
                  </a:solidFill>
                  <a:sym typeface="+mn-ea"/>
                </a:endParaRPr>
              </a:p>
            </p:txBody>
          </p:sp>
          <p:grpSp>
            <p:nvGrpSpPr>
              <p:cNvPr id="58" name="Grupo 57"/>
              <p:cNvGrpSpPr/>
              <p:nvPr/>
            </p:nvGrpSpPr>
            <p:grpSpPr>
              <a:xfrm>
                <a:off x="10438" y="8264"/>
                <a:ext cx="1192" cy="1238"/>
                <a:chOff x="10440" y="8199"/>
                <a:chExt cx="1192" cy="1238"/>
              </a:xfrm>
            </p:grpSpPr>
            <p:sp>
              <p:nvSpPr>
                <p:cNvPr id="60" name="Retângulo 59"/>
                <p:cNvSpPr/>
                <p:nvPr/>
              </p:nvSpPr>
              <p:spPr>
                <a:xfrm>
                  <a:off x="10440" y="8199"/>
                  <a:ext cx="1192" cy="1238"/>
                </a:xfrm>
                <a:prstGeom prst="rect">
                  <a:avLst/>
                </a:prstGeom>
                <a:solidFill>
                  <a:srgbClr val="F7A521"/>
                </a:solidFill>
                <a:ln w="28575">
                  <a:solidFill>
                    <a:srgbClr val="F7A521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altLang="en-US"/>
                </a:p>
              </p:txBody>
            </p:sp>
            <p:pic>
              <p:nvPicPr>
                <p:cNvPr id="61" name="Imagem 60" descr="241306066797"/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lum bright="100000"/>
                </a:blip>
                <a:srcRect l="81919" t="7582" r="6384" b="79342"/>
                <a:stretch>
                  <a:fillRect/>
                </a:stretch>
              </p:blipFill>
              <p:spPr>
                <a:xfrm>
                  <a:off x="10440" y="8199"/>
                  <a:ext cx="804" cy="76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" name="Grupo 61"/>
            <p:cNvGrpSpPr/>
            <p:nvPr/>
          </p:nvGrpSpPr>
          <p:grpSpPr>
            <a:xfrm>
              <a:off x="10302" y="1707"/>
              <a:ext cx="1449" cy="1083"/>
              <a:chOff x="10238" y="2280"/>
              <a:chExt cx="1449" cy="1083"/>
            </a:xfrm>
          </p:grpSpPr>
          <p:sp>
            <p:nvSpPr>
              <p:cNvPr id="65" name="Caixa de Texto 64"/>
              <p:cNvSpPr txBox="1"/>
              <p:nvPr/>
            </p:nvSpPr>
            <p:spPr>
              <a:xfrm>
                <a:off x="10238" y="2929"/>
                <a:ext cx="1449" cy="43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200">
                    <a:solidFill>
                      <a:schemeClr val="bg1">
                        <a:lumMod val="50000"/>
                      </a:schemeClr>
                    </a:solidFill>
                  </a:rPr>
                  <a:t>julho/2025</a:t>
                </a:r>
                <a:endParaRPr lang="en-US" altLang="en-US" sz="12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66" name="Imagem 65" descr="9001968f-ff97-4013-9345-aeecbb054586"/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70000"/>
              </a:blip>
              <a:srcRect l="10953" t="52241" r="53251" b="7307"/>
              <a:stretch>
                <a:fillRect/>
              </a:stretch>
            </p:blipFill>
            <p:spPr>
              <a:xfrm>
                <a:off x="10560" y="2280"/>
                <a:ext cx="630" cy="712"/>
              </a:xfrm>
              <a:prstGeom prst="rect">
                <a:avLst/>
              </a:prstGeom>
            </p:spPr>
          </p:pic>
        </p:grpSp>
      </p:grpSp>
      <p:sp>
        <p:nvSpPr>
          <p:cNvPr id="68" name="Caixa de Texto 67"/>
          <p:cNvSpPr txBox="1"/>
          <p:nvPr/>
        </p:nvSpPr>
        <p:spPr>
          <a:xfrm>
            <a:off x="404495" y="1586865"/>
            <a:ext cx="4966335" cy="1414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plataforma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mantém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processo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curadoria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de dados,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aquisição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novos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aperfeiçoamento</a:t>
            </a:r>
            <a:r>
              <a:rPr lang="en-US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alt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en-US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operacional</a:t>
            </a:r>
            <a:r>
              <a:rPr lang="en-US" alt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  <p:sp>
        <p:nvSpPr>
          <p:cNvPr id="14" name="Caixa de Texto 13"/>
          <p:cNvSpPr txBox="1"/>
          <p:nvPr/>
        </p:nvSpPr>
        <p:spPr>
          <a:xfrm>
            <a:off x="265430" y="1097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Volume de 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81"/>
            <a:ext cx="12192000" cy="6858000"/>
          </a:xfrm>
          <a:prstGeom prst="rect">
            <a:avLst/>
          </a:prstGeom>
        </p:spPr>
      </p:pic>
      <p:graphicFrame>
        <p:nvGraphicFramePr>
          <p:cNvPr id="5" name="Tabela 4"/>
          <p:cNvGraphicFramePr/>
          <p:nvPr/>
        </p:nvGraphicFramePr>
        <p:xfrm>
          <a:off x="8626475" y="735965"/>
          <a:ext cx="3413760" cy="26060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3413760"/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Temas de interesse</a:t>
                      </a:r>
                      <a:endParaRPr lang="en-US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C2416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/>
                        <a:t>Pesquisas acadêmicas</a:t>
                      </a:r>
                      <a:endParaRPr lang="en-US" altLang="en-US" sz="110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/>
                        <a:t>Estudos exploratórios e testes</a:t>
                      </a:r>
                      <a:endParaRPr lang="en-US" altLang="en-US" sz="110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dirty="0" err="1"/>
                        <a:t>Vigilância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epidemiológica</a:t>
                      </a:r>
                      <a:endParaRPr lang="en-US" altLang="en-US" sz="1100" dirty="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/>
                        <a:t>Clima, espaço e ambiente</a:t>
                      </a:r>
                      <a:endParaRPr lang="en-US" altLang="en-US" sz="110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dirty="0" err="1"/>
                        <a:t>Avaliação</a:t>
                      </a:r>
                      <a:r>
                        <a:rPr lang="en-US" sz="1100" dirty="0"/>
                        <a:t> de </a:t>
                      </a:r>
                      <a:r>
                        <a:rPr lang="en-US" sz="1100" dirty="0" err="1"/>
                        <a:t>políticas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sociais</a:t>
                      </a:r>
                      <a:endParaRPr lang="en-US" altLang="en-US" sz="1100" dirty="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/>
                        <a:t>Ensino e sala de aula</a:t>
                      </a:r>
                      <a:endParaRPr lang="en-US" altLang="en-US" sz="110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4241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/>
                        <a:t>Ferramentas e inovação (visualizações, hackathons)</a:t>
                      </a:r>
                      <a:endParaRPr lang="en-US" altLang="en-US" sz="110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/>
                        <a:t>Integração e comparação de dados</a:t>
                      </a:r>
                      <a:endParaRPr lang="en-US" altLang="en-US" sz="110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dirty="0"/>
                        <a:t>Temas </a:t>
                      </a:r>
                      <a:r>
                        <a:rPr lang="en-US" sz="1100" dirty="0" err="1"/>
                        <a:t>específicos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saúde</a:t>
                      </a:r>
                      <a:endParaRPr lang="en-US" altLang="en-US" sz="1100" dirty="0"/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Caixa de Texto 6"/>
          <p:cNvSpPr txBox="1"/>
          <p:nvPr/>
        </p:nvSpPr>
        <p:spPr>
          <a:xfrm>
            <a:off x="6455410" y="3652520"/>
            <a:ext cx="1795780" cy="2298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pt-BR" sz="900" b="1">
                <a:latin typeface="Calibri" charset="0"/>
                <a:cs typeface="Calibri" charset="0"/>
              </a:rPr>
              <a:t>Principais dados de interesse</a:t>
            </a:r>
            <a:endParaRPr lang="en-US" altLang="pt-BR" sz="900" b="1">
              <a:latin typeface="Calibri" charset="0"/>
              <a:cs typeface="Calibri" charset="0"/>
            </a:endParaRPr>
          </a:p>
        </p:txBody>
      </p:sp>
      <p:pic>
        <p:nvPicPr>
          <p:cNvPr id="4" name="Picture 3" descr="usuarios_pdd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250" y="883412"/>
            <a:ext cx="8404515" cy="2999232"/>
          </a:xfrm>
          <a:prstGeom prst="rect">
            <a:avLst/>
          </a:prstGeom>
        </p:spPr>
      </p:pic>
      <p:pic>
        <p:nvPicPr>
          <p:cNvPr id="3" name="Picture 3" descr="solicitacoes_datasets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9851"/>
          <a:stretch>
            <a:fillRect/>
          </a:stretch>
        </p:blipFill>
        <p:spPr>
          <a:xfrm>
            <a:off x="222250" y="3735070"/>
            <a:ext cx="4266060" cy="3035808"/>
          </a:xfrm>
          <a:prstGeom prst="rect">
            <a:avLst/>
          </a:prstGeom>
        </p:spPr>
      </p:pic>
      <p:pic>
        <p:nvPicPr>
          <p:cNvPr id="6" name="Picture 3" descr="top_datasets_solicitados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5F5F5">
                  <a:alpha val="100000"/>
                </a:srgbClr>
              </a:clrFrom>
              <a:clrTo>
                <a:srgbClr val="F5F5F5">
                  <a:alpha val="100000"/>
                  <a:alpha val="0"/>
                </a:srgbClr>
              </a:clrTo>
            </a:clrChange>
          </a:blip>
          <a:srcRect l="2806" t="19213" r="52535" b="17361"/>
          <a:stretch>
            <a:fillRect/>
          </a:stretch>
        </p:blipFill>
        <p:spPr>
          <a:xfrm>
            <a:off x="4773930" y="3834130"/>
            <a:ext cx="4907915" cy="2837815"/>
          </a:xfrm>
          <a:prstGeom prst="rect">
            <a:avLst/>
          </a:prstGeom>
        </p:spPr>
      </p:pic>
      <p:sp>
        <p:nvSpPr>
          <p:cNvPr id="11" name="Caixa de Texto 10"/>
          <p:cNvSpPr txBox="1"/>
          <p:nvPr/>
        </p:nvSpPr>
        <p:spPr>
          <a:xfrm>
            <a:off x="9739630" y="5512435"/>
            <a:ext cx="2371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 sz="1200">
                <a:latin typeface="Times New Roman" panose="02020603050405020304" charset="0"/>
                <a:cs typeface="Times New Roman" panose="02020603050405020304" charset="0"/>
              </a:rPr>
              <a:t>Estatísticas de acesso até </a:t>
            </a:r>
            <a:endParaRPr lang="en-US" altLang="pt-BR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pt-BR" sz="12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29 de julho de 2025 </a:t>
            </a:r>
            <a:r>
              <a:rPr lang="en-US" altLang="en-US" sz="12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(atualizar)</a:t>
            </a:r>
            <a:endParaRPr lang="en-US" altLang="en-US" sz="12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Caixa de Texto 27"/>
          <p:cNvSpPr txBox="1"/>
          <p:nvPr/>
        </p:nvSpPr>
        <p:spPr>
          <a:xfrm>
            <a:off x="2688590" y="213360"/>
            <a:ext cx="5461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Estatísticas de Acesso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" y="231775"/>
            <a:ext cx="1748790" cy="44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265430" y="2146300"/>
            <a:ext cx="10646410" cy="22453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Fortalecimento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da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cultura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uso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de dados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administrativos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especial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na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pesquisa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científica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em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saúde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.</a:t>
            </a:r>
            <a:endParaRPr lang="en-US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Disseminação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do valor dos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estudos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ecológicos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seus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métodos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para a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produção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evidências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científicas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.</a:t>
            </a:r>
            <a:endParaRPr lang="en-US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Aprimoramento da Qualidade dos Dados pelo seu uso constante.</a:t>
            </a:r>
            <a:endParaRPr lang="pt-BR" altLang="pt-BR" sz="20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sp>
        <p:nvSpPr>
          <p:cNvPr id="28" name="Caixa de Texto 27"/>
          <p:cNvSpPr txBox="1"/>
          <p:nvPr/>
        </p:nvSpPr>
        <p:spPr>
          <a:xfrm>
            <a:off x="265430" y="1097280"/>
            <a:ext cx="5756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Impacto do uso da plataforma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38" name="Caixa de Texto 37"/>
          <p:cNvSpPr txBox="1"/>
          <p:nvPr/>
        </p:nvSpPr>
        <p:spPr>
          <a:xfrm>
            <a:off x="5473700" y="4391660"/>
            <a:ext cx="640715" cy="26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sz="1100" i="1">
                <a:solidFill>
                  <a:schemeClr val="bg1"/>
                </a:solidFill>
              </a:rPr>
              <a:t>Acesso</a:t>
            </a:r>
            <a:endParaRPr lang="en-US" altLang="en-US" sz="1100" i="1">
              <a:solidFill>
                <a:schemeClr val="bg1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3315335" y="3136900"/>
            <a:ext cx="6205855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pt-BR" sz="2000" i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A PDD</a:t>
            </a:r>
            <a:r>
              <a:rPr lang="en-US" altLang="pt-BR" sz="2000" i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-Cidacs</a:t>
            </a:r>
            <a:r>
              <a:rPr lang="pt-BR" sz="2000" i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 não é apenas uma ferramenta. </a:t>
            </a:r>
            <a:endParaRPr lang="pt-BR" sz="2000" i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pt-BR" sz="2000" i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É um compromisso com um Brasil mais justo, transparente e saudável.</a:t>
            </a:r>
            <a:endParaRPr lang="pt-BR" altLang="pt-BR" sz="2000" i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222885"/>
            <a:ext cx="2917190" cy="7372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3" name="Caixa de Texto 2"/>
          <p:cNvSpPr txBox="1"/>
          <p:nvPr/>
        </p:nvSpPr>
        <p:spPr>
          <a:xfrm>
            <a:off x="2684145" y="2876550"/>
            <a:ext cx="74872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solidFill>
                  <a:schemeClr val="tx1"/>
                </a:solidFill>
              </a:rPr>
              <a:t>Como acessar e utilizar a </a:t>
            </a:r>
            <a:r>
              <a:rPr lang="en-US" altLang="en-US" sz="3200" b="1">
                <a:solidFill>
                  <a:srgbClr val="8C2416"/>
                </a:solidFill>
              </a:rPr>
              <a:t>plataforma?</a:t>
            </a:r>
            <a:endParaRPr lang="en-US" altLang="en-US" sz="3200">
              <a:solidFill>
                <a:srgbClr val="C00000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4493260" y="4495165"/>
            <a:ext cx="474345" cy="1987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altLang="en-US" sz="700">
                <a:solidFill>
                  <a:schemeClr val="bg1"/>
                </a:solidFill>
              </a:rPr>
              <a:t>Acesso</a:t>
            </a:r>
            <a:endParaRPr lang="en-US" altLang="en-US" sz="700">
              <a:solidFill>
                <a:schemeClr val="bg1"/>
              </a:solidFill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5452110" y="3804920"/>
            <a:ext cx="213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pt-BR"/>
              <a:t>Sessão 14h às 17h</a:t>
            </a:r>
            <a:endParaRPr lang="en-US" altLang="pt-BR"/>
          </a:p>
        </p:txBody>
      </p:sp>
      <p:sp>
        <p:nvSpPr>
          <p:cNvPr id="5" name="Caixa de Texto 4"/>
          <p:cNvSpPr txBox="1"/>
          <p:nvPr/>
        </p:nvSpPr>
        <p:spPr>
          <a:xfrm>
            <a:off x="6258560" y="4276725"/>
            <a:ext cx="525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(...)</a:t>
            </a:r>
            <a:endParaRPr lang="en-US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04" y="1029831"/>
            <a:ext cx="7387619" cy="1619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5615" y="5680075"/>
            <a:ext cx="46926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1200" dirty="0">
                <a:latin typeface="Calibri" charset="0"/>
                <a:ea typeface="Calibri" charset="0"/>
                <a:cs typeface="Calibri" charset="0"/>
              </a:rPr>
              <a:t>Equipe da plataforma: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Maria Yury Ichihara, </a:t>
            </a:r>
            <a:r>
              <a:rPr lang="en-US" altLang="en-US" sz="1200" dirty="0">
                <a:latin typeface="Calibri" charset="0"/>
                <a:ea typeface="Calibri" charset="0"/>
                <a:cs typeface="Calibri" charset="0"/>
                <a:sym typeface="+mn-ea"/>
              </a:rPr>
              <a:t>Mikael Coletto,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Fábio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Marconso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  <a:sym typeface="+mn-ea"/>
              </a:rPr>
              <a:t>Rafael Felipe Souza </a:t>
            </a:r>
            <a:r>
              <a:rPr lang="en-US" altLang="en-US" sz="1200" dirty="0">
                <a:latin typeface="Calibri" charset="0"/>
                <a:ea typeface="Calibri" charset="0"/>
                <a:cs typeface="Calibri" charset="0"/>
                <a:sym typeface="+mn-ea"/>
              </a:rPr>
              <a:t>e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Robson Cunha</a:t>
            </a:r>
            <a:r>
              <a:rPr lang="en-US" altLang="en-US" sz="1200" dirty="0">
                <a:latin typeface="Calibri" charset="0"/>
                <a:ea typeface="Calibri" charset="0"/>
                <a:cs typeface="Calibri" charset="0"/>
              </a:rPr>
              <a:t>.</a:t>
            </a:r>
            <a:endParaRPr lang="en-US" altLang="en-US" sz="1200" dirty="0">
              <a:latin typeface="Calibri" charset="0"/>
              <a:ea typeface="Calibri" charset="0"/>
              <a:cs typeface="Calibri" charset="0"/>
            </a:endParaRPr>
          </a:p>
          <a:p>
            <a:pPr algn="just"/>
            <a:endParaRPr lang="en-US" sz="1200" dirty="0">
              <a:latin typeface="Calibri" charset="0"/>
              <a:ea typeface="Calibri" charset="0"/>
              <a:cs typeface="Calibri" charset="0"/>
            </a:endParaRPr>
          </a:p>
          <a:p>
            <a:pPr algn="just"/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Colaboração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da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Curadoria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, NPD, NTI e NCD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Cidac</a:t>
            </a:r>
            <a:r>
              <a:rPr lang="en-US" sz="900" dirty="0" err="1">
                <a:latin typeface="Calibri" charset="0"/>
                <a:ea typeface="Calibri" charset="0"/>
                <a:cs typeface="Calibri" charset="0"/>
              </a:rPr>
              <a:t>s</a:t>
            </a:r>
            <a:r>
              <a:rPr lang="en-US" sz="9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e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diversos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profissionais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pesquisadores</a:t>
            </a:r>
            <a:endParaRPr lang="en-US" altLang="en-US" sz="1200" dirty="0" err="1"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15656" y="3191957"/>
            <a:ext cx="469981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375"/>
              </a:spcBef>
            </a:pPr>
            <a:r>
              <a:rPr lang="en-US" altLang="pt-BR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</a:rPr>
              <a:t>Conhecendo uma solução que facilita o acesso aos </a:t>
            </a:r>
            <a:r>
              <a:rPr lang="pt-BR" sz="2400" b="1" dirty="0">
                <a:solidFill>
                  <a:srgbClr val="8C2416"/>
                </a:solidFill>
                <a:latin typeface="Calibri" charset="0"/>
                <a:ea typeface="Calibri" charset="0"/>
                <a:cs typeface="Calibri" charset="0"/>
                <a:sym typeface="+mn-ea"/>
              </a:rPr>
              <a:t>dados administrativos abertos</a:t>
            </a:r>
            <a:endParaRPr lang="pt-BR" altLang="pt-BR" sz="2400" b="1" dirty="0">
              <a:solidFill>
                <a:srgbClr val="8C2416"/>
              </a:solidFill>
              <a:latin typeface="Calibri" charset="0"/>
              <a:ea typeface="Calibri" charset="0"/>
              <a:cs typeface="Calibri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4231640" y="5187315"/>
            <a:ext cx="2481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pt-BR"/>
              <a:t>10 de outubro de 2025</a:t>
            </a:r>
            <a:endParaRPr lang="en-US" alt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8" name="Caixa de Texto 17"/>
          <p:cNvSpPr txBox="1"/>
          <p:nvPr/>
        </p:nvSpPr>
        <p:spPr>
          <a:xfrm>
            <a:off x="4493260" y="4495165"/>
            <a:ext cx="474345" cy="1987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altLang="en-US" sz="700">
                <a:solidFill>
                  <a:schemeClr val="bg1"/>
                </a:solidFill>
              </a:rPr>
              <a:t>Acesso</a:t>
            </a:r>
            <a:endParaRPr lang="en-US" altLang="en-US" sz="700">
              <a:solidFill>
                <a:schemeClr val="bg1"/>
              </a:solidFill>
            </a:endParaRPr>
          </a:p>
        </p:txBody>
      </p:sp>
      <p:sp>
        <p:nvSpPr>
          <p:cNvPr id="6" name="Retângulo arredondado 5"/>
          <p:cNvSpPr/>
          <p:nvPr/>
        </p:nvSpPr>
        <p:spPr>
          <a:xfrm>
            <a:off x="172496" y="522463"/>
            <a:ext cx="11847707" cy="3023661"/>
          </a:xfrm>
          <a:prstGeom prst="roundRect">
            <a:avLst>
              <a:gd name="adj" fmla="val 8483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EF5DE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5"/>
          <p:cNvSpPr/>
          <p:nvPr/>
        </p:nvSpPr>
        <p:spPr>
          <a:xfrm>
            <a:off x="274321" y="640499"/>
            <a:ext cx="305260" cy="3052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Trebuchet MS" panose="020B0603020202020204" pitchFamily="34" charset="0"/>
              </a:rPr>
              <a:t>1</a:t>
            </a:r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2" name="Agrupar 11"/>
          <p:cNvGrpSpPr/>
          <p:nvPr/>
        </p:nvGrpSpPr>
        <p:grpSpPr>
          <a:xfrm>
            <a:off x="426951" y="1063159"/>
            <a:ext cx="1133866" cy="1533868"/>
            <a:chOff x="747513" y="1382624"/>
            <a:chExt cx="1133866" cy="1533868"/>
          </a:xfrm>
        </p:grpSpPr>
        <p:sp>
          <p:nvSpPr>
            <p:cNvPr id="8" name="Retângulo arredondado 7"/>
            <p:cNvSpPr/>
            <p:nvPr/>
          </p:nvSpPr>
          <p:spPr>
            <a:xfrm>
              <a:off x="750216" y="1382624"/>
              <a:ext cx="1131163" cy="1533868"/>
            </a:xfrm>
            <a:prstGeom prst="roundRect">
              <a:avLst>
                <a:gd name="adj" fmla="val 93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063" y="1555363"/>
              <a:ext cx="856508" cy="879868"/>
            </a:xfrm>
            <a:prstGeom prst="rect">
              <a:avLst/>
            </a:prstGeom>
          </p:spPr>
        </p:pic>
        <p:sp>
          <p:nvSpPr>
            <p:cNvPr id="11" name="CaixaDeTexto 10"/>
            <p:cNvSpPr txBox="1"/>
            <p:nvPr/>
          </p:nvSpPr>
          <p:spPr>
            <a:xfrm>
              <a:off x="747513" y="2475806"/>
              <a:ext cx="11311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000" b="1" kern="0" dirty="0">
                  <a:solidFill>
                    <a:schemeClr val="bg1"/>
                  </a:solidFill>
                  <a:latin typeface="Trebuchet MS" panose="020B0603020202020204"/>
                  <a:cs typeface="Arial" panose="020B0604020202020204"/>
                  <a:sym typeface="Arial" panose="020B0604020202020204"/>
                </a:rPr>
                <a:t>Portal PDD</a:t>
              </a:r>
              <a:endPara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endParaRPr>
            </a:p>
            <a:p>
              <a:pPr algn="ctr"/>
              <a:r>
                <a:rPr lang="en-US" sz="1000" b="1" kern="0" dirty="0" err="1">
                  <a:solidFill>
                    <a:schemeClr val="bg1"/>
                  </a:solidFill>
                  <a:latin typeface="Trebuchet MS" panose="020B0603020202020204"/>
                  <a:cs typeface="Arial" panose="020B0604020202020204"/>
                  <a:sym typeface="Arial" panose="020B0604020202020204"/>
                </a:rPr>
                <a:t>Cidacs</a:t>
              </a:r>
              <a:r>
                <a:rPr lang="en-US" sz="1000" b="1" kern="0" dirty="0">
                  <a:solidFill>
                    <a:schemeClr val="bg1"/>
                  </a:solidFill>
                  <a:latin typeface="Trebuchet MS" panose="020B0603020202020204"/>
                  <a:cs typeface="Arial" panose="020B0604020202020204"/>
                  <a:sym typeface="Arial" panose="020B0604020202020204"/>
                </a:rPr>
                <a:t> (site)</a:t>
              </a:r>
              <a:endParaRPr lang="pt-BR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Oval 12"/>
          <p:cNvSpPr/>
          <p:nvPr/>
        </p:nvSpPr>
        <p:spPr>
          <a:xfrm>
            <a:off x="1683664" y="1672023"/>
            <a:ext cx="305260" cy="305260"/>
          </a:xfrm>
          <a:prstGeom prst="ellipse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 rot="2700000">
            <a:off x="2623967" y="1695034"/>
            <a:ext cx="259238" cy="259238"/>
          </a:xfrm>
          <a:prstGeom prst="rect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Retângulo arredondado 15"/>
          <p:cNvSpPr/>
          <p:nvPr/>
        </p:nvSpPr>
        <p:spPr>
          <a:xfrm>
            <a:off x="3274375" y="1122500"/>
            <a:ext cx="1278969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Realiza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cadastro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na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PDD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19" name="Retângulo arredondado 18"/>
          <p:cNvSpPr/>
          <p:nvPr/>
        </p:nvSpPr>
        <p:spPr>
          <a:xfrm>
            <a:off x="3274375" y="2297511"/>
            <a:ext cx="1278969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Realiza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login</a:t>
            </a:r>
            <a:endParaRPr lang="en-US" altLang="en-US" sz="1000" b="1" kern="0" dirty="0">
              <a:solidFill>
                <a:schemeClr val="bg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  <a:p>
            <a:pPr algn="ctr"/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na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PDD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 rot="2700000">
            <a:off x="5002967" y="2354325"/>
            <a:ext cx="259238" cy="259238"/>
          </a:xfrm>
          <a:prstGeom prst="rect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1" name="Retângulo arredondado 20"/>
          <p:cNvSpPr/>
          <p:nvPr/>
        </p:nvSpPr>
        <p:spPr>
          <a:xfrm>
            <a:off x="5829315" y="946363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Acessa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o tutorial da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plataforma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2" name="Retângulo arredondado 21"/>
          <p:cNvSpPr/>
          <p:nvPr/>
        </p:nvSpPr>
        <p:spPr>
          <a:xfrm>
            <a:off x="5829315" y="1469500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Explora o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catálogo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acessa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os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metadados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(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Dataverse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)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3" name="Retângulo arredondado 22"/>
          <p:cNvSpPr/>
          <p:nvPr/>
        </p:nvSpPr>
        <p:spPr>
          <a:xfrm>
            <a:off x="5829315" y="1978401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Adiciona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seu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perfil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datasets para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serem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consultados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4" name="Retângulo arredondado 23"/>
          <p:cNvSpPr/>
          <p:nvPr/>
        </p:nvSpPr>
        <p:spPr>
          <a:xfrm>
            <a:off x="5827410" y="2511304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Visualiza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lista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de datasets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adicionados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seu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perfil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25" name="Retângulo arredondado 24"/>
          <p:cNvSpPr/>
          <p:nvPr/>
        </p:nvSpPr>
        <p:spPr>
          <a:xfrm>
            <a:off x="5829315" y="2992891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Conhece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as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aplicações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extração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de dados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30" name="Retângulo arredondado 29"/>
          <p:cNvSpPr/>
          <p:nvPr/>
        </p:nvSpPr>
        <p:spPr>
          <a:xfrm>
            <a:off x="8413342" y="2992731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Realiza a extração pela interface web (Em Construção)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1203853" y="2485665"/>
            <a:ext cx="305260" cy="305260"/>
          </a:xfrm>
          <a:prstGeom prst="ellipse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531856" y="2007961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Início</a:t>
            </a:r>
            <a:endParaRPr lang="pt-BR" sz="1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2297543" y="2003946"/>
            <a:ext cx="912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Primeiro</a:t>
            </a:r>
            <a:r>
              <a:rPr lang="en-US" altLang="en-US" sz="1000" kern="0" dirty="0"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Acesso</a:t>
            </a:r>
            <a:r>
              <a:rPr lang="en-US" altLang="en-US" sz="1000" kern="0" dirty="0">
                <a:latin typeface="Trebuchet MS" panose="020B0603020202020204"/>
                <a:cs typeface="Arial" panose="020B0604020202020204"/>
                <a:sym typeface="Arial" panose="020B0604020202020204"/>
              </a:rPr>
              <a:t>?</a:t>
            </a:r>
            <a:endParaRPr lang="pt-BR" sz="1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3126580" y="1568591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b="1" kern="0" dirty="0">
                <a:solidFill>
                  <a:schemeClr val="tx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sim</a:t>
            </a:r>
            <a:endParaRPr lang="en-US" altLang="en-US" sz="1000" b="1" kern="0" dirty="0">
              <a:solidFill>
                <a:schemeClr val="tx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129278" y="1969365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kern="0" dirty="0" err="1">
                <a:solidFill>
                  <a:schemeClr val="tx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não</a:t>
            </a:r>
            <a:endParaRPr lang="en-US" sz="1000" b="1" kern="0" dirty="0" err="1">
              <a:solidFill>
                <a:schemeClr val="tx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8" name="Conector de Seta Reta 37"/>
          <p:cNvCxnSpPr/>
          <p:nvPr/>
        </p:nvCxnSpPr>
        <p:spPr>
          <a:xfrm flipV="1">
            <a:off x="2936895" y="1478042"/>
            <a:ext cx="337480" cy="346611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de Seta Reta 38"/>
          <p:cNvCxnSpPr/>
          <p:nvPr/>
        </p:nvCxnSpPr>
        <p:spPr>
          <a:xfrm>
            <a:off x="2936220" y="1810465"/>
            <a:ext cx="338155" cy="443717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ector de Seta Reta 43"/>
          <p:cNvCxnSpPr>
            <a:stCxn id="13" idx="6"/>
          </p:cNvCxnSpPr>
          <p:nvPr/>
        </p:nvCxnSpPr>
        <p:spPr>
          <a:xfrm>
            <a:off x="1988924" y="1825288"/>
            <a:ext cx="581353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4550346" y="2485665"/>
            <a:ext cx="398931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Conector de Seta Reta 50"/>
          <p:cNvCxnSpPr>
            <a:endCxn id="21" idx="1"/>
          </p:cNvCxnSpPr>
          <p:nvPr/>
        </p:nvCxnSpPr>
        <p:spPr>
          <a:xfrm flipV="1">
            <a:off x="5313680" y="1123950"/>
            <a:ext cx="515620" cy="136652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Conector de Seta Reta 53"/>
          <p:cNvCxnSpPr>
            <a:endCxn id="22" idx="1"/>
          </p:cNvCxnSpPr>
          <p:nvPr/>
        </p:nvCxnSpPr>
        <p:spPr>
          <a:xfrm flipV="1">
            <a:off x="5330190" y="1647190"/>
            <a:ext cx="499110" cy="835025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ector de Seta Reta 56"/>
          <p:cNvCxnSpPr>
            <a:endCxn id="23" idx="1"/>
          </p:cNvCxnSpPr>
          <p:nvPr/>
        </p:nvCxnSpPr>
        <p:spPr>
          <a:xfrm flipV="1">
            <a:off x="5321935" y="2156460"/>
            <a:ext cx="507365" cy="31750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Conector de Seta Reta 61"/>
          <p:cNvCxnSpPr>
            <a:endCxn id="24" idx="1"/>
          </p:cNvCxnSpPr>
          <p:nvPr/>
        </p:nvCxnSpPr>
        <p:spPr>
          <a:xfrm>
            <a:off x="5305425" y="2473960"/>
            <a:ext cx="521970" cy="215265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de Seta Reta 64"/>
          <p:cNvCxnSpPr>
            <a:endCxn id="25" idx="1"/>
          </p:cNvCxnSpPr>
          <p:nvPr/>
        </p:nvCxnSpPr>
        <p:spPr>
          <a:xfrm>
            <a:off x="5313680" y="2482215"/>
            <a:ext cx="515620" cy="68834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ector de Seta Reta 77"/>
          <p:cNvCxnSpPr/>
          <p:nvPr/>
        </p:nvCxnSpPr>
        <p:spPr>
          <a:xfrm>
            <a:off x="7889934" y="3170502"/>
            <a:ext cx="523408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Conector de Seta Reta 80"/>
          <p:cNvCxnSpPr/>
          <p:nvPr/>
        </p:nvCxnSpPr>
        <p:spPr>
          <a:xfrm flipV="1">
            <a:off x="7889934" y="2489916"/>
            <a:ext cx="523408" cy="680586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1060342" y="2833275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Fim</a:t>
            </a:r>
            <a:endParaRPr lang="pt-BR" sz="1000" dirty="0"/>
          </a:p>
        </p:txBody>
      </p:sp>
      <p:cxnSp>
        <p:nvCxnSpPr>
          <p:cNvPr id="84" name="Conector de Seta Reta 83"/>
          <p:cNvCxnSpPr>
            <a:endCxn id="31" idx="3"/>
          </p:cNvCxnSpPr>
          <p:nvPr/>
        </p:nvCxnSpPr>
        <p:spPr>
          <a:xfrm flipV="1">
            <a:off x="10475738" y="2746221"/>
            <a:ext cx="772819" cy="424281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de Seta Reta 85"/>
          <p:cNvCxnSpPr>
            <a:endCxn id="31" idx="1"/>
          </p:cNvCxnSpPr>
          <p:nvPr/>
        </p:nvCxnSpPr>
        <p:spPr>
          <a:xfrm>
            <a:off x="10473961" y="2511627"/>
            <a:ext cx="774596" cy="18742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3" name="Retângulo arredondado 92"/>
          <p:cNvSpPr/>
          <p:nvPr/>
        </p:nvSpPr>
        <p:spPr>
          <a:xfrm>
            <a:off x="172496" y="3628685"/>
            <a:ext cx="11847707" cy="3109510"/>
          </a:xfrm>
          <a:prstGeom prst="roundRect">
            <a:avLst>
              <a:gd name="adj" fmla="val 8483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EF5DE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Oval 93"/>
          <p:cNvSpPr/>
          <p:nvPr/>
        </p:nvSpPr>
        <p:spPr>
          <a:xfrm>
            <a:off x="265005" y="3763613"/>
            <a:ext cx="305260" cy="3052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Trebuchet MS" panose="020B0603020202020204" pitchFamily="34" charset="0"/>
              </a:rPr>
              <a:t>2</a:t>
            </a:r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96" name="Retângulo arredondado 95"/>
          <p:cNvSpPr/>
          <p:nvPr/>
        </p:nvSpPr>
        <p:spPr>
          <a:xfrm>
            <a:off x="527813" y="4090401"/>
            <a:ext cx="934845" cy="1094081"/>
          </a:xfrm>
          <a:prstGeom prst="roundRect">
            <a:avLst>
              <a:gd name="adj" fmla="val 932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525110" y="4795271"/>
            <a:ext cx="934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Aplicativo</a:t>
            </a:r>
            <a:endParaRPr lang="en-US" altLang="en-US" sz="1000" b="1" kern="0" dirty="0">
              <a:solidFill>
                <a:schemeClr val="bg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  <a:p>
            <a:pPr algn="ctr"/>
            <a:r>
              <a:rPr 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Desktop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99" name="Oval 98"/>
          <p:cNvSpPr/>
          <p:nvPr/>
        </p:nvSpPr>
        <p:spPr>
          <a:xfrm>
            <a:off x="1683664" y="5554876"/>
            <a:ext cx="305260" cy="305260"/>
          </a:xfrm>
          <a:prstGeom prst="ellipse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1203853" y="4879222"/>
            <a:ext cx="305260" cy="305260"/>
          </a:xfrm>
          <a:prstGeom prst="ellipse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3" name="CaixaDeTexto 112"/>
          <p:cNvSpPr txBox="1"/>
          <p:nvPr/>
        </p:nvSpPr>
        <p:spPr>
          <a:xfrm>
            <a:off x="1531856" y="5247001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Início</a:t>
            </a:r>
            <a:endParaRPr lang="pt-BR" sz="1000" dirty="0"/>
          </a:p>
        </p:txBody>
      </p:sp>
      <p:sp>
        <p:nvSpPr>
          <p:cNvPr id="114" name="CaixaDeTexto 113"/>
          <p:cNvSpPr txBox="1"/>
          <p:nvPr/>
        </p:nvSpPr>
        <p:spPr>
          <a:xfrm>
            <a:off x="2297543" y="5195381"/>
            <a:ext cx="912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Primeiro</a:t>
            </a:r>
            <a:r>
              <a:rPr lang="en-US" altLang="en-US" sz="1000" kern="0" dirty="0"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Acesso</a:t>
            </a:r>
            <a:r>
              <a:rPr lang="en-US" altLang="en-US" sz="1000" kern="0" dirty="0">
                <a:latin typeface="Trebuchet MS" panose="020B0603020202020204"/>
                <a:cs typeface="Arial" panose="020B0604020202020204"/>
                <a:sym typeface="Arial" panose="020B0604020202020204"/>
              </a:rPr>
              <a:t>?</a:t>
            </a:r>
            <a:endParaRPr lang="pt-BR" sz="1000" dirty="0"/>
          </a:p>
        </p:txBody>
      </p:sp>
      <p:cxnSp>
        <p:nvCxnSpPr>
          <p:cNvPr id="119" name="Conector de Seta Reta 118"/>
          <p:cNvCxnSpPr>
            <a:stCxn id="99" idx="7"/>
            <a:endCxn id="143" idx="2"/>
          </p:cNvCxnSpPr>
          <p:nvPr/>
        </p:nvCxnSpPr>
        <p:spPr>
          <a:xfrm flipV="1">
            <a:off x="1944220" y="5107742"/>
            <a:ext cx="717712" cy="491838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9" name="CaixaDeTexto 128"/>
          <p:cNvSpPr txBox="1"/>
          <p:nvPr/>
        </p:nvSpPr>
        <p:spPr>
          <a:xfrm>
            <a:off x="11060342" y="5226832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Fim</a:t>
            </a:r>
            <a:endParaRPr lang="pt-BR" sz="1000" dirty="0"/>
          </a:p>
        </p:txBody>
      </p:sp>
      <p:pic>
        <p:nvPicPr>
          <p:cNvPr id="132" name="Imagem 1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63" y="4258800"/>
            <a:ext cx="525251" cy="498541"/>
          </a:xfrm>
          <a:prstGeom prst="rect">
            <a:avLst/>
          </a:prstGeom>
        </p:spPr>
      </p:pic>
      <p:cxnSp>
        <p:nvCxnSpPr>
          <p:cNvPr id="133" name="Conector de Seta Reta 132"/>
          <p:cNvCxnSpPr/>
          <p:nvPr/>
        </p:nvCxnSpPr>
        <p:spPr>
          <a:xfrm flipV="1">
            <a:off x="2744622" y="2404056"/>
            <a:ext cx="0" cy="2428723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CaixaDeTexto 136"/>
          <p:cNvSpPr txBox="1"/>
          <p:nvPr/>
        </p:nvSpPr>
        <p:spPr>
          <a:xfrm rot="16200000">
            <a:off x="2273522" y="4431932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kern="0" dirty="0" err="1">
                <a:solidFill>
                  <a:schemeClr val="tx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não</a:t>
            </a:r>
            <a:endParaRPr lang="en-US" sz="1000" b="1" kern="0" dirty="0" err="1">
              <a:solidFill>
                <a:schemeClr val="tx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CaixaDeTexto 137"/>
          <p:cNvSpPr txBox="1"/>
          <p:nvPr/>
        </p:nvSpPr>
        <p:spPr>
          <a:xfrm>
            <a:off x="2755639" y="4637033"/>
            <a:ext cx="592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b="1" kern="0" dirty="0">
                <a:solidFill>
                  <a:schemeClr val="tx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sim</a:t>
            </a:r>
            <a:endParaRPr lang="en-US" altLang="en-US" sz="1000" b="1" kern="0" dirty="0">
              <a:solidFill>
                <a:schemeClr val="tx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42" name="Conector de Seta Reta 141"/>
          <p:cNvCxnSpPr/>
          <p:nvPr/>
        </p:nvCxnSpPr>
        <p:spPr>
          <a:xfrm>
            <a:off x="2693022" y="5016088"/>
            <a:ext cx="581353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Retângulo 142"/>
          <p:cNvSpPr/>
          <p:nvPr/>
        </p:nvSpPr>
        <p:spPr>
          <a:xfrm rot="2700000">
            <a:off x="2623967" y="4886469"/>
            <a:ext cx="259238" cy="259238"/>
          </a:xfrm>
          <a:prstGeom prst="rect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44" name="Conector de Seta Reta 143"/>
          <p:cNvCxnSpPr/>
          <p:nvPr/>
        </p:nvCxnSpPr>
        <p:spPr>
          <a:xfrm>
            <a:off x="4282945" y="5016088"/>
            <a:ext cx="581353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Retângulo arredondado 145"/>
          <p:cNvSpPr/>
          <p:nvPr/>
        </p:nvSpPr>
        <p:spPr>
          <a:xfrm>
            <a:off x="3280193" y="4719955"/>
            <a:ext cx="1278969" cy="604798"/>
          </a:xfrm>
          <a:prstGeom prst="roundRect">
            <a:avLst>
              <a:gd name="adj" fmla="val 1344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Realiza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login </a:t>
            </a:r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usando</a:t>
            </a:r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token</a:t>
            </a:r>
            <a:endParaRPr lang="en-US" altLang="en-US" sz="1000" b="1" kern="0" dirty="0">
              <a:solidFill>
                <a:schemeClr val="bg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  <a:p>
            <a:pPr algn="ctr"/>
            <a:r>
              <a:rPr lang="en-US" alt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de </a:t>
            </a:r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acesso</a:t>
            </a:r>
            <a:endParaRPr lang="pt-BR" sz="1000" dirty="0">
              <a:solidFill>
                <a:schemeClr val="bg1"/>
              </a:solidFill>
            </a:endParaRPr>
          </a:p>
        </p:txBody>
      </p:sp>
      <p:cxnSp>
        <p:nvCxnSpPr>
          <p:cNvPr id="147" name="Conector de Seta Reta 146"/>
          <p:cNvCxnSpPr/>
          <p:nvPr/>
        </p:nvCxnSpPr>
        <p:spPr>
          <a:xfrm>
            <a:off x="5004840" y="5016088"/>
            <a:ext cx="581353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Retângulo 147"/>
          <p:cNvSpPr/>
          <p:nvPr/>
        </p:nvSpPr>
        <p:spPr>
          <a:xfrm rot="2700000">
            <a:off x="4917988" y="4886469"/>
            <a:ext cx="259238" cy="259238"/>
          </a:xfrm>
          <a:prstGeom prst="rect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49" name="Conector de Seta Reta 148"/>
          <p:cNvCxnSpPr/>
          <p:nvPr/>
        </p:nvCxnSpPr>
        <p:spPr>
          <a:xfrm>
            <a:off x="7435516" y="5016088"/>
            <a:ext cx="926533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Retângulo arredondado 149"/>
          <p:cNvSpPr/>
          <p:nvPr/>
        </p:nvSpPr>
        <p:spPr>
          <a:xfrm>
            <a:off x="5573074" y="4830472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Consome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os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dados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aplicando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filtros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selecionando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variáveis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51" name="Retângulo arredondado 150"/>
          <p:cNvSpPr/>
          <p:nvPr/>
        </p:nvSpPr>
        <p:spPr>
          <a:xfrm>
            <a:off x="8362049" y="4828940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Realiza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o download dos dados</a:t>
            </a:r>
            <a:endParaRPr lang="pt-BR" sz="900" dirty="0">
              <a:solidFill>
                <a:schemeClr val="bg1"/>
              </a:solidFill>
            </a:endParaRPr>
          </a:p>
        </p:txBody>
      </p:sp>
      <p:cxnSp>
        <p:nvCxnSpPr>
          <p:cNvPr id="152" name="Conector de Seta Reta 151"/>
          <p:cNvCxnSpPr/>
          <p:nvPr/>
        </p:nvCxnSpPr>
        <p:spPr>
          <a:xfrm>
            <a:off x="10407863" y="5016088"/>
            <a:ext cx="795990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ector de Seta Reta 154"/>
          <p:cNvCxnSpPr/>
          <p:nvPr/>
        </p:nvCxnSpPr>
        <p:spPr>
          <a:xfrm flipV="1">
            <a:off x="5230916" y="4444790"/>
            <a:ext cx="355277" cy="563453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etângulo arredondado 157"/>
          <p:cNvSpPr/>
          <p:nvPr/>
        </p:nvSpPr>
        <p:spPr>
          <a:xfrm>
            <a:off x="5573074" y="4285040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Visualiza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lista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de datasets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adicionados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ao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seu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perfil</a:t>
            </a:r>
            <a:endParaRPr lang="pt-BR" sz="900" dirty="0">
              <a:solidFill>
                <a:schemeClr val="bg1"/>
              </a:solidFill>
            </a:endParaRPr>
          </a:p>
        </p:txBody>
      </p:sp>
      <p:sp>
        <p:nvSpPr>
          <p:cNvPr id="163" name="CaixaDeTexto 162"/>
          <p:cNvSpPr txBox="1"/>
          <p:nvPr/>
        </p:nvSpPr>
        <p:spPr>
          <a:xfrm>
            <a:off x="525110" y="6174893"/>
            <a:ext cx="934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Biblioteca</a:t>
            </a:r>
            <a:endParaRPr lang="en-US" altLang="en-US" sz="1000" b="1" kern="0" dirty="0">
              <a:solidFill>
                <a:schemeClr val="bg1"/>
              </a:solidFill>
              <a:latin typeface="Trebuchet MS" panose="020B0603020202020204"/>
              <a:cs typeface="Arial" panose="020B0604020202020204"/>
              <a:sym typeface="Arial" panose="020B0604020202020204"/>
            </a:endParaRPr>
          </a:p>
          <a:p>
            <a:pPr algn="ctr"/>
            <a:r>
              <a:rPr lang="en-US" sz="10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(API)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1683664" y="4865065"/>
            <a:ext cx="305260" cy="305260"/>
          </a:xfrm>
          <a:prstGeom prst="ellipse">
            <a:avLst/>
          </a:prstGeom>
          <a:solidFill>
            <a:srgbClr val="FFCD2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67" name="Conector de Seta Reta 166"/>
          <p:cNvCxnSpPr>
            <a:stCxn id="166" idx="6"/>
          </p:cNvCxnSpPr>
          <p:nvPr/>
        </p:nvCxnSpPr>
        <p:spPr>
          <a:xfrm>
            <a:off x="1988924" y="5017695"/>
            <a:ext cx="581353" cy="0"/>
          </a:xfrm>
          <a:prstGeom prst="straightConnector1">
            <a:avLst/>
          </a:prstGeom>
          <a:solidFill>
            <a:schemeClr val="accent4"/>
          </a:solidFill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Oval 169"/>
          <p:cNvSpPr/>
          <p:nvPr/>
        </p:nvSpPr>
        <p:spPr>
          <a:xfrm>
            <a:off x="3356290" y="6070600"/>
            <a:ext cx="208496" cy="2084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  <a:latin typeface="Trebuchet MS" panose="020B0603020202020204" pitchFamily="34" charset="0"/>
              </a:rPr>
              <a:t>1</a:t>
            </a:r>
            <a:endParaRPr lang="pt-BR" sz="11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3356290" y="6364326"/>
            <a:ext cx="208496" cy="2084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  <a:latin typeface="Trebuchet MS" panose="020B0603020202020204" pitchFamily="34" charset="0"/>
              </a:rPr>
              <a:t>2</a:t>
            </a:r>
            <a:endParaRPr lang="pt-BR" sz="11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3" name="CaixaDeTexto 172"/>
          <p:cNvSpPr txBox="1"/>
          <p:nvPr/>
        </p:nvSpPr>
        <p:spPr>
          <a:xfrm>
            <a:off x="3209629" y="5766375"/>
            <a:ext cx="7103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100" b="1" kern="0" dirty="0" err="1">
                <a:latin typeface="Trebuchet MS" panose="020B0603020202020204"/>
                <a:cs typeface="Arial" panose="020B0604020202020204"/>
                <a:sym typeface="Arial" panose="020B0604020202020204"/>
              </a:rPr>
              <a:t>Passos</a:t>
            </a:r>
            <a:r>
              <a:rPr lang="en-US" altLang="en-US" sz="1100" b="1" kern="0" dirty="0">
                <a:latin typeface="Trebuchet MS" panose="020B0603020202020204"/>
                <a:cs typeface="Arial" panose="020B0604020202020204"/>
                <a:sym typeface="Arial" panose="020B0604020202020204"/>
              </a:rPr>
              <a:t>:</a:t>
            </a:r>
            <a:endParaRPr lang="pt-BR" sz="1100" b="1" dirty="0"/>
          </a:p>
        </p:txBody>
      </p:sp>
      <p:sp>
        <p:nvSpPr>
          <p:cNvPr id="174" name="Retângulo arredondado 17"/>
          <p:cNvSpPr/>
          <p:nvPr/>
        </p:nvSpPr>
        <p:spPr>
          <a:xfrm>
            <a:off x="3549933" y="6007507"/>
            <a:ext cx="4513699" cy="307953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E1C1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en-US" sz="1000" dirty="0">
                <a:solidFill>
                  <a:schemeClr val="tx1"/>
                </a:solidFill>
              </a:rPr>
              <a:t>Conheça a plataforma e defina os dados que irá trabalhar. </a:t>
            </a:r>
            <a:endParaRPr lang="en-US" altLang="en-US" sz="1000" dirty="0">
              <a:solidFill>
                <a:schemeClr val="tx1"/>
              </a:solidFill>
            </a:endParaRPr>
          </a:p>
        </p:txBody>
      </p:sp>
      <p:sp>
        <p:nvSpPr>
          <p:cNvPr id="175" name="Retângulo arredondado 19"/>
          <p:cNvSpPr/>
          <p:nvPr/>
        </p:nvSpPr>
        <p:spPr>
          <a:xfrm>
            <a:off x="3549933" y="6315460"/>
            <a:ext cx="4513699" cy="307953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E1C1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en-US" sz="1000" dirty="0">
                <a:solidFill>
                  <a:schemeClr val="tx1"/>
                </a:solidFill>
              </a:rPr>
              <a:t>Extraia os dados a partir de uma das interfaces. </a:t>
            </a:r>
            <a:endParaRPr lang="en-US" altLang="en-US" sz="1000" dirty="0">
              <a:solidFill>
                <a:schemeClr val="tx1"/>
              </a:solidFill>
            </a:endParaRPr>
          </a:p>
        </p:txBody>
      </p:sp>
      <p:sp>
        <p:nvSpPr>
          <p:cNvPr id="60" name="Retângulo arredondado 59"/>
          <p:cNvSpPr/>
          <p:nvPr/>
        </p:nvSpPr>
        <p:spPr>
          <a:xfrm>
            <a:off x="8413342" y="2311376"/>
            <a:ext cx="2062396" cy="355542"/>
          </a:xfrm>
          <a:prstGeom prst="roundRect">
            <a:avLst>
              <a:gd name="adj" fmla="val 280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Realiza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o download e </a:t>
            </a:r>
            <a:r>
              <a:rPr lang="en-US" altLang="en-US" sz="900" b="1" kern="0" dirty="0" err="1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instala</a:t>
            </a:r>
            <a:r>
              <a:rPr lang="en-US" altLang="en-US" sz="900" b="1" kern="0" dirty="0">
                <a:solidFill>
                  <a:schemeClr val="bg1"/>
                </a:solidFill>
                <a:latin typeface="Trebuchet MS" panose="020B0603020202020204"/>
                <a:cs typeface="Arial" panose="020B0604020202020204"/>
                <a:sym typeface="Arial" panose="020B0604020202020204"/>
              </a:rPr>
              <a:t> o app desktop</a:t>
            </a:r>
            <a:endParaRPr lang="pt-BR" sz="900" dirty="0">
              <a:solidFill>
                <a:schemeClr val="bg1"/>
              </a:solidFill>
            </a:endParaRPr>
          </a:p>
        </p:txBody>
      </p:sp>
      <p:grpSp>
        <p:nvGrpSpPr>
          <p:cNvPr id="66" name="Grupo 65"/>
          <p:cNvGrpSpPr/>
          <p:nvPr/>
        </p:nvGrpSpPr>
        <p:grpSpPr>
          <a:xfrm>
            <a:off x="3129280" y="608965"/>
            <a:ext cx="5512435" cy="241300"/>
            <a:chOff x="4928" y="959"/>
            <a:chExt cx="8681" cy="380"/>
          </a:xfrm>
        </p:grpSpPr>
        <p:sp>
          <p:nvSpPr>
            <p:cNvPr id="61" name="Retângulo arredondado 17"/>
            <p:cNvSpPr/>
            <p:nvPr/>
          </p:nvSpPr>
          <p:spPr>
            <a:xfrm>
              <a:off x="4928" y="1009"/>
              <a:ext cx="8681" cy="280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E1C1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b="1" dirty="0">
                  <a:solidFill>
                    <a:srgbClr val="8C2416"/>
                  </a:solidFill>
                  <a:latin typeface="Trebuchet MS" panose="020B0603020202020204" pitchFamily="34" charset="0"/>
                  <a:cs typeface="Trebuchet MS" panose="020B0603020202020204" pitchFamily="34" charset="0"/>
                </a:rPr>
                <a:t>https://pdd.cidacs.org</a:t>
              </a:r>
              <a:endParaRPr lang="en-US" altLang="en-US" b="1" dirty="0">
                <a:solidFill>
                  <a:srgbClr val="8C2416"/>
                </a:solidFill>
                <a:latin typeface="Trebuchet MS" panose="020B0603020202020204" pitchFamily="34" charset="0"/>
                <a:cs typeface="Trebuchet MS" panose="020B0603020202020204" pitchFamily="34" charset="0"/>
              </a:endParaRPr>
            </a:p>
          </p:txBody>
        </p:sp>
        <p:pic>
          <p:nvPicPr>
            <p:cNvPr id="64" name="Imagem 63"/>
            <p:cNvPicPr>
              <a:picLocks noChangeAspect="1"/>
            </p:cNvPicPr>
            <p:nvPr/>
          </p:nvPicPr>
          <p:blipFill>
            <a:blip r:embed="rId4">
              <a:grayscl/>
              <a:lum bright="46000" contrast="-70000"/>
            </a:blip>
            <a:stretch>
              <a:fillRect/>
            </a:stretch>
          </p:blipFill>
          <p:spPr>
            <a:xfrm>
              <a:off x="6786" y="959"/>
              <a:ext cx="380" cy="380"/>
            </a:xfrm>
            <a:prstGeom prst="rect">
              <a:avLst/>
            </a:prstGeom>
          </p:spPr>
        </p:pic>
      </p:grpSp>
      <p:sp>
        <p:nvSpPr>
          <p:cNvPr id="28" name="Caixa de Texto 27"/>
          <p:cNvSpPr txBox="1"/>
          <p:nvPr/>
        </p:nvSpPr>
        <p:spPr>
          <a:xfrm>
            <a:off x="1678940" y="25400"/>
            <a:ext cx="5756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Como acessar e utilizar a PDD-Cidacs?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3" name="Caixa de Texto 12"/>
          <p:cNvSpPr txBox="1"/>
          <p:nvPr/>
        </p:nvSpPr>
        <p:spPr>
          <a:xfrm>
            <a:off x="1694815" y="25400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Conhecendo o Portal da PDD-Cidacs  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grpSp>
        <p:nvGrpSpPr>
          <p:cNvPr id="66" name="Grupo 65"/>
          <p:cNvGrpSpPr/>
          <p:nvPr/>
        </p:nvGrpSpPr>
        <p:grpSpPr>
          <a:xfrm>
            <a:off x="1605915" y="1549400"/>
            <a:ext cx="5512435" cy="241300"/>
            <a:chOff x="4928" y="959"/>
            <a:chExt cx="8681" cy="380"/>
          </a:xfrm>
        </p:grpSpPr>
        <p:sp>
          <p:nvSpPr>
            <p:cNvPr id="61" name="Retângulo arredondado 17"/>
            <p:cNvSpPr/>
            <p:nvPr/>
          </p:nvSpPr>
          <p:spPr>
            <a:xfrm>
              <a:off x="4928" y="1009"/>
              <a:ext cx="8681" cy="280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E1C1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b="1" dirty="0">
                  <a:solidFill>
                    <a:srgbClr val="8C2416"/>
                  </a:solidFill>
                  <a:latin typeface="Trebuchet MS" panose="020B0603020202020204" pitchFamily="34" charset="0"/>
                  <a:cs typeface="Trebuchet MS" panose="020B0603020202020204" pitchFamily="34" charset="0"/>
                </a:rPr>
                <a:t>https://pdd.cidacs.org</a:t>
              </a:r>
              <a:endParaRPr lang="en-US" altLang="en-US" b="1" dirty="0">
                <a:solidFill>
                  <a:srgbClr val="8C2416"/>
                </a:solidFill>
                <a:latin typeface="Trebuchet MS" panose="020B0603020202020204" pitchFamily="34" charset="0"/>
                <a:cs typeface="Trebuchet MS" panose="020B0603020202020204" pitchFamily="34" charset="0"/>
              </a:endParaRPr>
            </a:p>
          </p:txBody>
        </p:sp>
        <p:pic>
          <p:nvPicPr>
            <p:cNvPr id="64" name="Imagem 63"/>
            <p:cNvPicPr>
              <a:picLocks noChangeAspect="1"/>
            </p:cNvPicPr>
            <p:nvPr/>
          </p:nvPicPr>
          <p:blipFill>
            <a:blip r:embed="rId3">
              <a:grayscl/>
              <a:lum bright="46000" contrast="-70000"/>
            </a:blip>
            <a:stretch>
              <a:fillRect/>
            </a:stretch>
          </p:blipFill>
          <p:spPr>
            <a:xfrm>
              <a:off x="6786" y="959"/>
              <a:ext cx="380" cy="380"/>
            </a:xfrm>
            <a:prstGeom prst="rect">
              <a:avLst/>
            </a:prstGeom>
          </p:spPr>
        </p:pic>
      </p:grpSp>
      <p:pic>
        <p:nvPicPr>
          <p:cNvPr id="67" name="Imagem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5570" y="1888490"/>
            <a:ext cx="8554720" cy="441706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rcRect r="2593"/>
          <a:stretch>
            <a:fillRect/>
          </a:stretch>
        </p:blipFill>
        <p:spPr>
          <a:xfrm>
            <a:off x="910590" y="2113280"/>
            <a:ext cx="6501765" cy="3312795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7915910" y="1946275"/>
            <a:ext cx="41871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Criar um usuário na plataforma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Fazer login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Navegar no Catálogo de Dados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/>
              <a:t>Navegar no Catálogo de Metadados</a:t>
            </a:r>
            <a:endParaRPr lang="en-US" altLang="pt-BR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/>
              <a:t>    (Dataverse)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/>
          </a:p>
          <a:p>
            <a:pPr marL="285750" indent="-285750"/>
            <a:endParaRPr lang="en-US" altLang="pt-BR"/>
          </a:p>
        </p:txBody>
      </p:sp>
      <p:sp>
        <p:nvSpPr>
          <p:cNvPr id="8" name="Caixa de Texto 7"/>
          <p:cNvSpPr txBox="1"/>
          <p:nvPr/>
        </p:nvSpPr>
        <p:spPr>
          <a:xfrm>
            <a:off x="8157210" y="6207760"/>
            <a:ext cx="3886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1400" b="1" dirty="0">
                <a:solidFill>
                  <a:srgbClr val="8C2416"/>
                </a:solidFill>
                <a:cs typeface="+mn-lt"/>
              </a:rPr>
              <a:t>Vamos para o portal da plataforma para criar um novo usuário &gt;&gt;&gt;</a:t>
            </a:r>
            <a:endParaRPr lang="en-US" altLang="en-US" sz="1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-5461"/>
            <a:ext cx="12192000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28764" t="17894" r="31758"/>
          <a:stretch>
            <a:fillRect/>
          </a:stretch>
        </p:blipFill>
        <p:spPr>
          <a:xfrm>
            <a:off x="438753" y="1003571"/>
            <a:ext cx="3766685" cy="416176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Picture 6"/>
          <p:cNvPicPr>
            <a:picLocks noChangeAspect="1"/>
          </p:cNvPicPr>
          <p:nvPr/>
        </p:nvPicPr>
        <p:blipFill>
          <a:blip r:embed="rId3"/>
          <a:srcRect l="29838" t="18008" r="31291" b="1992"/>
          <a:stretch>
            <a:fillRect/>
          </a:stretch>
        </p:blipFill>
        <p:spPr>
          <a:xfrm>
            <a:off x="4376887" y="1017541"/>
            <a:ext cx="3806399" cy="4161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8"/>
          <p:cNvPicPr>
            <a:picLocks noChangeAspect="1"/>
          </p:cNvPicPr>
          <p:nvPr/>
        </p:nvPicPr>
        <p:blipFill>
          <a:blip r:embed="rId4"/>
          <a:srcRect l="30484" t="18614" r="31210"/>
          <a:stretch>
            <a:fillRect/>
          </a:stretch>
        </p:blipFill>
        <p:spPr>
          <a:xfrm>
            <a:off x="8308940" y="1017541"/>
            <a:ext cx="3662285" cy="413356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pSp>
        <p:nvGrpSpPr>
          <p:cNvPr id="66" name="Grupo 65"/>
          <p:cNvGrpSpPr/>
          <p:nvPr/>
        </p:nvGrpSpPr>
        <p:grpSpPr>
          <a:xfrm>
            <a:off x="3129280" y="577215"/>
            <a:ext cx="5512435" cy="241300"/>
            <a:chOff x="4928" y="909"/>
            <a:chExt cx="8681" cy="380"/>
          </a:xfrm>
        </p:grpSpPr>
        <p:sp>
          <p:nvSpPr>
            <p:cNvPr id="15" name="Retângulo arredondado 17"/>
            <p:cNvSpPr/>
            <p:nvPr/>
          </p:nvSpPr>
          <p:spPr>
            <a:xfrm>
              <a:off x="4928" y="1009"/>
              <a:ext cx="8681" cy="280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E1C1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b="1" dirty="0">
                  <a:solidFill>
                    <a:srgbClr val="8C2416"/>
                  </a:solidFill>
                  <a:latin typeface="Trebuchet MS" panose="020B0603020202020204" pitchFamily="34" charset="0"/>
                  <a:cs typeface="Trebuchet MS" panose="020B0603020202020204" pitchFamily="34" charset="0"/>
                </a:rPr>
                <a:t>https://cidacs.bahia.fiocruz.br/pdd/</a:t>
              </a:r>
              <a:endParaRPr lang="en-US" altLang="en-US" b="1" dirty="0">
                <a:solidFill>
                  <a:srgbClr val="8C2416"/>
                </a:solidFill>
                <a:latin typeface="Trebuchet MS" panose="020B0603020202020204" pitchFamily="34" charset="0"/>
                <a:cs typeface="Trebuchet MS" panose="020B0603020202020204" pitchFamily="34" charset="0"/>
              </a:endParaRPr>
            </a:p>
          </p:txBody>
        </p:sp>
        <p:pic>
          <p:nvPicPr>
            <p:cNvPr id="64" name="Imagem 63"/>
            <p:cNvPicPr>
              <a:picLocks noChangeAspect="1"/>
            </p:cNvPicPr>
            <p:nvPr/>
          </p:nvPicPr>
          <p:blipFill>
            <a:blip r:embed="rId5">
              <a:grayscl/>
              <a:lum bright="46000" contrast="-70000"/>
            </a:blip>
            <a:stretch>
              <a:fillRect/>
            </a:stretch>
          </p:blipFill>
          <p:spPr>
            <a:xfrm>
              <a:off x="5639" y="909"/>
              <a:ext cx="380" cy="380"/>
            </a:xfrm>
            <a:prstGeom prst="rect">
              <a:avLst/>
            </a:prstGeom>
          </p:spPr>
        </p:pic>
      </p:grpSp>
      <p:sp>
        <p:nvSpPr>
          <p:cNvPr id="17" name="TextBox 6"/>
          <p:cNvSpPr txBox="1"/>
          <p:nvPr/>
        </p:nvSpPr>
        <p:spPr>
          <a:xfrm>
            <a:off x="410210" y="5253990"/>
            <a:ext cx="117817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Página </a:t>
            </a:r>
            <a:r>
              <a:rPr lang="en-US" altLang="en-US" dirty="0" err="1"/>
              <a:t>dentro do site do Cidacs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Manual do usuário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Nota técnica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FAQ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Contato - dúvidas, sugestões e suporte (pdd.cidacs@gmail.com)</a:t>
            </a:r>
            <a:endParaRPr lang="en-US" altLang="en-US" dirty="0" err="1"/>
          </a:p>
        </p:txBody>
      </p:sp>
      <p:sp>
        <p:nvSpPr>
          <p:cNvPr id="28" name="Caixa de Texto 27"/>
          <p:cNvSpPr txBox="1"/>
          <p:nvPr/>
        </p:nvSpPr>
        <p:spPr>
          <a:xfrm>
            <a:off x="1678940" y="25400"/>
            <a:ext cx="5756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Material de Suporte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376555" y="552450"/>
            <a:ext cx="11692890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b="1" dirty="0" err="1"/>
              <a:t>Objetivo:</a:t>
            </a:r>
            <a:r>
              <a:rPr lang="en-US" altLang="en-US" sz="1500" dirty="0" err="1"/>
              <a:t> demonstrar o uso da </a:t>
            </a:r>
            <a:r>
              <a:rPr lang="en-US" altLang="en-US" sz="1500" b="1" dirty="0" err="1"/>
              <a:t>Plataforma de Dados Desidentificados (PDD-Cidacs)</a:t>
            </a:r>
            <a:r>
              <a:rPr lang="en-US" altLang="en-US" sz="1500" dirty="0" err="1"/>
              <a:t> como ferramenta para extração e manejo de dados administrativos abertos, promovendo a compreensão prática dos procedimentos de obtenção, filtragem e organização de dados voltados ao desenvolvimento de estudos e análises em saúde.</a:t>
            </a: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b="1" dirty="0" err="1"/>
              <a:t>Entregas:</a:t>
            </a:r>
            <a:r>
              <a:rPr lang="en-US" altLang="en-US" sz="1500" dirty="0" err="1"/>
              <a:t> nesta atividade, o(a) aluno(a) deverá, por meio da plataforma, </a:t>
            </a:r>
            <a:r>
              <a:rPr lang="en-US" altLang="en-US" sz="1500" b="1" dirty="0" err="1"/>
              <a:t>realizar o download das bases de dados necessárias</a:t>
            </a:r>
            <a:r>
              <a:rPr lang="en-US" altLang="en-US" sz="1500" dirty="0" err="1"/>
              <a:t>, aplicando corretamente os </a:t>
            </a:r>
            <a:r>
              <a:rPr lang="en-US" altLang="en-US" sz="1500" b="1" dirty="0" err="1"/>
              <a:t>filtros de seleção</a:t>
            </a:r>
            <a:r>
              <a:rPr lang="en-US" altLang="en-US" sz="1500" dirty="0" err="1"/>
              <a:t> de acordo com a proposta da prática (incluindo os critérios de </a:t>
            </a:r>
            <a:r>
              <a:rPr lang="en-US" altLang="en-US" sz="1500" b="1" dirty="0" err="1"/>
              <a:t>população</a:t>
            </a:r>
            <a:r>
              <a:rPr lang="en-US" altLang="en-US" sz="1500" dirty="0" err="1"/>
              <a:t>,  </a:t>
            </a:r>
            <a:r>
              <a:rPr lang="en-US" altLang="en-US" sz="1500" b="1" dirty="0" err="1"/>
              <a:t>abrangência temporal, geográfica e de seleção de variáveis</a:t>
            </a:r>
            <a:r>
              <a:rPr lang="en-US" altLang="en-US" sz="1500" dirty="0" err="1"/>
              <a:t>). Além disso, deverá </a:t>
            </a:r>
            <a:r>
              <a:rPr lang="en-US" altLang="en-US" sz="1500" b="1" dirty="0" err="1"/>
              <a:t>estruturar uma base de dados final para análise</a:t>
            </a:r>
            <a:r>
              <a:rPr lang="en-US" altLang="en-US" sz="1500" dirty="0" err="1"/>
              <a:t>. </a:t>
            </a: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dirty="0" err="1"/>
              <a:t>Como produto desta etapa, deverão ser entregue:</a:t>
            </a: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dirty="0" err="1"/>
              <a:t>1. As</a:t>
            </a:r>
            <a:r>
              <a:rPr lang="en-US" altLang="en-US" sz="1500" b="1" dirty="0" err="1"/>
              <a:t> bases de dados extraídas </a:t>
            </a:r>
            <a:r>
              <a:rPr lang="en-US" altLang="en-US" sz="1500" dirty="0" err="1"/>
              <a:t>e um documento contendo os respectivo metadados delas com </a:t>
            </a:r>
            <a:r>
              <a:rPr lang="en-US" altLang="en-US" sz="1500" b="1" dirty="0" err="1">
                <a:sym typeface="+mn-ea"/>
              </a:rPr>
              <a:t>descrição detalhada das etapas realizadas</a:t>
            </a:r>
            <a:r>
              <a:rPr lang="en-US" altLang="en-US" sz="1500" dirty="0" err="1">
                <a:sym typeface="+mn-ea"/>
              </a:rPr>
              <a:t> para obtenção dos dados</a:t>
            </a:r>
            <a:r>
              <a:rPr lang="en-US" altLang="en-US" sz="1500" dirty="0" err="1"/>
              <a:t>:</a:t>
            </a:r>
            <a:endParaRPr lang="en-US" altLang="en-US" sz="1500" dirty="0" err="1"/>
          </a:p>
          <a:p>
            <a:pPr indent="0" algn="just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1500" dirty="0" err="1"/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1500" dirty="0" err="1"/>
              <a:t>A </a:t>
            </a:r>
            <a:r>
              <a:rPr lang="en-US" altLang="en-US" sz="1500" b="1" dirty="0" err="1"/>
              <a:t>lista das bases</a:t>
            </a:r>
            <a:r>
              <a:rPr lang="en-US" altLang="en-US" sz="1500" dirty="0" err="1"/>
              <a:t> de dados utilizadas para compor a base final, suas proviniências (fontes de dados) e respectivos DOI, e as variáveis selecionadas com seus dicionários;</a:t>
            </a:r>
            <a:endParaRPr lang="en-US" altLang="en-US" sz="1500" dirty="0" err="1"/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1500" dirty="0" err="1"/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1500" b="1" dirty="0" err="1"/>
              <a:t>Número de registros </a:t>
            </a:r>
            <a:r>
              <a:rPr lang="en-US" altLang="en-US" sz="1500" dirty="0" err="1"/>
              <a:t>obtidos em cada base de dados extraída</a:t>
            </a:r>
            <a:r>
              <a:rPr lang="en-US" altLang="en-US" sz="1500" b="1" dirty="0" err="1"/>
              <a:t>;</a:t>
            </a:r>
            <a:endParaRPr lang="en-US" altLang="en-US" sz="1500" dirty="0" err="1"/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1500" dirty="0" err="1"/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1500" dirty="0" err="1"/>
              <a:t>Os </a:t>
            </a:r>
            <a:r>
              <a:rPr lang="en-US" altLang="en-US" sz="1500" b="1" dirty="0" err="1"/>
              <a:t>filtros aplicados</a:t>
            </a:r>
            <a:r>
              <a:rPr lang="en-US" altLang="en-US" sz="1500" dirty="0" err="1"/>
              <a:t> (temporais, geográficos e de conteúdo);</a:t>
            </a:r>
            <a:endParaRPr lang="en-US" altLang="en-US" sz="1500" dirty="0" err="1"/>
          </a:p>
          <a:p>
            <a:pPr indent="0" algn="just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1500" dirty="0" err="1"/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1500" dirty="0" err="1"/>
          </a:p>
          <a:p>
            <a:pPr indent="0" algn="just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sz="1500" dirty="0" err="1"/>
              <a:t>2. A</a:t>
            </a:r>
            <a:r>
              <a:rPr lang="en-US" altLang="en-US" sz="1500" b="1" dirty="0" err="1"/>
              <a:t> base final pronta para análise</a:t>
            </a:r>
            <a:r>
              <a:rPr lang="en-US" altLang="en-US" sz="1500" dirty="0" err="1"/>
              <a:t> e os respectivos metadados gerados:</a:t>
            </a:r>
            <a:endParaRPr lang="en-US" altLang="en-US" sz="1500" dirty="0" err="1"/>
          </a:p>
          <a:p>
            <a:pPr indent="0" algn="just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1500" dirty="0" err="1"/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500" dirty="0" err="1"/>
              <a:t>Os dados deverão ser </a:t>
            </a:r>
            <a:r>
              <a:rPr lang="en-US" altLang="en-US" sz="1500" b="1" dirty="0" err="1"/>
              <a:t>agregados por município e ano</a:t>
            </a:r>
            <a:r>
              <a:rPr lang="en-US" altLang="en-US" sz="1500" dirty="0" err="1"/>
              <a:t>, calculando-se a variável desfecho e enrequicido com as variáveis para análise conforme o método de análise definido. </a:t>
            </a: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dirty="0" err="1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3" name="Caixa de Texto 12"/>
          <p:cNvSpPr txBox="1"/>
          <p:nvPr/>
        </p:nvSpPr>
        <p:spPr>
          <a:xfrm>
            <a:off x="171196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Atividade Prática - 10/10/2025                               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376555" y="552450"/>
            <a:ext cx="11692890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dirty="0" err="1">
                <a:sym typeface="+mn-ea"/>
              </a:rPr>
              <a:t>Para fins didáticos, será apresentado um contexto geral de pesquisa (fictício) a fim de destacar o papel da ferramenta e orientar a execução da atividade. A </a:t>
            </a:r>
            <a:r>
              <a:rPr lang="en-US" altLang="en-US" sz="1500" b="1" dirty="0" err="1">
                <a:sym typeface="+mn-ea"/>
              </a:rPr>
              <a:t>atividade será iniciada durante a aula, pelo professor, e o restante será desenvolvido pelos discentes.</a:t>
            </a:r>
            <a:endParaRPr lang="en-US" altLang="en-US" sz="1500" b="1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b="1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dirty="0" err="1">
                <a:sym typeface="+mn-ea"/>
              </a:rPr>
              <a:t>A atividade será entregue via e-mail para o </a:t>
            </a:r>
            <a:r>
              <a:rPr lang="en-US" altLang="en-US" sz="1500" b="1" dirty="0" err="1">
                <a:sym typeface="+mn-ea"/>
              </a:rPr>
              <a:t>Coordenador Curso</a:t>
            </a:r>
            <a:r>
              <a:rPr lang="en-US" altLang="en-US" sz="1500" dirty="0" err="1">
                <a:sym typeface="+mn-ea"/>
              </a:rPr>
              <a:t> até </a:t>
            </a:r>
            <a:r>
              <a:rPr lang="en-US" altLang="en-US" sz="1500" b="1" dirty="0" err="1">
                <a:sym typeface="+mn-ea"/>
              </a:rPr>
              <a:t>22/10/2025</a:t>
            </a:r>
            <a:r>
              <a:rPr lang="en-US" altLang="en-US" sz="1500" dirty="0" err="1">
                <a:sym typeface="+mn-ea"/>
              </a:rPr>
              <a:t>.</a:t>
            </a:r>
            <a:endParaRPr lang="en-US" altLang="en-US" sz="1500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dirty="0" err="1"/>
              <a:t>A atividade será </a:t>
            </a:r>
            <a:r>
              <a:rPr lang="en-US" altLang="en-US" sz="1500" b="1" dirty="0" err="1"/>
              <a:t>continuada </a:t>
            </a:r>
            <a:r>
              <a:rPr lang="en-US" altLang="en-US" sz="1500" dirty="0" err="1"/>
              <a:t>nas demais aulas, a partir dos resultados desta primeira etapa. </a:t>
            </a:r>
            <a:endParaRPr lang="en-US" altLang="en-US" sz="15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500" b="1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500" b="1" dirty="0" err="1"/>
              <a:t>E- mail para contato/suporte:</a:t>
            </a:r>
            <a:endParaRPr lang="en-US" altLang="en-US" sz="1500" b="1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500" dirty="0" err="1"/>
              <a:t>imaster.rafa@gmail.com;</a:t>
            </a:r>
            <a:endParaRPr lang="en-US" altLang="en-US" sz="15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500" dirty="0" err="1"/>
              <a:t>mikael.coletto.eng@gmail.com </a:t>
            </a:r>
            <a:endParaRPr lang="en-US" altLang="en-US" sz="1500" dirty="0" err="1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3" name="Caixa de Texto 12"/>
          <p:cNvSpPr txBox="1"/>
          <p:nvPr/>
        </p:nvSpPr>
        <p:spPr>
          <a:xfrm>
            <a:off x="171196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Atividade Prática - 10/10/2025                               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5305" y="1660525"/>
            <a:ext cx="10996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dirty="0" err="1"/>
              <a:t>Investigar se há desigualdade na taxa de mortalidade infantil entre os municípios de </a:t>
            </a:r>
            <a:r>
              <a:rPr lang="en-US" altLang="en-US" b="1" dirty="0" err="1"/>
              <a:t>Minas Gerais</a:t>
            </a:r>
            <a:r>
              <a:rPr lang="en-US" altLang="en-US" dirty="0" err="1"/>
              <a:t> e avaliar a associação desta desigualdade com indicadores socioeconômicos. A análise busca identificar padrões espaciais e socioeconômicos que possam subsidiar ações de redução da mortalidade infantil.</a:t>
            </a:r>
            <a:endParaRPr lang="en-US" altLang="en-US" dirty="0" err="1"/>
          </a:p>
        </p:txBody>
      </p:sp>
      <p:sp>
        <p:nvSpPr>
          <p:cNvPr id="28" name="Caixa de Texto 27"/>
          <p:cNvSpPr txBox="1"/>
          <p:nvPr/>
        </p:nvSpPr>
        <p:spPr>
          <a:xfrm>
            <a:off x="535305" y="1073150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1: Problema de Pesquisa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830580" y="1236345"/>
            <a:ext cx="109969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/>
              <a:t>Desfecho principal:</a:t>
            </a:r>
            <a:r>
              <a:rPr lang="en-US" altLang="en-US" dirty="0" err="1"/>
              <a:t> 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óbitos infantis por todas as causas, &lt; 1 ano (numerador da taxa de mortalidade)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/>
              <a:t>População em risco:</a:t>
            </a:r>
            <a:r>
              <a:rPr lang="en-US" altLang="en-US" dirty="0" err="1"/>
              <a:t> 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nascidos vivos (denominador da taxa de mortalidade)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/>
              <a:t>Estratificadores socioeconômicos:</a:t>
            </a:r>
            <a:endParaRPr lang="en-US" altLang="en-US" b="1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renda, desenvolvimento humano (IDH-M), escolaridade, cobertura de programas sociais (ex. PBF), privação material (IBP), etc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/>
              <a:t>Informações geográficas:</a:t>
            </a:r>
            <a:r>
              <a:rPr lang="en-US" altLang="en-US" dirty="0" err="1"/>
              <a:t> 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/>
              <a:t>códigos IBGE dos municípios para integração e mapeamento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Informações temporais:</a:t>
            </a:r>
            <a:r>
              <a:rPr lang="en-US" altLang="en-US" dirty="0" err="1">
                <a:sym typeface="+mn-ea"/>
              </a:rPr>
              <a:t> </a:t>
            </a:r>
            <a:endParaRPr lang="en-US" altLang="en-US" dirty="0" err="1">
              <a:sym typeface="+mn-ea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ano do óbito e ano do nascimento</a:t>
            </a:r>
            <a:endParaRPr lang="en-US" altLang="en-US" dirty="0" err="1">
              <a:sym typeface="+mn-ea"/>
            </a:endParaRPr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7597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2:  </a:t>
            </a:r>
            <a:r>
              <a:rPr lang="en-US" altLang="en-US" sz="2400" b="1" dirty="0" err="1">
                <a:solidFill>
                  <a:srgbClr val="8C2416"/>
                </a:solidFill>
                <a:sym typeface="+mn-ea"/>
              </a:rPr>
              <a:t>Identificar quais dados são necessários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830580" y="1236345"/>
            <a:ext cx="109969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dirty="0" err="1">
                <a:sym typeface="+mn-ea"/>
              </a:rPr>
              <a:t>O desenho do estudo define </a:t>
            </a:r>
            <a:r>
              <a:rPr lang="en-US" altLang="en-US" b="1" dirty="0" err="1">
                <a:sym typeface="+mn-ea"/>
              </a:rPr>
              <a:t>como os dados serão analisados para responder à pergunta de pesquisa</a:t>
            </a:r>
            <a:r>
              <a:rPr lang="en-US" altLang="en-US" dirty="0" err="1">
                <a:sym typeface="+mn-ea"/>
              </a:rPr>
              <a:t>. Deve permitir a identificação de padrões espaciais e socioeconômicos e capturar as diferenças entre os municípios.</a:t>
            </a:r>
            <a:endParaRPr lang="en-US" altLang="en-US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Tipo de estudo:</a:t>
            </a:r>
            <a:r>
              <a:rPr lang="en-US" altLang="en-US" dirty="0" err="1">
                <a:sym typeface="+mn-ea"/>
              </a:rPr>
              <a:t> </a:t>
            </a:r>
            <a:endParaRPr lang="en-US" altLang="en-US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ecológico, com municípios como unidade de análise.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Objetivo:</a:t>
            </a:r>
            <a:r>
              <a:rPr lang="en-US" altLang="en-US" dirty="0" err="1">
                <a:sym typeface="+mn-ea"/>
              </a:rPr>
              <a:t> </a:t>
            </a:r>
            <a:endParaRPr lang="en-US" altLang="en-US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avaliar diferenças na mortalidade infantil (&lt; 1 ano) e sua associação com a privação material.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Período de análise:</a:t>
            </a:r>
            <a:r>
              <a:rPr lang="en-US" altLang="en-US" dirty="0" err="1">
                <a:sym typeface="+mn-ea"/>
              </a:rPr>
              <a:t> </a:t>
            </a:r>
            <a:endParaRPr lang="en-US" altLang="en-US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série temporal dos últimos cinco anos nas bases de dados do SIM e SINASC (2019 a 2023);</a:t>
            </a:r>
            <a:endParaRPr lang="en-US" altLang="en-US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Indicador socioeconômico de 2010 (IBP).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b="1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b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>
              <a:sym typeface="+mn-ea"/>
            </a:endParaRPr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7597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3:  Desenho do estudo</a:t>
            </a:r>
            <a:endParaRPr lang="en-US" altLang="en-US" sz="2400" b="1" dirty="0">
              <a:solidFill>
                <a:srgbClr val="8C2416"/>
              </a:solidFill>
              <a:cs typeface="+mn-lt"/>
              <a:sym typeface="+mn-ea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830580" y="1236345"/>
            <a:ext cx="109969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Variável de desfecho principal (dependente):</a:t>
            </a:r>
            <a:endParaRPr lang="en-US" altLang="en-US" b="1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Taxa de mortalidade infantil (&lt;1 ano)  por 1.000 nascidos vivos</a:t>
            </a:r>
            <a:endParaRPr lang="en-US" altLang="en-US" dirty="0" err="1">
              <a:sym typeface="+mn-ea"/>
            </a:endParaRPr>
          </a:p>
          <a:p>
            <a:pPr lvl="1" indent="0" algn="just">
              <a:buFont typeface="Arial" panose="020B0604020202020204" pitchFamily="34" charset="0"/>
              <a:buNone/>
            </a:pPr>
            <a:endParaRPr lang="en-US" altLang="en-US" b="1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Co-variáveis / estratificadores socioeconômicos (independentes):</a:t>
            </a:r>
            <a:endParaRPr lang="en-US" altLang="en-US" b="1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Renda per capita municipal.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Índice Gini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IDH-M (Índice de Desenvolvimento Humano Municipal)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Índice Brasileiro de Privação (IBP) Municipal 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Alfabetização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Cobertura de políticas públicas (ex.: atenção básica, programas sociais).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Variáveis de controle / ajustes:</a:t>
            </a:r>
            <a:endParaRPr lang="en-US" altLang="en-US" b="1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Regiões e Macrorregiões de Saúde.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População total do município (porte populacional).</a:t>
            </a: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Estratégia analítica (alternativas):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Análise descritiva:</a:t>
            </a:r>
            <a:r>
              <a:rPr lang="en-US" altLang="en-US" dirty="0" err="1">
                <a:sym typeface="+mn-ea"/>
              </a:rPr>
              <a:t> análise temporal, médias, quartis, mapas temáticos, etc.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Comparação entre estratos do IBP</a:t>
            </a:r>
            <a:r>
              <a:rPr lang="en-US" altLang="en-US" dirty="0" err="1">
                <a:sym typeface="+mn-ea"/>
              </a:rPr>
              <a:t> (ex.: quintis de privação) e regiões de saúde.</a:t>
            </a:r>
            <a:endParaRPr lang="en-US" altLang="en-US" dirty="0" err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Modelos estatísticos:</a:t>
            </a:r>
            <a:r>
              <a:rPr lang="en-US" altLang="en-US" dirty="0" err="1">
                <a:sym typeface="+mn-ea"/>
              </a:rPr>
              <a:t> regressão linear, regressão por quantis ou modelos de efeitos mistos para avaliar associações ajustando por variáveis de controle.</a:t>
            </a:r>
            <a:endParaRPr lang="en-US" altLang="en-US" dirty="0" err="1">
              <a:sym typeface="+mn-ea"/>
            </a:endParaRPr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7597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3:  Desenho do estudo</a:t>
            </a:r>
            <a:endParaRPr lang="en-US" altLang="en-US" sz="2400" b="1" dirty="0">
              <a:solidFill>
                <a:srgbClr val="8C2416"/>
              </a:solidFill>
              <a:cs typeface="+mn-lt"/>
              <a:sym typeface="+mn-ea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830580" y="1236345"/>
            <a:ext cx="109969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b="1" dirty="0" err="1">
                <a:sym typeface="+mn-ea"/>
              </a:rPr>
              <a:t>Quais bases de dados são necessárias / podem ser utilizadas?</a:t>
            </a:r>
            <a:endParaRPr lang="en-US" altLang="en-US" b="1" dirty="0" err="1"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ym typeface="+mn-ea"/>
              </a:rPr>
              <a:t>SIM (Sistema de Informação de Mortalidade, DATASUS/MS):</a:t>
            </a:r>
            <a:r>
              <a:rPr lang="en-US" altLang="en-US" sz="1600" dirty="0" err="1">
                <a:sym typeface="+mn-ea"/>
              </a:rPr>
              <a:t> fornece registros de óbitos, incluindo idade (para identificar pós-neonatal), município de residência, sexo, causa de morte, etc.</a:t>
            </a: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ym typeface="+mn-ea"/>
              </a:rPr>
              <a:t>SINASC (Sistema de Informação sobre Nascidos Vivos, DATASUS):</a:t>
            </a:r>
            <a:r>
              <a:rPr lang="en-US" altLang="en-US" sz="1600" dirty="0" err="1">
                <a:sym typeface="+mn-ea"/>
              </a:rPr>
              <a:t> fornece dados sobre nascidos vivos, necessário para cálculo das taxas.</a:t>
            </a: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ym typeface="+mn-ea"/>
              </a:rPr>
              <a:t>IBGE / Atlas do Desenvolvimento Humano:</a:t>
            </a:r>
            <a:r>
              <a:rPr lang="en-US" altLang="en-US" sz="1600" dirty="0" err="1">
                <a:sym typeface="+mn-ea"/>
              </a:rPr>
              <a:t> dados socioeconômicos municipais (renda per capita, IDH-M, Gini, escolaridade, indicadores de pobreza).</a:t>
            </a: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ym typeface="+mn-ea"/>
              </a:rPr>
              <a:t>IBP Municipal (Índice Privação Material, Cidacs/Fiocruz Bahia):</a:t>
            </a:r>
            <a:r>
              <a:rPr lang="en-US" altLang="en-US" sz="1600" dirty="0" err="1">
                <a:sym typeface="+mn-ea"/>
              </a:rPr>
              <a:t> índice que mede a privação material dos municípios brasileiros. Calculado usando informações de renda, educação e condições de moradia a partir dos dados do Censo Demográfico 2010.</a:t>
            </a:r>
            <a:endParaRPr lang="en-US" altLang="en-US" sz="1600" b="1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ym typeface="+mn-ea"/>
              </a:rPr>
              <a:t>Cadastro Único / Ministério do Desenvolvimento Social:</a:t>
            </a:r>
            <a:r>
              <a:rPr lang="en-US" altLang="en-US" sz="1600" dirty="0" err="1">
                <a:sym typeface="+mn-ea"/>
              </a:rPr>
              <a:t> informações sobre cobertura de programas sociais e políticas públicas.</a:t>
            </a: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ym typeface="+mn-ea"/>
              </a:rPr>
              <a:t>Divisões Políticas-Admnistrativas e de Saúde, malhas e dados geoespaciais (IBGE e Ministério da Saúde) :</a:t>
            </a:r>
            <a:r>
              <a:rPr lang="en-US" altLang="en-US" sz="1600" dirty="0" err="1">
                <a:sym typeface="+mn-ea"/>
              </a:rPr>
              <a:t> para georreferenciamento e visualização espacial.</a:t>
            </a:r>
            <a:endParaRPr lang="en-US" altLang="en-US" sz="1600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>
              <a:sym typeface="+mn-ea"/>
            </a:endParaRPr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7597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4: Identificar as bases de dados </a:t>
            </a:r>
            <a:endParaRPr lang="en-US" altLang="en-US" sz="2400" b="1" dirty="0">
              <a:solidFill>
                <a:srgbClr val="8C2416"/>
              </a:solidFill>
              <a:cs typeface="+mn-lt"/>
              <a:sym typeface="+mn-ea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830580" y="1236345"/>
            <a:ext cx="1099693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dirty="0" err="1">
                <a:sym typeface="+mn-ea"/>
              </a:rPr>
              <a:t>Garantir que os dados que serão utilizados sejam </a:t>
            </a:r>
            <a:r>
              <a:rPr lang="en-US" altLang="en-US" b="1" dirty="0" err="1">
                <a:sym typeface="+mn-ea"/>
              </a:rPr>
              <a:t>compatíveis, confiáveis e completas</a:t>
            </a:r>
            <a:r>
              <a:rPr lang="en-US" altLang="en-US" dirty="0" err="1">
                <a:sym typeface="+mn-ea"/>
              </a:rPr>
              <a:t> para análise.</a:t>
            </a:r>
            <a:endParaRPr lang="en-US" altLang="en-US" b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b="1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Estrutura da base e formato dos arquivos (CSV, DBF, Parquet, SQL, etc.).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Definição das variáveis e códigos (ex.: idade do óbito, código do município IBGE, indicadores socioeconômicos).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Cobertura temporal (anos disponíveis) e geográfica.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Frequência de atualização.</a:t>
            </a: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en-US" dirty="0" err="1">
                <a:sym typeface="+mn-ea"/>
              </a:rPr>
              <a:t>Limitações ou observações metodológicas.</a:t>
            </a:r>
            <a:endParaRPr lang="en-US" altLang="en-US" dirty="0" err="1">
              <a:sym typeface="+mn-ea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en-US" dirty="0" err="1">
              <a:sym typeface="+mn-ea"/>
            </a:endParaRPr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7597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5: </a:t>
            </a:r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Localizar as bases de dados &amp; Analisar os metadados</a:t>
            </a:r>
            <a:endParaRPr lang="en-US" altLang="en-US" sz="2400" b="1" dirty="0">
              <a:solidFill>
                <a:srgbClr val="8C2416"/>
              </a:solidFill>
              <a:cs typeface="+mn-lt"/>
              <a:sym typeface="+mn-ea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8157210" y="6207760"/>
            <a:ext cx="3886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1400" b="1" dirty="0">
                <a:solidFill>
                  <a:srgbClr val="8C2416"/>
                </a:solidFill>
                <a:cs typeface="+mn-lt"/>
              </a:rPr>
              <a:t>Vamos para o portal da plataforma, em seguida, explorar os metadados &gt;&gt;&gt;</a:t>
            </a:r>
            <a:endParaRPr lang="en-US" altLang="en-US" sz="1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724535" y="1266190"/>
            <a:ext cx="10996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endParaRPr lang="en-US" altLang="en-US" b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080260"/>
            <a:ext cx="4044950" cy="470471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4" name="Caixa de Texto 3"/>
          <p:cNvSpPr txBox="1"/>
          <p:nvPr/>
        </p:nvSpPr>
        <p:spPr>
          <a:xfrm>
            <a:off x="1040130" y="1608455"/>
            <a:ext cx="9085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pt-BR"/>
              <a:t>Metadados na PDD-Cidacs - Dataverse: </a:t>
            </a:r>
            <a:r>
              <a:rPr lang="en-US" altLang="pt-BR" b="1"/>
              <a:t>SIM </a:t>
            </a:r>
            <a:r>
              <a:rPr lang="en-US" altLang="pt-BR"/>
              <a:t>- </a:t>
            </a:r>
            <a:r>
              <a:rPr lang="en-US" altLang="pt-BR" u="sng"/>
              <a:t>https://doi.org/10.57833/cidacs/CWUP9K</a:t>
            </a:r>
            <a:endParaRPr lang="en-US" altLang="pt-BR" u="sng"/>
          </a:p>
        </p:txBody>
      </p:sp>
      <p:sp>
        <p:nvSpPr>
          <p:cNvPr id="6" name="Caixa de Texto 5"/>
          <p:cNvSpPr txBox="1"/>
          <p:nvPr/>
        </p:nvSpPr>
        <p:spPr>
          <a:xfrm>
            <a:off x="5379085" y="5647690"/>
            <a:ext cx="6688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tx1"/>
                </a:solidFill>
              </a:rPr>
              <a:t>Quais variáveis serão necessárias?</a:t>
            </a:r>
            <a:endParaRPr lang="en-US" altLang="en-US" sz="1400" b="1">
              <a:solidFill>
                <a:schemeClr val="tx1"/>
              </a:solidFill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5325110" y="1976755"/>
            <a:ext cx="6797040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pt-BR" sz="1200"/>
              <a:t>Os microdados do</a:t>
            </a:r>
            <a:r>
              <a:rPr lang="pt-BR" altLang="en-US" sz="1200"/>
              <a:t> </a:t>
            </a:r>
            <a:r>
              <a:rPr lang="pt-BR" altLang="en-US" sz="1200" b="1"/>
              <a:t>S</a:t>
            </a:r>
            <a:r>
              <a:rPr lang="en-US" altLang="pt-BR" sz="1200" b="1"/>
              <a:t>IM</a:t>
            </a:r>
            <a:r>
              <a:rPr lang="pt-BR" altLang="en-US" sz="1200" b="1"/>
              <a:t> </a:t>
            </a:r>
            <a:r>
              <a:rPr lang="pt-BR" altLang="en-US" sz="1200"/>
              <a:t>é uma base de dado</a:t>
            </a:r>
            <a:r>
              <a:rPr lang="en-US" altLang="pt-BR" sz="1200"/>
              <a:t>s do</a:t>
            </a:r>
            <a:r>
              <a:rPr lang="pt-BR" altLang="en-US" sz="1200"/>
              <a:t> M</a:t>
            </a:r>
            <a:r>
              <a:rPr lang="en-US" altLang="pt-BR" sz="1200"/>
              <a:t>S</a:t>
            </a:r>
            <a:r>
              <a:rPr lang="pt-BR" altLang="en-US" sz="1200"/>
              <a:t> que registra e organiza informações sobre óbitos ocorridos no Brasil. Ele foi implantado em 1975 e é a principal fonte para o monitoramento dos padrões de mortalidade e das causas de morte no país. </a:t>
            </a:r>
            <a:r>
              <a:rPr lang="en-US" altLang="pt-BR" sz="1200"/>
              <a:t>Dados consolidados para o período entre </a:t>
            </a:r>
            <a:r>
              <a:rPr lang="en-US" altLang="pt-BR" sz="1200" b="1"/>
              <a:t>1996 e 2023</a:t>
            </a:r>
            <a:r>
              <a:rPr lang="en-US" altLang="pt-BR" sz="1200"/>
              <a:t>.</a:t>
            </a:r>
            <a:endParaRPr lang="pt-BR" altLang="en-US" sz="1200" b="1"/>
          </a:p>
          <a:p>
            <a:pPr algn="l"/>
            <a:endParaRPr lang="pt-BR" altLang="en-US" sz="1200" b="1"/>
          </a:p>
          <a:p>
            <a:pPr algn="l"/>
            <a:r>
              <a:rPr lang="pt-BR" altLang="en-US" sz="1200" b="1"/>
              <a:t>Tipos de variáveis encontradas no SIM:</a:t>
            </a:r>
            <a:endParaRPr lang="pt-BR" altLang="en-US" sz="1200"/>
          </a:p>
          <a:p>
            <a:pPr algn="l"/>
            <a:endParaRPr lang="pt-BR" altLang="en-US" sz="1200"/>
          </a:p>
          <a:p>
            <a:pPr algn="l"/>
            <a:r>
              <a:rPr lang="pt-BR" altLang="en-US" sz="1200" b="1"/>
              <a:t>Identificação do óbito: </a:t>
            </a:r>
            <a:r>
              <a:rPr lang="pt-BR" altLang="en-US" sz="1200"/>
              <a:t> data do óbito, local de ocorrência, município e estado.</a:t>
            </a:r>
            <a:endParaRPr lang="pt-BR" altLang="en-US" sz="1200"/>
          </a:p>
          <a:p>
            <a:pPr algn="l"/>
            <a:endParaRPr lang="pt-BR" altLang="en-US" sz="1200"/>
          </a:p>
          <a:p>
            <a:pPr algn="l"/>
            <a:r>
              <a:rPr lang="pt-BR" altLang="en-US" sz="1200" b="1"/>
              <a:t>Características do </a:t>
            </a:r>
            <a:r>
              <a:rPr lang="en-US" altLang="pt-BR" sz="1200" b="1"/>
              <a:t>óbito</a:t>
            </a:r>
            <a:r>
              <a:rPr lang="pt-BR" altLang="en-US" sz="1200" b="1"/>
              <a:t>: </a:t>
            </a:r>
            <a:r>
              <a:rPr lang="pt-BR" altLang="en-US" sz="1200"/>
              <a:t>sexo, idade, raça/cor, escolaridade, estado civil, ocupação, residência (município/UF).</a:t>
            </a:r>
            <a:endParaRPr lang="pt-BR" altLang="en-US" sz="1200"/>
          </a:p>
          <a:p>
            <a:pPr algn="l"/>
            <a:endParaRPr lang="pt-BR" altLang="en-US" sz="1200"/>
          </a:p>
          <a:p>
            <a:pPr algn="l"/>
            <a:r>
              <a:rPr lang="pt-BR" altLang="en-US" sz="1200" b="1"/>
              <a:t>Causa do óbito:</a:t>
            </a:r>
            <a:r>
              <a:rPr lang="pt-BR" altLang="en-US" sz="1200"/>
              <a:t> causa básica e causas associadas, codificadas segundo a CID-10.</a:t>
            </a:r>
            <a:endParaRPr lang="pt-BR" altLang="en-US" sz="1200"/>
          </a:p>
          <a:p>
            <a:pPr algn="l"/>
            <a:endParaRPr lang="pt-BR" altLang="en-US" sz="1200"/>
          </a:p>
          <a:p>
            <a:pPr algn="l"/>
            <a:r>
              <a:rPr lang="pt-BR" altLang="en-US" sz="1200" b="1"/>
              <a:t>Assistência e circunstâncias:</a:t>
            </a:r>
            <a:r>
              <a:rPr lang="pt-BR" altLang="en-US" sz="1200"/>
              <a:t> se houve assistência médica, tipo de parto (em casos de óbito infantil), gravidez, local do óbito (hospital, domicílio, via pública etc.).</a:t>
            </a:r>
            <a:endParaRPr lang="pt-BR" altLang="en-US" sz="1200"/>
          </a:p>
          <a:p>
            <a:pPr algn="l"/>
            <a:endParaRPr lang="pt-BR" altLang="en-US" sz="1200"/>
          </a:p>
          <a:p>
            <a:pPr algn="l"/>
            <a:r>
              <a:rPr lang="pt-BR" altLang="en-US" sz="1200" b="1"/>
              <a:t>Dados maternos e infantis (quando aplicável):</a:t>
            </a:r>
            <a:r>
              <a:rPr lang="pt-BR" altLang="en-US" sz="1200"/>
              <a:t> peso ao nascer, idade da mãe, número de filhos, tempo de gestação.</a:t>
            </a:r>
            <a:endParaRPr lang="pt-BR" altLang="en-US" sz="1200"/>
          </a:p>
        </p:txBody>
      </p:sp>
      <p:sp>
        <p:nvSpPr>
          <p:cNvPr id="10" name="Caixa de Texto 9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724535" y="77597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Passo 5: Localizar as bases de dados &amp; Analisar os metadados</a:t>
            </a:r>
            <a:endParaRPr lang="en-US" altLang="en-US" sz="2400" b="1" dirty="0">
              <a:solidFill>
                <a:srgbClr val="8C2416"/>
              </a:solidFill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724535" y="1266190"/>
            <a:ext cx="10996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endParaRPr lang="en-US" altLang="en-US" b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0485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Passo 5: Localizar as bases de dados &amp; Analisar os metadados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040130" y="1608455"/>
            <a:ext cx="9390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pt-BR"/>
              <a:t>Metadados na PDD-Cidacs - Dataverse: </a:t>
            </a:r>
            <a:r>
              <a:rPr lang="en-US" altLang="pt-BR" b="1"/>
              <a:t>S</a:t>
            </a:r>
            <a:r>
              <a:rPr lang="en-US" altLang="en-US" b="1"/>
              <a:t>INASC</a:t>
            </a:r>
            <a:r>
              <a:rPr lang="en-US" altLang="pt-BR" b="1"/>
              <a:t> </a:t>
            </a:r>
            <a:r>
              <a:rPr lang="en-US" altLang="pt-BR"/>
              <a:t>- </a:t>
            </a:r>
            <a:r>
              <a:rPr lang="en-US" altLang="en-US" u="sng"/>
              <a:t>https://doi.org/10.57833/cidacs/C66E31</a:t>
            </a:r>
            <a:endParaRPr lang="en-US" altLang="en-US" u="sng"/>
          </a:p>
        </p:txBody>
      </p:sp>
      <p:sp>
        <p:nvSpPr>
          <p:cNvPr id="8" name="Caixa de Texto 7"/>
          <p:cNvSpPr txBox="1"/>
          <p:nvPr/>
        </p:nvSpPr>
        <p:spPr>
          <a:xfrm>
            <a:off x="5325110" y="1976755"/>
            <a:ext cx="6797040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pt-BR" sz="1200"/>
              <a:t>Os microdados do</a:t>
            </a:r>
            <a:r>
              <a:rPr lang="en-US" altLang="pt-BR" sz="1200" b="1"/>
              <a:t> SINASC </a:t>
            </a:r>
            <a:r>
              <a:rPr lang="en-US" altLang="pt-BR" sz="1200"/>
              <a:t>é uma base de dados do MS que registra e organiza informações sobre nascidos vivos no Brasil. Implantado em 1990, o sistema é a principal fonte para o monitoramento dos nascimentos e das características maternas, gestacionais e do recém-nascido. Dados consolidados estão disponíveis para o período entre 1996 e 2023.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pt-BR" sz="1200" b="1"/>
              <a:t>Tipos de variáveis encontradas no SINASC: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pt-BR" sz="1200" b="1"/>
              <a:t>Identificação do nascimento: </a:t>
            </a:r>
            <a:r>
              <a:rPr lang="en-US" altLang="pt-BR" sz="1200"/>
              <a:t>data do nascimento, local de ocorrência, município e estado.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pt-BR" sz="1200" b="1"/>
              <a:t>Características do recém-nascido:</a:t>
            </a:r>
            <a:r>
              <a:rPr lang="en-US" altLang="pt-BR" sz="1200"/>
              <a:t> sexo, peso ao nascer, Apgar no 1º e 5º minuto, tipo de gravidez (única, dupla, múltipla), e tipo de parto (vaginal, cesáreo).</a:t>
            </a:r>
            <a:endParaRPr lang="en-US" altLang="pt-BR" sz="1200"/>
          </a:p>
          <a:p>
            <a:pPr algn="just"/>
            <a:endParaRPr lang="en-US" altLang="pt-BR" sz="1200"/>
          </a:p>
          <a:p>
            <a:pPr algn="just"/>
            <a:r>
              <a:rPr lang="en-US" altLang="pt-BR" sz="1200" b="1"/>
              <a:t>Características maternas:</a:t>
            </a:r>
            <a:r>
              <a:rPr lang="en-US" altLang="pt-BR" sz="1200"/>
              <a:t> idade da mãe, escolaridade, estado civil, ocupação e residência (município/UF).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pt-BR" sz="1200" b="1"/>
              <a:t>Assistência pré-natal e gestação:</a:t>
            </a:r>
            <a:r>
              <a:rPr lang="en-US" altLang="pt-BR" sz="1200"/>
              <a:t> número de consultas de pré-natal, duração da gestação, presença de anomalias congênitas e profissional que assistiu ao parto.</a:t>
            </a:r>
            <a:endParaRPr lang="en-US" altLang="pt-BR" sz="120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" y="2050415"/>
            <a:ext cx="4832350" cy="451104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9" name="Caixa de Texto 8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5379085" y="5647690"/>
            <a:ext cx="6688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tx1"/>
                </a:solidFill>
              </a:rPr>
              <a:t>Quais variáveis serão necessárias?</a:t>
            </a:r>
            <a:endParaRPr lang="en-US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724535" y="1266190"/>
            <a:ext cx="10996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endParaRPr lang="en-US" altLang="en-US" b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dirty="0" err="1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dirty="0" err="1"/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0485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Passo 5: Localizar as bases de dados &amp; Analisar os metadados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040130" y="1608455"/>
            <a:ext cx="100590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pt-BR"/>
              <a:t>Metadados na PDD-Cidacs - Dataverse: </a:t>
            </a:r>
            <a:r>
              <a:rPr lang="en-US" altLang="en-US" b="1"/>
              <a:t>IBP Municipal </a:t>
            </a:r>
            <a:r>
              <a:rPr lang="en-US" altLang="pt-BR"/>
              <a:t>-</a:t>
            </a:r>
            <a:r>
              <a:rPr lang="en-US" altLang="pt-BR" u="sng"/>
              <a:t> </a:t>
            </a:r>
            <a:r>
              <a:rPr lang="en-US" u="sng"/>
              <a:t>https://doi.org/10.57833/cidacs/A5JAHB</a:t>
            </a:r>
            <a:endParaRPr lang="en-US" u="sng"/>
          </a:p>
        </p:txBody>
      </p:sp>
      <p:sp>
        <p:nvSpPr>
          <p:cNvPr id="8" name="Caixa de Texto 7"/>
          <p:cNvSpPr txBox="1"/>
          <p:nvPr/>
        </p:nvSpPr>
        <p:spPr>
          <a:xfrm>
            <a:off x="5325110" y="1976755"/>
            <a:ext cx="679704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pt-BR" sz="1200" b="1"/>
              <a:t>Índice Brasileiro de Privação (IBP)</a:t>
            </a:r>
            <a:r>
              <a:rPr lang="en-US" altLang="pt-BR" sz="1200"/>
              <a:t> calculado para os municípios brasileiros. Representa uma medida de privação material ou, de um modo mais geral, níveis de posição socioeconômica. Este índice foi calculado utilizando informações de </a:t>
            </a:r>
            <a:r>
              <a:rPr lang="en-US" altLang="pt-BR" sz="1200" b="1"/>
              <a:t>renda, educação e condições de moradia a partir dos dados do Censo Demográfico 2010</a:t>
            </a:r>
            <a:r>
              <a:rPr lang="en-US" altLang="pt-BR" sz="1200"/>
              <a:t>. Desenvolvido por pesquisadores do Centro de Integração de Dados e Conhecimentos para Saúde (Cidacs/Fiocruz Bahia) e da Universidade de Glasgow-Escócia, dentro do projeto Social Policy &amp; Health Inequalities (SPHI), financiado pela agência de fomento do Reino Unido National Institute for the Health Research (NIHR).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en-US" sz="1200" b="1"/>
              <a:t>Variáveis</a:t>
            </a:r>
            <a:r>
              <a:rPr lang="en-US" altLang="pt-BR" sz="1200" b="1"/>
              <a:t>: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pt-BR" sz="1200" b="1"/>
              <a:t>Identificação do </a:t>
            </a:r>
            <a:r>
              <a:rPr lang="en-US" altLang="en-US" sz="1200" b="1"/>
              <a:t>município</a:t>
            </a:r>
            <a:r>
              <a:rPr lang="en-US" altLang="pt-BR" sz="1200" b="1"/>
              <a:t>: </a:t>
            </a:r>
            <a:r>
              <a:rPr lang="en-US" altLang="en-US" sz="1200"/>
              <a:t>código IBGE  do município</a:t>
            </a:r>
            <a:r>
              <a:rPr lang="en-US" altLang="pt-BR" sz="1200"/>
              <a:t>.</a:t>
            </a:r>
            <a:endParaRPr lang="en-US" altLang="pt-BR" sz="1200"/>
          </a:p>
          <a:p>
            <a:pPr algn="just"/>
            <a:endParaRPr lang="en-US" altLang="pt-BR" sz="1200" b="1"/>
          </a:p>
          <a:p>
            <a:pPr algn="just"/>
            <a:r>
              <a:rPr lang="en-US" altLang="en-US" sz="1200" b="1"/>
              <a:t>valor medido</a:t>
            </a:r>
            <a:r>
              <a:rPr lang="en-US" altLang="pt-BR" sz="1200" b="1"/>
              <a:t>:</a:t>
            </a:r>
            <a:r>
              <a:rPr lang="en-US" altLang="pt-BR" sz="1200"/>
              <a:t> </a:t>
            </a:r>
            <a:r>
              <a:rPr lang="en-US" altLang="en-US" sz="1200"/>
              <a:t>valor do IBP (z-score), quintil e decil a que pertence o município</a:t>
            </a:r>
            <a:r>
              <a:rPr lang="en-US" altLang="pt-BR" sz="1200"/>
              <a:t>.</a:t>
            </a:r>
            <a:endParaRPr lang="en-US" altLang="pt-BR" sz="1200"/>
          </a:p>
          <a:p>
            <a:pPr algn="just"/>
            <a:endParaRPr lang="en-US" altLang="pt-BR" sz="12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76755"/>
            <a:ext cx="4677410" cy="303403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05" y="5080635"/>
            <a:ext cx="4739640" cy="1309370"/>
          </a:xfrm>
          <a:prstGeom prst="rect">
            <a:avLst/>
          </a:prstGeom>
        </p:spPr>
      </p:pic>
      <p:sp>
        <p:nvSpPr>
          <p:cNvPr id="10" name="Caixa de Texto 9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5379085" y="5647690"/>
            <a:ext cx="6688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tx1"/>
                </a:solidFill>
              </a:rPr>
              <a:t>Quais variáveis serão necessárias?</a:t>
            </a:r>
            <a:endParaRPr lang="en-US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724535" y="1257935"/>
            <a:ext cx="10996930" cy="3829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A </a:t>
            </a:r>
            <a:r>
              <a:rPr lang="en-US" altLang="en-US" sz="1600" b="1" dirty="0" err="1"/>
              <a:t>Plataforma de Dados Desidentificados (PDD-Cidacs)</a:t>
            </a:r>
            <a:r>
              <a:rPr lang="en-US" altLang="en-US" sz="1600" dirty="0" err="1"/>
              <a:t> será utilizada para extração dos dados. Identifique e adicione os datasets de interesse ao perfil de usuário. Utilizando o aplicativo, defina as variáveis que serão necessárias, filtre os dados e faça download. 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b="1" dirty="0" err="1">
                <a:solidFill>
                  <a:srgbClr val="167800"/>
                </a:solidFill>
              </a:rPr>
              <a:t>Lista de datasets:</a:t>
            </a:r>
            <a:endParaRPr lang="en-US" altLang="en-US" sz="1600" b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Sistema de Informação de Mortalidade (SIM) - a partir de 1996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Sistema de Informação Sobre Nascidos Vivos (SINASC) - a partir de 1996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Índice Brasileiro de Privação (IBP) Municipal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População residente segundo município por raça/cor (Censo Demográfico 2022)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Municípios segundo Macrorregiões e Regiões de Saúde do Brasil - 2025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Macrorregiões de Saúde do Brasil (Shapefile) - 2025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Regiões de Saúde do Brasil (Shapefile) - 2025</a:t>
            </a: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endParaRPr lang="en-US" altLang="en-US" sz="1400" dirty="0" err="1"/>
          </a:p>
          <a:p>
            <a:pPr marL="342900" indent="-342900" algn="just">
              <a:lnSpc>
                <a:spcPct val="7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 dirty="0" err="1"/>
              <a:t>Indicadores socioeconômicos e demográficos por município - 2010 </a:t>
            </a:r>
            <a:endParaRPr lang="en-US" altLang="en-US" sz="1400" dirty="0" err="1"/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0485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Passo 6: Extração de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grpSp>
        <p:nvGrpSpPr>
          <p:cNvPr id="66" name="Grupo 65"/>
          <p:cNvGrpSpPr/>
          <p:nvPr/>
        </p:nvGrpSpPr>
        <p:grpSpPr>
          <a:xfrm>
            <a:off x="1605915" y="1549400"/>
            <a:ext cx="5512435" cy="241300"/>
            <a:chOff x="4928" y="959"/>
            <a:chExt cx="8681" cy="380"/>
          </a:xfrm>
        </p:grpSpPr>
        <p:sp>
          <p:nvSpPr>
            <p:cNvPr id="61" name="Retângulo arredondado 17"/>
            <p:cNvSpPr/>
            <p:nvPr/>
          </p:nvSpPr>
          <p:spPr>
            <a:xfrm>
              <a:off x="4928" y="1009"/>
              <a:ext cx="8681" cy="280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E1C1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b="1" dirty="0">
                  <a:solidFill>
                    <a:srgbClr val="8C2416"/>
                  </a:solidFill>
                  <a:latin typeface="Trebuchet MS" panose="020B0603020202020204" pitchFamily="34" charset="0"/>
                  <a:cs typeface="Trebuchet MS" panose="020B0603020202020204" pitchFamily="34" charset="0"/>
                </a:rPr>
                <a:t>https://pdd.cidacs.org</a:t>
              </a:r>
              <a:endParaRPr lang="en-US" altLang="en-US" b="1" dirty="0">
                <a:solidFill>
                  <a:srgbClr val="8C2416"/>
                </a:solidFill>
                <a:latin typeface="Trebuchet MS" panose="020B0603020202020204" pitchFamily="34" charset="0"/>
                <a:cs typeface="Trebuchet MS" panose="020B0603020202020204" pitchFamily="34" charset="0"/>
              </a:endParaRPr>
            </a:p>
          </p:txBody>
        </p:sp>
        <p:pic>
          <p:nvPicPr>
            <p:cNvPr id="64" name="Imagem 63"/>
            <p:cNvPicPr>
              <a:picLocks noChangeAspect="1"/>
            </p:cNvPicPr>
            <p:nvPr/>
          </p:nvPicPr>
          <p:blipFill>
            <a:blip r:embed="rId3">
              <a:grayscl/>
              <a:lum bright="46000" contrast="-70000"/>
            </a:blip>
            <a:stretch>
              <a:fillRect/>
            </a:stretch>
          </p:blipFill>
          <p:spPr>
            <a:xfrm>
              <a:off x="6786" y="959"/>
              <a:ext cx="380" cy="380"/>
            </a:xfrm>
            <a:prstGeom prst="rect">
              <a:avLst/>
            </a:prstGeom>
          </p:spPr>
        </p:pic>
      </p:grpSp>
      <p:pic>
        <p:nvPicPr>
          <p:cNvPr id="67" name="Imagem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5570" y="1888490"/>
            <a:ext cx="8554720" cy="441706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rcRect r="2593"/>
          <a:stretch>
            <a:fillRect/>
          </a:stretch>
        </p:blipFill>
        <p:spPr>
          <a:xfrm>
            <a:off x="910590" y="2113280"/>
            <a:ext cx="6501765" cy="3312795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7915910" y="1946275"/>
            <a:ext cx="41871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Adicionar datasets ao perfil</a:t>
            </a:r>
            <a:endParaRPr lang="en-US" altLang="pt-BR"/>
          </a:p>
          <a:p>
            <a:pPr indent="0">
              <a:buFont typeface="Arial" panose="020B0604020202020204" pitchFamily="34" charset="0"/>
              <a:buNone/>
            </a:pP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Baixar o aplicativo de extração (PDD-Cidacs App Desktop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Copiar o token de acesso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Descompactar e executar a versão do aplicativo compatível com o SO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Autenticar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Baixar os dados</a:t>
            </a:r>
            <a:endParaRPr lang="en-US" altLang="pt-B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/>
          </a:p>
        </p:txBody>
      </p:sp>
      <p:sp>
        <p:nvSpPr>
          <p:cNvPr id="9" name="Caixa de Texto 8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724535" y="70485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Passo 6: Extração de dados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8181975" y="6002655"/>
            <a:ext cx="38862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1400" b="1" dirty="0">
                <a:solidFill>
                  <a:srgbClr val="8C2416"/>
                </a:solidFill>
                <a:cs typeface="+mn-lt"/>
              </a:rPr>
              <a:t>Vamos adicionar os datasets ao perfil de usuário e, em seguida, utilizar o app para baixá-los &gt;&gt;&gt;</a:t>
            </a:r>
            <a:endParaRPr lang="en-US" altLang="en-US" sz="1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895" y="968375"/>
            <a:ext cx="7038975" cy="3963670"/>
          </a:xfrm>
          <a:prstGeom prst="rect">
            <a:avLst/>
          </a:prstGeom>
        </p:spPr>
      </p:pic>
      <p:pic>
        <p:nvPicPr>
          <p:cNvPr id="67" name="Imagem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720090"/>
            <a:ext cx="9281795" cy="5305425"/>
          </a:xfrm>
          <a:prstGeom prst="rect">
            <a:avLst/>
          </a:prstGeom>
        </p:spPr>
      </p:pic>
      <p:pic>
        <p:nvPicPr>
          <p:cNvPr id="2" name="Imagem 1" descr="Interface gráfica do usuário, Aplicativo&#10;&#10;O conteúdo gerado por IA pode estar incorreto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615" y="968375"/>
            <a:ext cx="7040880" cy="3963670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92075" y="2001520"/>
            <a:ext cx="6313805" cy="571500"/>
            <a:chOff x="-1609" y="4228"/>
            <a:chExt cx="9943" cy="900"/>
          </a:xfrm>
        </p:grpSpPr>
        <p:sp>
          <p:nvSpPr>
            <p:cNvPr id="10" name="Texto explicativo 2 9"/>
            <p:cNvSpPr/>
            <p:nvPr/>
          </p:nvSpPr>
          <p:spPr>
            <a:xfrm rot="10800000">
              <a:off x="5261" y="4748"/>
              <a:ext cx="3073" cy="380"/>
            </a:xfrm>
            <a:prstGeom prst="borderCallout2">
              <a:avLst>
                <a:gd name="adj1" fmla="val 69473"/>
                <a:gd name="adj2" fmla="val 101276"/>
                <a:gd name="adj3" fmla="val 167894"/>
                <a:gd name="adj4" fmla="val 108220"/>
                <a:gd name="adj5" fmla="val 118421"/>
                <a:gd name="adj6" fmla="val 262251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sp>
          <p:nvSpPr>
            <p:cNvPr id="11" name="Caixa de Texto 10"/>
            <p:cNvSpPr txBox="1"/>
            <p:nvPr/>
          </p:nvSpPr>
          <p:spPr>
            <a:xfrm>
              <a:off x="-1609" y="4228"/>
              <a:ext cx="1854" cy="822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1. E-mail cadastrado </a:t>
              </a:r>
              <a:endParaRPr lang="en-US" altLang="en-US" sz="1400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92075" y="2611120"/>
            <a:ext cx="6313805" cy="600075"/>
            <a:chOff x="-1609" y="4105"/>
            <a:chExt cx="9943" cy="945"/>
          </a:xfrm>
        </p:grpSpPr>
        <p:sp>
          <p:nvSpPr>
            <p:cNvPr id="24" name="Texto explicativo 2 23"/>
            <p:cNvSpPr/>
            <p:nvPr/>
          </p:nvSpPr>
          <p:spPr>
            <a:xfrm rot="10800000">
              <a:off x="5261" y="4105"/>
              <a:ext cx="3073" cy="380"/>
            </a:xfrm>
            <a:prstGeom prst="borderCallout2">
              <a:avLst>
                <a:gd name="adj1" fmla="val 69473"/>
                <a:gd name="adj2" fmla="val 101276"/>
                <a:gd name="adj3" fmla="val 167894"/>
                <a:gd name="adj4" fmla="val 108220"/>
                <a:gd name="adj5" fmla="val 118421"/>
                <a:gd name="adj6" fmla="val 262251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sp>
          <p:nvSpPr>
            <p:cNvPr id="31" name="Caixa de Texto 30"/>
            <p:cNvSpPr txBox="1"/>
            <p:nvPr/>
          </p:nvSpPr>
          <p:spPr>
            <a:xfrm>
              <a:off x="-1609" y="4228"/>
              <a:ext cx="1854" cy="822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2. Token de acesso</a:t>
              </a:r>
              <a:endParaRPr lang="en-US" altLang="en-US" sz="1400"/>
            </a:p>
          </p:txBody>
        </p:sp>
      </p:grpSp>
      <p:sp>
        <p:nvSpPr>
          <p:cNvPr id="33" name="Caixa de Texto 32"/>
          <p:cNvSpPr txBox="1"/>
          <p:nvPr/>
        </p:nvSpPr>
        <p:spPr>
          <a:xfrm>
            <a:off x="2221230" y="6044565"/>
            <a:ext cx="6577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/>
              <a:t>Login no aplicativo desktop de extração dos dados</a:t>
            </a:r>
            <a:endParaRPr lang="en-US" altLang="en-US" sz="1600"/>
          </a:p>
        </p:txBody>
      </p:sp>
      <p:sp>
        <p:nvSpPr>
          <p:cNvPr id="28" name="Caixa de Texto 27"/>
          <p:cNvSpPr txBox="1"/>
          <p:nvPr/>
        </p:nvSpPr>
        <p:spPr>
          <a:xfrm>
            <a:off x="1678940" y="25400"/>
            <a:ext cx="5756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Aplicativo PDD-Cidacs Desktop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895" y="968375"/>
            <a:ext cx="7038975" cy="3963670"/>
          </a:xfrm>
          <a:prstGeom prst="rect">
            <a:avLst/>
          </a:prstGeom>
        </p:spPr>
      </p:pic>
      <p:pic>
        <p:nvPicPr>
          <p:cNvPr id="67" name="Imagem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85" y="739140"/>
            <a:ext cx="9281795" cy="5305425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48895" y="1962150"/>
            <a:ext cx="5226685" cy="737235"/>
            <a:chOff x="103" y="4411"/>
            <a:chExt cx="8231" cy="1161"/>
          </a:xfrm>
        </p:grpSpPr>
        <p:sp>
          <p:nvSpPr>
            <p:cNvPr id="10" name="Texto explicativo 2 9"/>
            <p:cNvSpPr/>
            <p:nvPr/>
          </p:nvSpPr>
          <p:spPr>
            <a:xfrm rot="10800000">
              <a:off x="3006" y="4748"/>
              <a:ext cx="5328" cy="380"/>
            </a:xfrm>
            <a:prstGeom prst="borderCallout2">
              <a:avLst>
                <a:gd name="adj1" fmla="val 69473"/>
                <a:gd name="adj2" fmla="val 101276"/>
                <a:gd name="adj3" fmla="val 167894"/>
                <a:gd name="adj4" fmla="val 108220"/>
                <a:gd name="adj5" fmla="val 131842"/>
                <a:gd name="adj6" fmla="val 121114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sp>
          <p:nvSpPr>
            <p:cNvPr id="11" name="Caixa de Texto 10"/>
            <p:cNvSpPr txBox="1"/>
            <p:nvPr/>
          </p:nvSpPr>
          <p:spPr>
            <a:xfrm>
              <a:off x="103" y="4411"/>
              <a:ext cx="1751" cy="1161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1. Seleção do dataset (dados)</a:t>
              </a:r>
              <a:endParaRPr lang="en-US" altLang="en-US" sz="1400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3584575" y="3272790"/>
            <a:ext cx="5673090" cy="3395980"/>
            <a:chOff x="902" y="3950"/>
            <a:chExt cx="8934" cy="5348"/>
          </a:xfrm>
        </p:grpSpPr>
        <p:sp>
          <p:nvSpPr>
            <p:cNvPr id="13" name="Texto explicativo 2 12"/>
            <p:cNvSpPr/>
            <p:nvPr/>
          </p:nvSpPr>
          <p:spPr>
            <a:xfrm rot="10800000">
              <a:off x="902" y="3950"/>
              <a:ext cx="2663" cy="1919"/>
            </a:xfrm>
            <a:prstGeom prst="borderCallout2">
              <a:avLst>
                <a:gd name="adj1" fmla="val 677"/>
                <a:gd name="adj2" fmla="val 66128"/>
                <a:gd name="adj3" fmla="val -28243"/>
                <a:gd name="adj4" fmla="val 65152"/>
                <a:gd name="adj5" fmla="val -134861"/>
                <a:gd name="adj6" fmla="val -156327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 sz="2400"/>
            </a:p>
          </p:txBody>
        </p:sp>
        <p:sp>
          <p:nvSpPr>
            <p:cNvPr id="14" name="Caixa de Texto 13"/>
            <p:cNvSpPr txBox="1"/>
            <p:nvPr/>
          </p:nvSpPr>
          <p:spPr>
            <a:xfrm>
              <a:off x="7361" y="8476"/>
              <a:ext cx="2475" cy="822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3. Seleção de variáveis</a:t>
              </a:r>
              <a:endParaRPr lang="en-US" altLang="en-US" sz="1400"/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48895" y="3282315"/>
            <a:ext cx="3447415" cy="1267460"/>
            <a:chOff x="-2076" y="4150"/>
            <a:chExt cx="5429" cy="1996"/>
          </a:xfrm>
        </p:grpSpPr>
        <p:sp>
          <p:nvSpPr>
            <p:cNvPr id="16" name="Texto explicativo 2 15"/>
            <p:cNvSpPr/>
            <p:nvPr/>
          </p:nvSpPr>
          <p:spPr>
            <a:xfrm rot="10800000">
              <a:off x="724" y="4150"/>
              <a:ext cx="2629" cy="1996"/>
            </a:xfrm>
            <a:prstGeom prst="borderCallout2">
              <a:avLst>
                <a:gd name="adj1" fmla="val 51002"/>
                <a:gd name="adj2" fmla="val 100380"/>
                <a:gd name="adj3" fmla="val 70741"/>
                <a:gd name="adj4" fmla="val 118904"/>
                <a:gd name="adj5" fmla="val 71943"/>
                <a:gd name="adj6" fmla="val 139482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 sz="2400"/>
            </a:p>
          </p:txBody>
        </p:sp>
        <p:sp>
          <p:nvSpPr>
            <p:cNvPr id="17" name="Caixa de Texto 16"/>
            <p:cNvSpPr txBox="1"/>
            <p:nvPr/>
          </p:nvSpPr>
          <p:spPr>
            <a:xfrm>
              <a:off x="-2076" y="4337"/>
              <a:ext cx="1922" cy="1501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2. </a:t>
              </a:r>
              <a:r>
                <a:rPr lang="en-US" altLang="pt-BR" sz="1400"/>
                <a:t>Aplicação de filtros temporais e geográficos</a:t>
              </a:r>
              <a:endParaRPr lang="en-US" altLang="pt-BR" sz="1400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4234180" y="4588510"/>
            <a:ext cx="7694295" cy="584835"/>
            <a:chOff x="979" y="4757"/>
            <a:chExt cx="12117" cy="921"/>
          </a:xfrm>
        </p:grpSpPr>
        <p:sp>
          <p:nvSpPr>
            <p:cNvPr id="19" name="Texto explicativo 2 18"/>
            <p:cNvSpPr/>
            <p:nvPr/>
          </p:nvSpPr>
          <p:spPr>
            <a:xfrm rot="10800000">
              <a:off x="979" y="4757"/>
              <a:ext cx="1640" cy="281"/>
            </a:xfrm>
            <a:prstGeom prst="borderCallout2">
              <a:avLst>
                <a:gd name="adj1" fmla="val 44318"/>
                <a:gd name="adj2" fmla="val -1774"/>
                <a:gd name="adj3" fmla="val -7954"/>
                <a:gd name="adj4" fmla="val -17800"/>
                <a:gd name="adj5" fmla="val -37010"/>
                <a:gd name="adj6" fmla="val -426890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sp>
          <p:nvSpPr>
            <p:cNvPr id="20" name="Caixa de Texto 19"/>
            <p:cNvSpPr txBox="1"/>
            <p:nvPr/>
          </p:nvSpPr>
          <p:spPr>
            <a:xfrm>
              <a:off x="9617" y="4953"/>
              <a:ext cx="3479" cy="725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200"/>
                <a:t>4.a. Botão para visualizar a prévia da extração</a:t>
              </a:r>
              <a:endParaRPr lang="en-US" altLang="en-US" sz="1200"/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2814955" y="4597400"/>
            <a:ext cx="2044700" cy="2071370"/>
            <a:chOff x="2450" y="5183"/>
            <a:chExt cx="3220" cy="3262"/>
          </a:xfrm>
        </p:grpSpPr>
        <p:sp>
          <p:nvSpPr>
            <p:cNvPr id="22" name="Texto explicativo 2 21"/>
            <p:cNvSpPr/>
            <p:nvPr/>
          </p:nvSpPr>
          <p:spPr>
            <a:xfrm rot="10800000">
              <a:off x="3119" y="5183"/>
              <a:ext cx="1396" cy="281"/>
            </a:xfrm>
            <a:prstGeom prst="borderCallout2">
              <a:avLst>
                <a:gd name="adj1" fmla="val 3722"/>
                <a:gd name="adj2" fmla="val 67697"/>
                <a:gd name="adj3" fmla="val -61290"/>
                <a:gd name="adj4" fmla="val 90872"/>
                <a:gd name="adj5" fmla="val -743416"/>
                <a:gd name="adj6" fmla="val 92621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 sz="3200"/>
            </a:p>
          </p:txBody>
        </p:sp>
        <p:sp>
          <p:nvSpPr>
            <p:cNvPr id="23" name="Caixa de Texto 22"/>
            <p:cNvSpPr txBox="1"/>
            <p:nvPr/>
          </p:nvSpPr>
          <p:spPr>
            <a:xfrm>
              <a:off x="2450" y="7623"/>
              <a:ext cx="3220" cy="822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6. Botão para baixar  os dados</a:t>
              </a:r>
              <a:endParaRPr lang="en-US" altLang="en-US" sz="1400"/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4022090" y="2592070"/>
            <a:ext cx="7906385" cy="1492250"/>
            <a:chOff x="2537" y="2038"/>
            <a:chExt cx="12451" cy="2350"/>
          </a:xfrm>
        </p:grpSpPr>
        <p:sp>
          <p:nvSpPr>
            <p:cNvPr id="26" name="Texto explicativo 2 25"/>
            <p:cNvSpPr/>
            <p:nvPr/>
          </p:nvSpPr>
          <p:spPr>
            <a:xfrm rot="10800000">
              <a:off x="2537" y="2038"/>
              <a:ext cx="4057" cy="944"/>
            </a:xfrm>
            <a:prstGeom prst="borderCallout2">
              <a:avLst>
                <a:gd name="adj1" fmla="val 68008"/>
                <a:gd name="adj2" fmla="val 197"/>
                <a:gd name="adj3" fmla="val 59216"/>
                <a:gd name="adj4" fmla="val -18831"/>
                <a:gd name="adj5" fmla="val -74788"/>
                <a:gd name="adj6" fmla="val -120458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sp>
          <p:nvSpPr>
            <p:cNvPr id="27" name="Caixa de Texto 26"/>
            <p:cNvSpPr txBox="1"/>
            <p:nvPr/>
          </p:nvSpPr>
          <p:spPr>
            <a:xfrm>
              <a:off x="11508" y="3566"/>
              <a:ext cx="3480" cy="822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en-US" sz="1400"/>
                <a:t>7. Progresso do download</a:t>
              </a:r>
              <a:endParaRPr lang="en-US" altLang="en-US" sz="1400"/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-635" y="4597400"/>
            <a:ext cx="3098165" cy="2071370"/>
            <a:chOff x="241" y="5183"/>
            <a:chExt cx="4879" cy="3262"/>
          </a:xfrm>
        </p:grpSpPr>
        <p:sp>
          <p:nvSpPr>
            <p:cNvPr id="29" name="Texto explicativo 2 28"/>
            <p:cNvSpPr/>
            <p:nvPr/>
          </p:nvSpPr>
          <p:spPr>
            <a:xfrm rot="10800000">
              <a:off x="3119" y="5183"/>
              <a:ext cx="2001" cy="281"/>
            </a:xfrm>
            <a:prstGeom prst="borderCallout2">
              <a:avLst>
                <a:gd name="adj1" fmla="val 3722"/>
                <a:gd name="adj2" fmla="val 67697"/>
                <a:gd name="adj3" fmla="val -61290"/>
                <a:gd name="adj4" fmla="val 90872"/>
                <a:gd name="adj5" fmla="val -752313"/>
                <a:gd name="adj6" fmla="val 128035"/>
              </a:avLst>
            </a:prstGeom>
            <a:noFill/>
            <a:ln w="1270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 sz="2400"/>
            </a:p>
          </p:txBody>
        </p:sp>
        <p:sp>
          <p:nvSpPr>
            <p:cNvPr id="30" name="Caixa de Texto 29"/>
            <p:cNvSpPr txBox="1"/>
            <p:nvPr/>
          </p:nvSpPr>
          <p:spPr>
            <a:xfrm>
              <a:off x="241" y="7623"/>
              <a:ext cx="4144" cy="822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5. Configuração do local de armazenamento do download</a:t>
              </a:r>
              <a:endParaRPr lang="en-US" altLang="en-US" sz="1400"/>
            </a:p>
          </p:txBody>
        </p:sp>
      </p:grpSp>
      <p:sp>
        <p:nvSpPr>
          <p:cNvPr id="34" name="Caixa de Texto 33"/>
          <p:cNvSpPr txBox="1"/>
          <p:nvPr/>
        </p:nvSpPr>
        <p:spPr>
          <a:xfrm>
            <a:off x="9719310" y="6208395"/>
            <a:ext cx="2209800" cy="4603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US" sz="1200"/>
              <a:t>8. Descompacte o arquivo baixado.</a:t>
            </a:r>
            <a:endParaRPr lang="en-US" altLang="en-US" sz="1200"/>
          </a:p>
        </p:txBody>
      </p:sp>
      <p:grpSp>
        <p:nvGrpSpPr>
          <p:cNvPr id="6" name="Grupo 5"/>
          <p:cNvGrpSpPr/>
          <p:nvPr/>
        </p:nvGrpSpPr>
        <p:grpSpPr>
          <a:xfrm>
            <a:off x="5339340" y="1718875"/>
            <a:ext cx="6588240" cy="2830990"/>
            <a:chOff x="967" y="4168"/>
            <a:chExt cx="9660" cy="3906"/>
          </a:xfrm>
        </p:grpSpPr>
        <p:sp>
          <p:nvSpPr>
            <p:cNvPr id="7" name="Texto explicativo 2 6"/>
            <p:cNvSpPr/>
            <p:nvPr/>
          </p:nvSpPr>
          <p:spPr>
            <a:xfrm rot="10800000">
              <a:off x="967" y="4168"/>
              <a:ext cx="5171" cy="3906"/>
            </a:xfrm>
            <a:prstGeom prst="borderCallout2">
              <a:avLst>
                <a:gd name="adj1" fmla="val 90262"/>
                <a:gd name="adj2" fmla="val -394"/>
                <a:gd name="adj3" fmla="val 71331"/>
                <a:gd name="adj4" fmla="val -14697"/>
                <a:gd name="adj5" fmla="val 66509"/>
                <a:gd name="adj6" fmla="val -22909"/>
              </a:avLst>
            </a:prstGeom>
            <a:noFill/>
            <a:ln w="12700">
              <a:solidFill>
                <a:srgbClr val="FFC000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pt-BR" altLang="en-US"/>
            </a:p>
          </p:txBody>
        </p:sp>
        <p:sp>
          <p:nvSpPr>
            <p:cNvPr id="8" name="Caixa de Texto 7"/>
            <p:cNvSpPr txBox="1"/>
            <p:nvPr/>
          </p:nvSpPr>
          <p:spPr>
            <a:xfrm>
              <a:off x="7389" y="5386"/>
              <a:ext cx="3238" cy="1017"/>
            </a:xfrm>
            <a:prstGeom prst="rect">
              <a:avLst/>
            </a:prstGeom>
            <a:solidFill>
              <a:srgbClr val="FFCC99"/>
            </a:solidFill>
            <a:ln>
              <a:solidFill>
                <a:srgbClr val="FFC000"/>
              </a:solidFill>
              <a:prstDash val="dash"/>
            </a:ln>
          </p:spPr>
          <p:txBody>
            <a:bodyPr wrap="square" rtlCol="0">
              <a:spAutoFit/>
            </a:bodyPr>
            <a:p>
              <a:r>
                <a:rPr lang="en-US" altLang="en-US" sz="1400"/>
                <a:t>4.b. Prévia da extração de dados (50 primeiros registros)</a:t>
              </a:r>
              <a:endParaRPr lang="en-US" altLang="en-US" sz="1400"/>
            </a:p>
          </p:txBody>
        </p:sp>
      </p:grpSp>
      <p:sp>
        <p:nvSpPr>
          <p:cNvPr id="2" name="Caixa de Texto 1"/>
          <p:cNvSpPr txBox="1"/>
          <p:nvPr/>
        </p:nvSpPr>
        <p:spPr>
          <a:xfrm>
            <a:off x="4859655" y="6044565"/>
            <a:ext cx="1878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/>
              <a:t>Interface de extração de dados</a:t>
            </a:r>
            <a:endParaRPr lang="en-US" altLang="en-US" sz="1600"/>
          </a:p>
        </p:txBody>
      </p:sp>
      <p:sp>
        <p:nvSpPr>
          <p:cNvPr id="24" name="Caixa de Texto 23"/>
          <p:cNvSpPr txBox="1"/>
          <p:nvPr/>
        </p:nvSpPr>
        <p:spPr>
          <a:xfrm>
            <a:off x="1678940" y="25400"/>
            <a:ext cx="5756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Aplicativo PDD-Cidacs Desktop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724535" y="1257935"/>
            <a:ext cx="1099693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Estruture uma </a:t>
            </a:r>
            <a:r>
              <a:rPr lang="en-US" altLang="en-US" sz="1600" b="1" dirty="0" err="1"/>
              <a:t>única base de dados</a:t>
            </a:r>
            <a:r>
              <a:rPr lang="en-US" altLang="en-US" sz="1600" dirty="0" err="1"/>
              <a:t> para realizar a análise de dados. Cada linha deve representar os valores de um determinado município para um determinado ano. 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1. Agregue as bases de dados extraídas por município e ano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2. Em seguida, faça o merge dos dados agregados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3. Calcule a variável desfecho (variável dependente)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4. Adicione à base de dados final outras variáveis socioeconômicas e/ou demográficas (variáveis independentes)  sobre o município (enriquecimento)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" altLang="en-US" sz="1600" dirty="0" err="1"/>
              <a:t>O aluno está livre para usar a ferramenta de ciências de dados que preferir (R, Stata, Python,  etc)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b="1" dirty="0" err="1"/>
              <a:t>Atenção:</a:t>
            </a:r>
            <a:r>
              <a:rPr lang="en-US" altLang="en-US" sz="1600" dirty="0" err="1"/>
              <a:t> 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" altLang="en-US" sz="1600" dirty="0" err="1"/>
              <a:t>a) C</a:t>
            </a:r>
            <a:r>
              <a:rPr lang="en-US" altLang="en-US" sz="1600" dirty="0" err="1"/>
              <a:t>ertifique-se que o número de registros da base de dados final seja igual ao produto entre total de municípios do universo e a quantidade de anos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" altLang="en-US" sz="1600" dirty="0" err="1"/>
              <a:t>b) Remova os registros de nascimentos e óbitos sem identificação do município de residência ('0000'). Informe nos metadados, o total de registros que foram descartados. </a:t>
            </a:r>
            <a:endParaRPr lang="" altLang="en-US" sz="1600" dirty="0" err="1"/>
          </a:p>
        </p:txBody>
      </p:sp>
      <p:sp>
        <p:nvSpPr>
          <p:cNvPr id="12" name="Caixa de Texto 11"/>
          <p:cNvSpPr txBox="1"/>
          <p:nvPr/>
        </p:nvSpPr>
        <p:spPr>
          <a:xfrm>
            <a:off x="724535" y="704850"/>
            <a:ext cx="10870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Passo 7: Estruturação da base de dados </a:t>
            </a:r>
            <a:endParaRPr lang="en-US" altLang="en-US" sz="2400" b="1" dirty="0">
              <a:solidFill>
                <a:srgbClr val="8C2416"/>
              </a:solidFill>
              <a:cs typeface="+mn-lt"/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  <a:sym typeface="+mn-ea"/>
              </a:rPr>
              <a:t>Prática - 10/10/2025 - Contexto 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273" y="254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" y="92075"/>
            <a:ext cx="1294765" cy="327025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699770" y="610870"/>
            <a:ext cx="11234420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Ao utilizar os dados baixados na </a:t>
            </a:r>
            <a:r>
              <a:rPr lang="en-US" altLang="en-US" sz="1600" b="1" dirty="0" err="1"/>
              <a:t>Plataforma de Dados Desidentificados - PDD-Cidacs</a:t>
            </a:r>
            <a:r>
              <a:rPr lang="en-US" altLang="en-US" sz="1600" dirty="0" err="1"/>
              <a:t>, siga o modelo abaixo para fazer a sua citação. Isso é importante para fortalecer e manter a plataforma. 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600" dirty="0" err="1"/>
              <a:t>Adapte os exemplos de acordo com o(s) banco(s) de dados utilizado(s) e o contexto da sua produção científica:</a:t>
            </a:r>
            <a:endParaRPr lang="en-US" altLang="en-US" sz="16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400" b="1" dirty="0" err="1"/>
              <a:t>1. Na metodologia</a:t>
            </a:r>
            <a:endParaRPr lang="en-US" altLang="en-US" sz="14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r>
              <a:rPr lang="en-US" altLang="en-US" sz="1400" b="1" dirty="0" err="1"/>
              <a:t>Exemplo:</a:t>
            </a:r>
            <a:endParaRPr lang="en-US" altLang="en-US" sz="1400" b="1" dirty="0" err="1"/>
          </a:p>
          <a:p>
            <a:pPr lvl="2"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r>
              <a:rPr lang="en-US" altLang="en-US" sz="1400" i="1" dirty="0" err="1"/>
              <a:t>“Utilizou-se os dados de óbitos ocorridos entre 2015 e 2019 provenientes do Sistema de Informação de Mortalidade (SIM), disponibilizados pelo portal Plataforma de Dados Desidentificados - PDD-Cidacs (INSTITUTO GONÇALO MONIZ; MINISTÉRIO DA SAÚDE. 2025).”</a:t>
            </a:r>
            <a:endParaRPr lang="en-US" altLang="en-US" sz="1400" i="1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400" b="1" dirty="0" err="1"/>
              <a:t>2. Nas referências</a:t>
            </a:r>
            <a:endParaRPr lang="en-US" altLang="en-US" sz="14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r>
              <a:rPr lang="en-US" altLang="en-US" sz="1400" b="1" dirty="0" err="1"/>
              <a:t>Modelo:</a:t>
            </a: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r>
              <a:rPr lang="en-US" altLang="en-US" sz="1400" i="1" dirty="0" err="1"/>
              <a:t>“INSTITUTO GONÇALO MONIZ: Centro de Integração de Dados e Conhecimentos para a Saúde (Cidacs); [Autor(es) dos dados]. Plataforma de Dados Desidentificados - PDD-Cidacs.[ano de extração dos dados ou publicação (Dataverse) ]. DOI: [DOI do dataset no Dataverse]. Disponível em: https://pdd.cidacs.org/. [Data do último acesso].”</a:t>
            </a:r>
            <a:endParaRPr lang="en-US" altLang="en-US" sz="1400" dirty="0" err="1"/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r>
              <a:rPr lang="en-US" altLang="en-US" sz="1400" b="1" dirty="0" err="1"/>
              <a:t>Exemplo:</a:t>
            </a: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endParaRPr lang="en-US" altLang="en-US" sz="1400" dirty="0" err="1"/>
          </a:p>
          <a:p>
            <a:pPr lvl="2" indent="0" algn="just">
              <a:buFont typeface="Arial" panose="020B0604020202020204" pitchFamily="34" charset="0"/>
              <a:buNone/>
            </a:pPr>
            <a:r>
              <a:rPr lang="en-US" altLang="en-US" sz="1400" i="1" dirty="0" err="1"/>
              <a:t>“INSTITUTO GONÇALO MONIZ: Centro de Integração de Dados e Conhecimentos para a Saúde (Cidacs); MINISTÉRIO DA SAÚDE. Plataforma de Dados Desidentificados - PDD-Cidacs. 2025. DOI: https://doi.org/10.57833/cidacs/CWUP9K. Disponível em: https://pdd.cidacs.org/. Acesso em: 26 abr. 2025.”</a:t>
            </a:r>
            <a:endParaRPr lang="en-US" altLang="en-US" sz="1400" i="1" dirty="0" err="1"/>
          </a:p>
        </p:txBody>
      </p:sp>
      <p:sp>
        <p:nvSpPr>
          <p:cNvPr id="13" name="Caixa de Texto 12"/>
          <p:cNvSpPr txBox="1"/>
          <p:nvPr/>
        </p:nvSpPr>
        <p:spPr>
          <a:xfrm>
            <a:off x="1649730" y="92075"/>
            <a:ext cx="988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400" b="1" dirty="0">
                <a:solidFill>
                  <a:srgbClr val="8C2416"/>
                </a:solidFill>
                <a:cs typeface="+mn-lt"/>
              </a:rPr>
              <a:t>Como citar a plataforma</a:t>
            </a:r>
            <a:endParaRPr lang="en-US" altLang="en-US" sz="2400" b="1" dirty="0">
              <a:solidFill>
                <a:srgbClr val="8C2416"/>
              </a:solidFill>
              <a:cs typeface="+mn-lt"/>
            </a:endParaRPr>
          </a:p>
        </p:txBody>
      </p:sp>
      <p:sp>
        <p:nvSpPr>
          <p:cNvPr id="2" name="Retângulo arredondado 1"/>
          <p:cNvSpPr/>
          <p:nvPr/>
        </p:nvSpPr>
        <p:spPr>
          <a:xfrm>
            <a:off x="1532255" y="2254250"/>
            <a:ext cx="10356215" cy="116205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4" name="Retângulo arredondado 3"/>
          <p:cNvSpPr/>
          <p:nvPr/>
        </p:nvSpPr>
        <p:spPr>
          <a:xfrm>
            <a:off x="1577975" y="3953510"/>
            <a:ext cx="10356215" cy="116205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6" name="Retângulo arredondado 5"/>
          <p:cNvSpPr/>
          <p:nvPr/>
        </p:nvSpPr>
        <p:spPr>
          <a:xfrm>
            <a:off x="1626870" y="5224145"/>
            <a:ext cx="10356215" cy="116205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7" name="Curvo Seta para a direita 6"/>
          <p:cNvSpPr/>
          <p:nvPr/>
        </p:nvSpPr>
        <p:spPr>
          <a:xfrm>
            <a:off x="777240" y="4382135"/>
            <a:ext cx="704215" cy="1367155"/>
          </a:xfrm>
          <a:prstGeom prst="curved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2545" y="2766060"/>
            <a:ext cx="9599295" cy="1325880"/>
          </a:xfrm>
        </p:spPr>
        <p:txBody>
          <a:bodyPr/>
          <a:p>
            <a:pPr algn="ctr"/>
            <a:r>
              <a:rPr lang="en-US" altLang="pt-BR"/>
              <a:t>Prints da telas</a:t>
            </a:r>
            <a:endParaRPr lang="en-US" altLang="pt-B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10" name="Imagem 9" descr="Interface gráfica do usuário, Aplicativo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289"/>
            <a:ext cx="12192000" cy="617142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289"/>
            <a:ext cx="12192000" cy="617142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Text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55"/>
            <a:ext cx="12192000" cy="607689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, Site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699"/>
            <a:ext cx="12192000" cy="596860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Site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699"/>
            <a:ext cx="12192000" cy="596860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6" name="Imagem 5" descr="Uma imagem contendo Site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65"/>
            <a:ext cx="12192000" cy="607687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6" name="Imagem 5" descr="Interface gráfica do usuário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65"/>
            <a:ext cx="12192000" cy="607687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8" name="Imagem 7" descr="Interface gráfica do usuário, Text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201"/>
            <a:ext cx="12192000" cy="598759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595"/>
            <a:ext cx="12192000" cy="609281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Sit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595"/>
            <a:ext cx="12192000" cy="609281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507"/>
            <a:ext cx="12192000" cy="549498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&#10;&#10;O conteúdo gerado por IA pode estar incorreto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507"/>
            <a:ext cx="12192000" cy="549498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507"/>
            <a:ext cx="12192000" cy="549498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"/>
          <a:srcRect r="27025"/>
          <a:stretch>
            <a:fillRect/>
          </a:stretch>
        </p:blipFill>
        <p:spPr>
          <a:xfrm>
            <a:off x="-1632" y="-4826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Aplicativo, Tabela, Exce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23" y="0"/>
            <a:ext cx="1175135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29765</Words>
  <Application>WPS Presentation</Application>
  <PresentationFormat>Widescreen</PresentationFormat>
  <Paragraphs>1084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Arial</vt:lpstr>
      <vt:lpstr>SimSun</vt:lpstr>
      <vt:lpstr>Wingdings</vt:lpstr>
      <vt:lpstr>Montserrat</vt:lpstr>
      <vt:lpstr>Calibri</vt:lpstr>
      <vt:lpstr>Trebuchet MS</vt:lpstr>
      <vt:lpstr>Calibri</vt:lpstr>
      <vt:lpstr>Times New Roman</vt:lpstr>
      <vt:lpstr>Arial</vt:lpstr>
      <vt:lpstr>Trebuchet MS</vt:lpstr>
      <vt:lpstr>微软雅黑</vt:lpstr>
      <vt:lpstr>Droid Sans Fallback</vt:lpstr>
      <vt:lpstr/>
      <vt:lpstr>Arial Unicode MS</vt:lpstr>
      <vt:lpstr>Calibri Light</vt:lpstr>
      <vt:lpstr>Gubbi</vt:lpstr>
      <vt:lpstr>Tema do Office</vt:lpstr>
      <vt:lpstr>PowerPoint 演示文稿</vt:lpstr>
      <vt:lpstr>Características dos dados administrativos </vt:lpstr>
      <vt:lpstr>Características dos dados administrativos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Prints da telas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imaster_rafa</dc:creator>
  <cp:lastModifiedBy>imaster_rafa</cp:lastModifiedBy>
  <cp:revision>62</cp:revision>
  <dcterms:created xsi:type="dcterms:W3CDTF">2025-10-10T11:07:12Z</dcterms:created>
  <dcterms:modified xsi:type="dcterms:W3CDTF">2025-10-10T11:07:12Z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1046-10.1.0.6757</vt:lpwstr>
  </property>
</Properties>
</file>